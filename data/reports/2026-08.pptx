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F5F3EC"/>
                </a:solidFill>
                <a:latin typeface="Arial"/>
              </a:rPr>
              <a:t>2026 年上半年光顯與投影企業營收表現（億元人民幣）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上半年總營收</c:v>
                </c:pt>
              </c:strCache>
            </c:strRef>
          </c:tx>
          <c:spPr>
            <a:solidFill>
              <a:srgbClr val="4C7EFF"/>
            </a:solidFill>
          </c:spPr>
          <c:cat>
            <c:strRef>
              <c:f>Sheet1!$A$2:$A$4</c:f>
              <c:strCache>
                <c:ptCount val="3"/>
                <c:pt idx="0">
                  <c:v>安克創新</c:v>
                </c:pt>
                <c:pt idx="1">
                  <c:v>聯合光電</c:v>
                </c:pt>
                <c:pt idx="2">
                  <c:v>中光學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166.05</c:v>
                </c:pt>
                <c:pt idx="1">
                  <c:v>10.49</c:v>
                </c:pt>
                <c:pt idx="2">
                  <c:v>7.25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智慧影音與投影業務營收</c:v>
                </c:pt>
              </c:strCache>
            </c:strRef>
          </c:tx>
          <c:spPr>
            <a:solidFill>
              <a:srgbClr val="FFB454"/>
            </a:solidFill>
          </c:spPr>
          <c:cat>
            <c:strRef>
              <c:f>Sheet1!$A$2:$A$4</c:f>
              <c:strCache>
                <c:ptCount val="3"/>
                <c:pt idx="0">
                  <c:v>安克創新</c:v>
                </c:pt>
                <c:pt idx="1">
                  <c:v>聯合光電</c:v>
                </c:pt>
                <c:pt idx="2">
                  <c:v>中光學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34.85</c:v>
                </c:pt>
                <c:pt idx="1">
                  <c:v>10.49</c:v>
                </c:pt>
                <c:pt idx="2">
                  <c:v>1.18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5F3EC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2A2E38"/>
            </a:solidFill>
          </a:ln>
        </c:spPr>
        <c:txPr>
          <a:bodyPr/>
          <a:lstStyle/>
          <a:p>
            <a:pPr>
              <a:defRPr sz="1100">
                <a:solidFill>
                  <a:srgbClr val="9096A1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A2E3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2E38"/>
            </a:solidFill>
          </a:ln>
        </c:spPr>
        <c:txPr>
          <a:bodyPr/>
          <a:lstStyle/>
          <a:p>
            <a:pPr>
              <a:defRPr sz="1000">
                <a:solidFill>
                  <a:srgbClr val="9096A1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9096A1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2194560"/>
            <a:ext cx="6400800" cy="6400800"/>
          </a:xfrm>
          <a:prstGeom prst="ellipse">
            <a:avLst/>
          </a:prstGeom>
          <a:solidFill>
            <a:srgbClr val="4C7E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FFB45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454"/>
                </a:solidFill>
                <a:latin typeface="Arial"/>
              </a:rPr>
              <a:t>投影機情報站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241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3EC"/>
                </a:solidFill>
                <a:latin typeface="Arial"/>
              </a:rPr>
              <a:t>2026 年 8 月 投影機產業月報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096A1"/>
                </a:solidFill>
                <a:latin typeface="Arial"/>
              </a:rPr>
              <a:t>投影機產業報告 · 自動產生簡報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02 · SECTION　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一、本月摘要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2026 年上半年全球投影機市場呈現「外熱內冷」的分化格局，中國國內市場受需求飽和與低價內捲影響銷量下滑 26%，促使極米、當貝與光峰等品牌加速拓展海外市場與車載/AI光學應用（投影時代）。供應鏈與核心元件端，台積電與索尼深化日本感測器合資，唯捷光電及環鴻科技亦大幅投資磷化銦（InP）雷射晶片與外部雷射模組，全力佈局 AI 資料中心光互連商機（DigiTimes）。產品技術方面，巴可與海信推動旗艦 4K/8K 3DLP 及三色雷射電視等頂級顯示規格，同時 REDMI 與當貝等品牌則透過雲台設計與輕量化三色雷射機型，加速下沉家用市場（投影時代、IT之家）。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03 · SECTION　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二、市場數據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04 · SECTION　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二、市場數據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全球投影機市場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2026 上半年中國國內銷量受政策退潮與需求飽和影響大幅下滑 26%，海外市場則在品牌業者出海帶動下逆勢成長（洛圖科技、投影時代）。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4146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454"/>
                </a:solidFill>
                <a:latin typeface="Arial"/>
              </a:rPr>
              <a:t>極米科技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146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2026 上半年憑藉海外收入年增 87.63%，拉升整體毛利率至 39%，並積極布局三色雷射商顯與車載光學市場（投影時代）。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8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8484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7FD6"/>
                </a:solidFill>
                <a:latin typeface="Arial"/>
              </a:rPr>
              <a:t>安克創新（Nebula）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484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2026 上半年總營收達 166.05 億元人民幣（年增 29.05%），其中包含 Nebula 投影機在內的智慧影音板塊營收達 34.85 億元人民幣（年增 24.53%）（投影時代）。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6FC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FCF97"/>
                </a:solidFill>
                <a:latin typeface="Arial"/>
              </a:rPr>
              <a:t>中光學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2026 上半年營收達 7.25 億元人民幣（年增 6.71%），淨虧損同比縮減 39.95%，其中投影機整機及配件營收為 1.18 億元人民幣（年減 5.72%）（投影時代）。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4146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區域通路行情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146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松下、愛普生、明基、索諾克與易仁科技等品牌多款商用及工程投影機種，本月於北京實體經銷通路集中展開特價促銷（ZOL投影機頻道）。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05 · SECTION　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三、新品與品牌動態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94415" cy="2514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B454"/>
                          </a:solidFill>
                          <a:latin typeface="Arial"/>
                        </a:rPr>
                        <a:t>型號</a:t>
                      </a:r>
                    </a:p>
                  </a:txBody>
                  <a:tcPr marL="91440" marR="91440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B454"/>
                          </a:solidFill>
                          <a:latin typeface="Arial"/>
                        </a:rPr>
                        <a:t>顯示技術與規格</a:t>
                      </a:r>
                    </a:p>
                  </a:txBody>
                  <a:tcPr marL="91440" marR="91440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B454"/>
                          </a:solidFill>
                          <a:latin typeface="Arial"/>
                        </a:rPr>
                        <a:t>亮度與重點特色</a:t>
                      </a:r>
                    </a:p>
                  </a:txBody>
                  <a:tcPr marL="91440" marR="91440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B454"/>
                          </a:solidFill>
                          <a:latin typeface="Arial"/>
                        </a:rPr>
                        <a:t>官方/促銷售價</a:t>
                      </a:r>
                    </a:p>
                  </a:txBody>
                  <a:tcPr marL="91440" marR="91440" anchor="ctr">
                    <a:solidFill>
                      <a:srgbClr val="2326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REDMI 投影機 5</a:t>
                      </a:r>
                    </a:p>
                  </a:txBody>
                  <a:tcPr marL="91440" marR="91440" anchor="ctr"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1080P/一體式金屬雲台</a:t>
                      </a:r>
                    </a:p>
                  </a:txBody>
                  <a:tcPr marL="91440" marR="91440" anchor="ctr"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400 CVIA 流明/360度旋轉</a:t>
                      </a:r>
                    </a:p>
                  </a:txBody>
                  <a:tcPr marL="91440" marR="91440" anchor="ctr"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999-1</a:t>
                      </a:r>
                    </a:p>
                  </a:txBody>
                  <a:tcPr marL="91440" marR="91440" anchor="ctr">
                    <a:solidFill>
                      <a:srgbClr val="1C1F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當貝 RX10</a:t>
                      </a:r>
                    </a:p>
                  </a:txBody>
                  <a:tcPr marL="91440" marR="91440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0.33吋 DMD/MT9669晶片</a:t>
                      </a:r>
                    </a:p>
                  </a:txBody>
                  <a:tcPr marL="91440" marR="91440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1200 CVIA 流明/225度雲台</a:t>
                      </a:r>
                    </a:p>
                  </a:txBody>
                  <a:tcPr marL="91440" marR="91440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anchor="ctr">
                    <a:solidFill>
                      <a:srgbClr val="2326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明基 LH660</a:t>
                      </a:r>
                    </a:p>
                  </a:txBody>
                  <a:tcPr marL="91440" marR="91440" anchor="ctr"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0.65吋 DMD/IP6X防塵</a:t>
                      </a:r>
                    </a:p>
                  </a:txBody>
                  <a:tcPr marL="91440" marR="91440" anchor="ctr"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anchor="ctr"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600 流明/1080P 雷射光源</a:t>
                      </a:r>
                    </a:p>
                  </a:txBody>
                  <a:tcPr marL="91440" marR="91440" anchor="ctr">
                    <a:solidFill>
                      <a:srgbClr val="1C1F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海信星光 S2 Pro</a:t>
                      </a:r>
                    </a:p>
                  </a:txBody>
                  <a:tcPr marL="91440" marR="91440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三色雷射/哈曼卡頓音響</a:t>
                      </a:r>
                    </a:p>
                  </a:txBody>
                  <a:tcPr marL="91440" marR="91440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80-100吋/IMAX Enhanced認證</a:t>
                      </a:r>
                    </a:p>
                  </a:txBody>
                  <a:tcPr marL="91440" marR="91440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3EC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91440" marR="91440" anchor="ctr">
                    <a:solidFill>
                      <a:srgbClr val="23262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06 · SECTION　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三、新品與品牌動態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巴可（Barco）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發表旗艦 QDX-N4K RGB 純雷射 3DLP 工程投影機，搭載 0.98 吋原生 4K DMD 晶片、100% Rec.2020 色域與 4K@120Hz 低延遲技術，預計 2026 年量產（投影時代）。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4146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454"/>
                </a:solidFill>
                <a:latin typeface="Arial"/>
              </a:rPr>
              <a:t>極米（XGIMI）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146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攜手美國客製化安裝商 AWALL 推出高端品牌「XWALL by XGIMI」，專攻北美高端家庭影院市場並於 CEDIA 展會亮相（ProjectorCentral）。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8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8484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8B7FD6"/>
                </a:solidFill>
                <a:latin typeface="Arial"/>
              </a:rPr>
              <a:t>當貝（Dangbei）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484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發表旗艦 4K 純三色雷射投影機 X7 Max，並推出兩千元人民幣價位的當貝 D7X 與不足 1 公斤的 Smart2 便攜機型，加速三色雷射普及（ZNDS投影頻道）。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6FC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FCF97"/>
                </a:solidFill>
                <a:latin typeface="Arial"/>
              </a:rPr>
              <a:t>Nebula（安克）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推出升級版 X1S 戶外 4K 三色雷射投影機，具備 6,000 流明高亮度與簡易設定機能（ProjectorCentral）。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4146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JVC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146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於 CEDIA 2026 展示 DLA-NZ900 與 DLA-NZ800 旗艦機種，聚焦 8K 家庭劇院與原生 4K/120p 高刷新率電競體驗（ProjectorCentral）。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484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454"/>
                </a:solidFill>
                <a:latin typeface="Arial"/>
              </a:rPr>
              <a:t>愛普生（Epson）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8484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以 48 台高亮雷射工程投影機打造上海《永不消失的黑水城》沉浸式展覽，並於 InfoComm 與 ISTELive 等展會累計獲得 16 項產業大獎（投影時代、Epson官方）。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07 · SECTION　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四、技術動態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32907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503057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C7EFF"/>
                </a:solidFill>
                <a:latin typeface="Arial"/>
              </a:rPr>
              <a:t>光學互連架構（Lightmatter）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5030571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550">
                <a:solidFill>
                  <a:srgbClr val="F5F3EC"/>
                </a:solidFill>
                <a:latin typeface="Arial"/>
              </a:rPr>
              <a:t>因應 AI 資料中心傳輸速率逼近 448G 與銅纜物理瓶頸，提出全光學互連架構藍圖，推動矽光子與 CPO 技術演進（DigiTimes）。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00200"/>
            <a:ext cx="5432907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1315" y="1764792"/>
            <a:ext cx="503057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B454"/>
                </a:solidFill>
                <a:latin typeface="Arial"/>
              </a:rPr>
              <a:t>增強現實與動態投影（羿飛教育）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1315" y="2258568"/>
            <a:ext cx="5030571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550">
                <a:solidFill>
                  <a:srgbClr val="F5F3EC"/>
                </a:solidFill>
                <a:latin typeface="Arial"/>
              </a:rPr>
              <a:t>於山東教育博覽會展示結合即時增強現實（AR）的地理沙盤與古戰場動態模擬投影系統，推進數位化沉浸式教學應用（投影時代）。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08 · SECTION　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五、供應鏈觀察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索尼與台積電合作案（TSMC / Sony）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台積電董事會拍板認購 282 億日圓股份，雙方計畫投資約 63 億美元於日本熊本成立影像感測器合資公司，主要由蘋果龐大需求帶動（DigiTimes）。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4146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B454"/>
                </a:solidFill>
                <a:latin typeface="Arial"/>
              </a:rPr>
              <a:t>光電核心元件投資（唯捷光電）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146" y="2258568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投資 7.41 億美元於常州建立生產基地，業務從 VCSEL 拓展至高階磷化銦（InP）雷射晶片，鎖定 AI 光互連市場（DigiTimes）。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8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8484" y="1801368"/>
            <a:ext cx="3143402" cy="1897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AI資料中心雷射模組（環鴻科技 / EugenLight）：推出超高功率外部雷射光源可插拔模組（ELSFP），針對次世代 AI 運算叢集的高速光互連需求，預計 2027 年第一季量產（DigiTimes）。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6FC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FCF97"/>
                </a:solidFill>
                <a:latin typeface="Arial"/>
              </a:rPr>
              <a:t>光學鏡頭與產業投資（聯合光電）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2026 上半年實現扭虧為盈，完成超短焦及短焦新光機設計，並取得火樂科技（堅果）約 13.62% 股權以深耕智慧顯示布局（投影時代）。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2978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4146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7EFF"/>
                </a:solidFill>
                <a:latin typeface="Arial"/>
              </a:rPr>
              <a:t>智慧家庭生態合作（中國移動 / 當貝）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4146" y="4750307"/>
            <a:ext cx="3143402" cy="14401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200">
                <a:solidFill>
                  <a:srgbClr val="F5F3EC"/>
                </a:solidFill>
                <a:latin typeface="Arial"/>
              </a:rPr>
              <a:t>雙方達成戰略合作，結合 5G 超高清、AI 與物聯網技術，共同推動智慧家庭大屏生態（ZNDS投影頻道）。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09 · SECTION　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六、本月關注品牌／技術關鍵字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32907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503057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C7EFF"/>
                </a:solidFill>
                <a:latin typeface="Arial"/>
              </a:rPr>
              <a:t>重點品牌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5030571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550">
                <a:solidFill>
                  <a:srgbClr val="F5F3EC"/>
                </a:solidFill>
                <a:latin typeface="Arial"/>
              </a:rPr>
              <a:t>巴可 (Barco)、極米 (XGIMI)、當貝 (Dangbei)、明基 (BenQ)、愛普生 (Epson)、索尼 (Sony)、台積電 (TSMC)、Nebula (Anker)、海信 (Hisense)、JVC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00200"/>
            <a:ext cx="5432907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1315" y="1764792"/>
            <a:ext cx="503057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B454"/>
                </a:solidFill>
                <a:latin typeface="Arial"/>
              </a:rPr>
              <a:t>核心技術與趨勢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1315" y="2258568"/>
            <a:ext cx="5030571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sz="1550">
                <a:solidFill>
                  <a:srgbClr val="F5F3EC"/>
                </a:solidFill>
                <a:latin typeface="Arial"/>
              </a:rPr>
              <a:t>三色雷射 (Tri-Chroma Laser)、RGB純雷射、4K/8K 3DLP、一體式雲台、AI光互連/磷化銦(InP)晶片、ELSFP雷射模組、海外市場轉型 (Outbound Expansion)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10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附錄：本月參考來源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F3EC"/>
                </a:solidFill>
                <a:latin typeface="Arial"/>
              </a:rPr>
              <a:t>共 161 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96A1"/>
                </a:solidFill>
                <a:latin typeface="Arial"/>
              </a:rPr>
              <a:t>完整清單與連結請見網站上的文字版報告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4C7E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3EC"/>
                </a:solidFill>
                <a:latin typeface="Arial"/>
              </a:rPr>
              <a:t>投影機情報站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96A1"/>
                </a:solidFill>
                <a:latin typeface="Arial"/>
              </a:rPr>
              <a:t>由本站爬蟲每日追蹤產業動態，AI 自動摘要與分類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