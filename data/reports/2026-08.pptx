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503920" y="-2194560"/>
            <a:ext cx="6400800" cy="6400800"/>
          </a:xfrm>
          <a:prstGeom prst="ellipse">
            <a:avLst/>
          </a:prstGeom>
          <a:solidFill>
            <a:srgbClr val="4C7E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377440" y="4206240"/>
            <a:ext cx="5486400" cy="5486400"/>
          </a:xfrm>
          <a:prstGeom prst="ellipse">
            <a:avLst/>
          </a:prstGeom>
          <a:solidFill>
            <a:srgbClr val="FFB454">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65960"/>
            <a:ext cx="9144000" cy="365760"/>
          </a:xfrm>
          <a:prstGeom prst="rect">
            <a:avLst/>
          </a:prstGeom>
          <a:noFill/>
        </p:spPr>
        <p:txBody>
          <a:bodyPr wrap="square" anchor="t">
            <a:spAutoFit/>
          </a:bodyPr>
          <a:lstStyle/>
          <a:p>
            <a:pPr algn="l"/>
            <a:r>
              <a:rPr sz="1300" b="1">
                <a:solidFill>
                  <a:srgbClr val="FFB454"/>
                </a:solidFill>
                <a:latin typeface="Arial"/>
              </a:rPr>
              <a:t>投影機情報站</a:t>
            </a:r>
          </a:p>
        </p:txBody>
      </p:sp>
      <p:sp>
        <p:nvSpPr>
          <p:cNvPr id="5" name="TextBox 4"/>
          <p:cNvSpPr txBox="1"/>
          <p:nvPr/>
        </p:nvSpPr>
        <p:spPr>
          <a:xfrm>
            <a:off x="731520" y="2377440"/>
            <a:ext cx="10241280" cy="1828800"/>
          </a:xfrm>
          <a:prstGeom prst="rect">
            <a:avLst/>
          </a:prstGeom>
          <a:noFill/>
        </p:spPr>
        <p:txBody>
          <a:bodyPr wrap="square" anchor="t">
            <a:spAutoFit/>
          </a:bodyPr>
          <a:lstStyle/>
          <a:p>
            <a:pPr algn="l"/>
            <a:r>
              <a:rPr sz="4000" b="1">
                <a:solidFill>
                  <a:srgbClr val="F5F3EC"/>
                </a:solidFill>
                <a:latin typeface="Arial"/>
              </a:rPr>
              <a:t>2026 年 8 月 投影機產業月報</a:t>
            </a:r>
          </a:p>
        </p:txBody>
      </p:sp>
      <p:sp>
        <p:nvSpPr>
          <p:cNvPr id="6" name="TextBox 5"/>
          <p:cNvSpPr txBox="1"/>
          <p:nvPr/>
        </p:nvSpPr>
        <p:spPr>
          <a:xfrm>
            <a:off x="731520" y="4160520"/>
            <a:ext cx="9601200" cy="457200"/>
          </a:xfrm>
          <a:prstGeom prst="rect">
            <a:avLst/>
          </a:prstGeom>
          <a:noFill/>
        </p:spPr>
        <p:txBody>
          <a:bodyPr wrap="square" anchor="t">
            <a:spAutoFit/>
          </a:bodyPr>
          <a:lstStyle/>
          <a:p>
            <a:pPr algn="l"/>
            <a:r>
              <a:rPr sz="1500" b="0">
                <a:solidFill>
                  <a:srgbClr val="9096A1"/>
                </a:solidFill>
                <a:latin typeface="Arial"/>
              </a:rPr>
              <a:t>投影機產業報告 · 自動產生簡報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02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一、本月摘要</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1591056"/>
          </a:xfrm>
          <a:prstGeom prst="rect">
            <a:avLst/>
          </a:prstGeom>
          <a:noFill/>
        </p:spPr>
        <p:txBody>
          <a:bodyPr wrap="square">
            <a:spAutoFit/>
          </a:bodyPr>
          <a:lstStyle/>
          <a:p>
            <a:pPr>
              <a:lnSpc>
                <a:spcPct val="115000"/>
              </a:lnSpc>
            </a:pPr>
            <a:r>
              <a:rPr sz="1450">
                <a:solidFill>
                  <a:srgbClr val="F5F3EC"/>
                </a:solidFill>
                <a:latin typeface="Arial"/>
              </a:rPr>
              <a:t>2026 年 8 月全球投影機市場呈現「外熱內冷」的極端分態。中國國內市場受需求飽和與低價內卷衝擊，上半年銷量顯著下滑，驅使極米、安克創新等頭部品牌加速海外佈局與高階化轉型（投影時代）。技術層面上，三色雷射普及化與原生 4K/8K 旗艦化趨勢並行，巴可推出 3DLP 旗艦 RGB 純雷射工程機，海信與當貝亦發表多款三色雷射與雲台新品（投影時代、IT之家）。供應鏈方面，半導體與光學跨界融合加深，台積電拍板與索尼合資設立日本影像感測器廠，同時 AI 資料中心需求帶動高階雷射晶片與光互連技術的跨界投資（DigiTimes）。</a:t>
            </a:r>
          </a:p>
        </p:txBody>
      </p:sp>
      <p:sp>
        <p:nvSpPr>
          <p:cNvPr id="6" name="TextBox 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03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二、市場數據</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402336"/>
          </a:xfrm>
          <a:prstGeom prst="rect">
            <a:avLst/>
          </a:prstGeom>
          <a:noFill/>
        </p:spPr>
        <p:txBody>
          <a:bodyPr wrap="square">
            <a:spAutoFit/>
          </a:bodyPr>
          <a:lstStyle/>
          <a:p>
            <a:pPr>
              <a:lnSpc>
                <a:spcPct val="115000"/>
              </a:lnSpc>
            </a:pPr>
            <a:r>
              <a:rPr sz="1450">
                <a:solidFill>
                  <a:srgbClr val="F5F3EC"/>
                </a:solidFill>
                <a:latin typeface="Arial"/>
              </a:rPr>
              <a:t>### 1. 全球與區域市場大勢</a:t>
            </a:r>
          </a:p>
        </p:txBody>
      </p:sp>
      <p:sp>
        <p:nvSpPr>
          <p:cNvPr id="6" name="Oval 5"/>
          <p:cNvSpPr/>
          <p:nvPr/>
        </p:nvSpPr>
        <p:spPr>
          <a:xfrm>
            <a:off x="594360" y="213055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02536"/>
            <a:ext cx="10698480" cy="877824"/>
          </a:xfrm>
          <a:prstGeom prst="rect">
            <a:avLst/>
          </a:prstGeom>
          <a:noFill/>
        </p:spPr>
        <p:txBody>
          <a:bodyPr wrap="square">
            <a:spAutoFit/>
          </a:bodyPr>
          <a:lstStyle/>
          <a:p>
            <a:pPr>
              <a:lnSpc>
                <a:spcPct val="115000"/>
              </a:lnSpc>
            </a:pPr>
            <a:r>
              <a:rPr sz="1450" b="1">
                <a:solidFill>
                  <a:srgbClr val="FFB454"/>
                </a:solidFill>
                <a:latin typeface="Arial"/>
              </a:rPr>
              <a:t>國內衰退與海外逆襲</a:t>
            </a:r>
            <a:r>
              <a:rPr sz="1450">
                <a:solidFill>
                  <a:srgbClr val="F5F3EC"/>
                </a:solidFill>
                <a:latin typeface="Arial"/>
              </a:rPr>
              <a:t>：2026 年上半年中國國內投影機市場受政策退潮與需求飽和影響，銷量年減 26%（洛圖科技數據、投影時代）。然而海外市場成為成長主引擎，極米科技上半年海外收入同比大增 87.63%，帶動整體毛利率提升至 39%（投影時代）。</a:t>
            </a:r>
          </a:p>
        </p:txBody>
      </p:sp>
      <p:sp>
        <p:nvSpPr>
          <p:cNvPr id="8" name="Oval 7"/>
          <p:cNvSpPr/>
          <p:nvPr/>
        </p:nvSpPr>
        <p:spPr>
          <a:xfrm>
            <a:off x="594360" y="300837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80360"/>
            <a:ext cx="10698480" cy="402336"/>
          </a:xfrm>
          <a:prstGeom prst="rect">
            <a:avLst/>
          </a:prstGeom>
          <a:noFill/>
        </p:spPr>
        <p:txBody>
          <a:bodyPr wrap="square">
            <a:spAutoFit/>
          </a:bodyPr>
          <a:lstStyle/>
          <a:p>
            <a:pPr>
              <a:lnSpc>
                <a:spcPct val="115000"/>
              </a:lnSpc>
            </a:pPr>
            <a:r>
              <a:rPr sz="1450">
                <a:solidFill>
                  <a:srgbClr val="F5F3EC"/>
                </a:solidFill>
                <a:latin typeface="Arial"/>
              </a:rPr>
              <a:t>### 2. 供應鏈與品牌半年報表現（2026 H1）</a:t>
            </a:r>
          </a:p>
        </p:txBody>
      </p:sp>
      <p:sp>
        <p:nvSpPr>
          <p:cNvPr id="10" name="Oval 9"/>
          <p:cNvSpPr/>
          <p:nvPr/>
        </p:nvSpPr>
        <p:spPr>
          <a:xfrm>
            <a:off x="594360" y="34107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82696"/>
            <a:ext cx="10698480" cy="877824"/>
          </a:xfrm>
          <a:prstGeom prst="rect">
            <a:avLst/>
          </a:prstGeom>
          <a:noFill/>
        </p:spPr>
        <p:txBody>
          <a:bodyPr wrap="square">
            <a:spAutoFit/>
          </a:bodyPr>
          <a:lstStyle/>
          <a:p>
            <a:pPr>
              <a:lnSpc>
                <a:spcPct val="115000"/>
              </a:lnSpc>
            </a:pPr>
            <a:r>
              <a:rPr sz="1450" b="1">
                <a:solidFill>
                  <a:srgbClr val="FFB454"/>
                </a:solidFill>
                <a:latin typeface="Arial"/>
              </a:rPr>
              <a:t>安克創新（Anker/Nebula）</a:t>
            </a:r>
            <a:r>
              <a:rPr sz="1450">
                <a:solidFill>
                  <a:srgbClr val="F5F3EC"/>
                </a:solidFill>
                <a:latin typeface="Arial"/>
              </a:rPr>
              <a:t>：總營收達 166.05 億元人民幣（年增 29.05%），其中包含 Nebula 投影機的「智能影音」板塊貢獻 34.85 億元人民幣，年增 24.53%（投影時代）。</a:t>
            </a:r>
          </a:p>
        </p:txBody>
      </p:sp>
      <p:sp>
        <p:nvSpPr>
          <p:cNvPr id="12" name="Oval 11"/>
          <p:cNvSpPr/>
          <p:nvPr/>
        </p:nvSpPr>
        <p:spPr>
          <a:xfrm>
            <a:off x="594360" y="428853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160520"/>
            <a:ext cx="10698480" cy="640080"/>
          </a:xfrm>
          <a:prstGeom prst="rect">
            <a:avLst/>
          </a:prstGeom>
          <a:noFill/>
        </p:spPr>
        <p:txBody>
          <a:bodyPr wrap="square">
            <a:spAutoFit/>
          </a:bodyPr>
          <a:lstStyle/>
          <a:p>
            <a:pPr>
              <a:lnSpc>
                <a:spcPct val="115000"/>
              </a:lnSpc>
            </a:pPr>
            <a:r>
              <a:rPr sz="1450" b="1">
                <a:solidFill>
                  <a:srgbClr val="FFB454"/>
                </a:solidFill>
                <a:latin typeface="Arial"/>
              </a:rPr>
              <a:t>聯合光電</a:t>
            </a:r>
            <a:r>
              <a:rPr sz="1450">
                <a:solidFill>
                  <a:srgbClr val="F5F3EC"/>
                </a:solidFill>
                <a:latin typeface="Arial"/>
              </a:rPr>
              <a:t>：半年度總營收達 10.49 億元人民幣，實現扭虧為盈。公司持續鞏固超短焦及短焦投影光機優勢，並取得火樂科技約 13.62% 股權以深化產業佈局（投影時代）。</a:t>
            </a:r>
          </a:p>
        </p:txBody>
      </p:sp>
      <p:sp>
        <p:nvSpPr>
          <p:cNvPr id="14" name="Oval 13"/>
          <p:cNvSpPr/>
          <p:nvPr/>
        </p:nvSpPr>
        <p:spPr>
          <a:xfrm>
            <a:off x="594360" y="49286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00600"/>
            <a:ext cx="10698480" cy="877824"/>
          </a:xfrm>
          <a:prstGeom prst="rect">
            <a:avLst/>
          </a:prstGeom>
          <a:noFill/>
        </p:spPr>
        <p:txBody>
          <a:bodyPr wrap="square">
            <a:spAutoFit/>
          </a:bodyPr>
          <a:lstStyle/>
          <a:p>
            <a:pPr>
              <a:lnSpc>
                <a:spcPct val="115000"/>
              </a:lnSpc>
            </a:pPr>
            <a:r>
              <a:rPr sz="1450" b="1">
                <a:solidFill>
                  <a:srgbClr val="FFB454"/>
                </a:solidFill>
                <a:latin typeface="Arial"/>
              </a:rPr>
              <a:t>中光學</a:t>
            </a:r>
            <a:r>
              <a:rPr sz="1450">
                <a:solidFill>
                  <a:srgbClr val="F5F3EC"/>
                </a:solidFill>
                <a:latin typeface="Arial"/>
              </a:rPr>
              <a:t>：上半年營收 7.25 億元人民幣（年增 6.71%），淨虧損縮減 39.95%。其中光學元組件營收 3.39 億元（年增 19.28%），投影機整機及配件營收 1.18 億元（年減 5.72%），業務正加速轉型車載 HUD 與微納光學領域（投影時代）。</a:t>
            </a:r>
          </a:p>
        </p:txBody>
      </p:sp>
      <p:sp>
        <p:nvSpPr>
          <p:cNvPr id="16" name="Oval 15"/>
          <p:cNvSpPr/>
          <p:nvPr/>
        </p:nvSpPr>
        <p:spPr>
          <a:xfrm>
            <a:off x="594360" y="58064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678424"/>
            <a:ext cx="10698480" cy="402336"/>
          </a:xfrm>
          <a:prstGeom prst="rect">
            <a:avLst/>
          </a:prstGeom>
          <a:noFill/>
        </p:spPr>
        <p:txBody>
          <a:bodyPr wrap="square">
            <a:spAutoFit/>
          </a:bodyPr>
          <a:lstStyle/>
          <a:p>
            <a:pPr>
              <a:lnSpc>
                <a:spcPct val="115000"/>
              </a:lnSpc>
            </a:pPr>
            <a:r>
              <a:rPr sz="1450">
                <a:solidFill>
                  <a:srgbClr val="F5F3EC"/>
                </a:solidFill>
                <a:latin typeface="Arial"/>
              </a:rPr>
              <a:t>### 3. 通路價格與經銷報價差異觀察</a:t>
            </a:r>
          </a:p>
        </p:txBody>
      </p:sp>
      <p:sp>
        <p:nvSpPr>
          <p:cNvPr id="18" name="TextBox 17"/>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04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二、市場數據</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402336"/>
          </a:xfrm>
          <a:prstGeom prst="rect">
            <a:avLst/>
          </a:prstGeom>
          <a:noFill/>
        </p:spPr>
        <p:txBody>
          <a:bodyPr wrap="square">
            <a:spAutoFit/>
          </a:bodyPr>
          <a:lstStyle/>
          <a:p>
            <a:pPr>
              <a:lnSpc>
                <a:spcPct val="115000"/>
              </a:lnSpc>
            </a:pPr>
            <a:r>
              <a:rPr sz="1450">
                <a:solidFill>
                  <a:srgbClr val="F5F3EC"/>
                </a:solidFill>
                <a:latin typeface="Arial"/>
              </a:rPr>
              <a:t>本月北京地區終端經銷商針對多款機種進行價格調整，部分機型在不同時間點呈現價格波動或通報差異：</a:t>
            </a:r>
          </a:p>
        </p:txBody>
      </p:sp>
      <p:sp>
        <p:nvSpPr>
          <p:cNvPr id="6" name="Oval 5"/>
          <p:cNvSpPr/>
          <p:nvPr/>
        </p:nvSpPr>
        <p:spPr>
          <a:xfrm>
            <a:off x="594360" y="213055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02536"/>
            <a:ext cx="10698480" cy="640080"/>
          </a:xfrm>
          <a:prstGeom prst="rect">
            <a:avLst/>
          </a:prstGeom>
          <a:noFill/>
        </p:spPr>
        <p:txBody>
          <a:bodyPr wrap="square">
            <a:spAutoFit/>
          </a:bodyPr>
          <a:lstStyle/>
          <a:p>
            <a:pPr>
              <a:lnSpc>
                <a:spcPct val="115000"/>
              </a:lnSpc>
            </a:pPr>
            <a:r>
              <a:rPr sz="1450" b="1">
                <a:solidFill>
                  <a:srgbClr val="FFB454"/>
                </a:solidFill>
                <a:latin typeface="Arial"/>
              </a:rPr>
              <a:t>松下 PT-XZ401C</a:t>
            </a:r>
            <a:r>
              <a:rPr sz="1450">
                <a:solidFill>
                  <a:srgbClr val="F5F3EC"/>
                </a:solidFill>
                <a:latin typeface="Arial"/>
              </a:rPr>
              <a:t>：8 月 3 日經銷商報價為 10,500 元人民幣，8 月 31 日零售促銷報價調整為 14,999 元人民幣（ZOL投影機頻道）。</a:t>
            </a:r>
          </a:p>
        </p:txBody>
      </p:sp>
      <p:sp>
        <p:nvSpPr>
          <p:cNvPr id="8" name="Oval 7"/>
          <p:cNvSpPr/>
          <p:nvPr/>
        </p:nvSpPr>
        <p:spPr>
          <a:xfrm>
            <a:off x="594360" y="2770631"/>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42615"/>
            <a:ext cx="10698480" cy="640080"/>
          </a:xfrm>
          <a:prstGeom prst="rect">
            <a:avLst/>
          </a:prstGeom>
          <a:noFill/>
        </p:spPr>
        <p:txBody>
          <a:bodyPr wrap="square">
            <a:spAutoFit/>
          </a:bodyPr>
          <a:lstStyle/>
          <a:p>
            <a:pPr>
              <a:lnSpc>
                <a:spcPct val="115000"/>
              </a:lnSpc>
            </a:pPr>
            <a:r>
              <a:rPr sz="1450" b="1">
                <a:solidFill>
                  <a:srgbClr val="FFB454"/>
                </a:solidFill>
                <a:latin typeface="Arial"/>
              </a:rPr>
              <a:t>索諾克 SNP-AC40LU</a:t>
            </a:r>
            <a:r>
              <a:rPr sz="1450">
                <a:solidFill>
                  <a:srgbClr val="F5F3EC"/>
                </a:solidFill>
                <a:latin typeface="Arial"/>
              </a:rPr>
              <a:t>：8 月 3 日報價為 12,550 元人民幣，8 月 18 日及 27 日特價促銷報價則降至 12,530 元人民幣（ZOL投影機頻道）。</a:t>
            </a:r>
          </a:p>
        </p:txBody>
      </p:sp>
      <p:sp>
        <p:nvSpPr>
          <p:cNvPr id="10" name="Oval 9"/>
          <p:cNvSpPr/>
          <p:nvPr/>
        </p:nvSpPr>
        <p:spPr>
          <a:xfrm>
            <a:off x="594360" y="34107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82696"/>
            <a:ext cx="10698480" cy="640080"/>
          </a:xfrm>
          <a:prstGeom prst="rect">
            <a:avLst/>
          </a:prstGeom>
          <a:noFill/>
        </p:spPr>
        <p:txBody>
          <a:bodyPr wrap="square">
            <a:spAutoFit/>
          </a:bodyPr>
          <a:lstStyle/>
          <a:p>
            <a:pPr>
              <a:lnSpc>
                <a:spcPct val="115000"/>
              </a:lnSpc>
            </a:pPr>
            <a:r>
              <a:rPr sz="1450" b="1">
                <a:solidFill>
                  <a:srgbClr val="FFB454"/>
                </a:solidFill>
                <a:latin typeface="Arial"/>
              </a:rPr>
              <a:t>明基 EH6834</a:t>
            </a:r>
            <a:r>
              <a:rPr sz="1450">
                <a:solidFill>
                  <a:srgbClr val="F5F3EC"/>
                </a:solidFill>
                <a:latin typeface="Arial"/>
              </a:rPr>
              <a:t>：8 月 3 日與 27 日報價均為 6,800 元人民幣，8 月 18 日促銷報價為 6,720 元人民幣（ZOL投影機頻道）。</a:t>
            </a:r>
          </a:p>
        </p:txBody>
      </p:sp>
      <p:sp>
        <p:nvSpPr>
          <p:cNvPr id="12" name="TextBox 11"/>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05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三、新品與品牌動態</a:t>
            </a:r>
          </a:p>
        </p:txBody>
      </p:sp>
      <p:sp>
        <p:nvSpPr>
          <p:cNvPr id="4" name="Rounded Rectangle 3"/>
          <p:cNvSpPr/>
          <p:nvPr/>
        </p:nvSpPr>
        <p:spPr>
          <a:xfrm>
            <a:off x="548640" y="1600200"/>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3143402" cy="457200"/>
          </a:xfrm>
          <a:prstGeom prst="rect">
            <a:avLst/>
          </a:prstGeom>
          <a:noFill/>
        </p:spPr>
        <p:txBody>
          <a:bodyPr wrap="square" anchor="t">
            <a:spAutoFit/>
          </a:bodyPr>
          <a:lstStyle/>
          <a:p>
            <a:pPr algn="l"/>
            <a:r>
              <a:rPr sz="1450" b="1">
                <a:solidFill>
                  <a:srgbClr val="4C7EFF"/>
                </a:solidFill>
                <a:latin typeface="Arial"/>
              </a:rPr>
              <a:t>### 1. 高階工程與沉浸式文旅展</a:t>
            </a:r>
          </a:p>
        </p:txBody>
      </p:sp>
      <p:sp>
        <p:nvSpPr>
          <p:cNvPr id="6" name="TextBox 5"/>
          <p:cNvSpPr txBox="1"/>
          <p:nvPr/>
        </p:nvSpPr>
        <p:spPr>
          <a:xfrm>
            <a:off x="749808" y="2258568"/>
            <a:ext cx="3143402" cy="1440180"/>
          </a:xfrm>
          <a:prstGeom prst="rect">
            <a:avLst/>
          </a:prstGeom>
          <a:noFill/>
        </p:spPr>
        <p:txBody>
          <a:bodyPr wrap="square">
            <a:spAutoFit/>
          </a:bodyPr>
          <a:lstStyle/>
          <a:p>
            <a:pPr>
              <a:lnSpc>
                <a:spcPct val="120000"/>
              </a:lnSpc>
            </a:pPr>
            <a:r>
              <a:rPr sz="1150">
                <a:solidFill>
                  <a:srgbClr val="F5F3EC"/>
                </a:solidFill>
                <a:latin typeface="Arial"/>
              </a:rPr>
              <a:t/>
            </a:r>
          </a:p>
        </p:txBody>
      </p:sp>
      <p:sp>
        <p:nvSpPr>
          <p:cNvPr id="7" name="Rounded Rectangle 6"/>
          <p:cNvSpPr/>
          <p:nvPr/>
        </p:nvSpPr>
        <p:spPr>
          <a:xfrm>
            <a:off x="4322978" y="1600200"/>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4146" y="1764792"/>
            <a:ext cx="3143402" cy="457200"/>
          </a:xfrm>
          <a:prstGeom prst="rect">
            <a:avLst/>
          </a:prstGeom>
          <a:noFill/>
        </p:spPr>
        <p:txBody>
          <a:bodyPr wrap="square" anchor="t">
            <a:spAutoFit/>
          </a:bodyPr>
          <a:lstStyle/>
          <a:p>
            <a:pPr algn="l"/>
            <a:r>
              <a:rPr sz="1450" b="1">
                <a:solidFill>
                  <a:srgbClr val="FFB454"/>
                </a:solidFill>
                <a:latin typeface="Arial"/>
              </a:rPr>
              <a:t>巴可（Barco）</a:t>
            </a:r>
          </a:p>
        </p:txBody>
      </p:sp>
      <p:sp>
        <p:nvSpPr>
          <p:cNvPr id="9" name="TextBox 8"/>
          <p:cNvSpPr txBox="1"/>
          <p:nvPr/>
        </p:nvSpPr>
        <p:spPr>
          <a:xfrm>
            <a:off x="4524146" y="2258568"/>
            <a:ext cx="3143402" cy="1440180"/>
          </a:xfrm>
          <a:prstGeom prst="rect">
            <a:avLst/>
          </a:prstGeom>
          <a:noFill/>
        </p:spPr>
        <p:txBody>
          <a:bodyPr wrap="square">
            <a:spAutoFit/>
          </a:bodyPr>
          <a:lstStyle/>
          <a:p>
            <a:pPr>
              <a:lnSpc>
                <a:spcPct val="120000"/>
              </a:lnSpc>
            </a:pPr>
            <a:r>
              <a:rPr sz="1150">
                <a:solidFill>
                  <a:srgbClr val="F5F3EC"/>
                </a:solidFill>
                <a:latin typeface="Arial"/>
              </a:rPr>
              <a:t>發表 2026 年量產的 3DLP 旗艦工程機 QDX 系列（QDX-N4K RGB純雷射），搭載 0.98 吋原生 4K DMD 晶片，具備 100% Rec.2020 色域與 DuraOptix 抗衰變技術，專攻主題公園與飛行影院（投影時代）。</a:t>
            </a:r>
          </a:p>
        </p:txBody>
      </p:sp>
      <p:sp>
        <p:nvSpPr>
          <p:cNvPr id="10" name="Rounded Rectangle 9"/>
          <p:cNvSpPr/>
          <p:nvPr/>
        </p:nvSpPr>
        <p:spPr>
          <a:xfrm>
            <a:off x="8097316" y="1600200"/>
            <a:ext cx="3545738" cy="226314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764792"/>
            <a:ext cx="3143402" cy="457200"/>
          </a:xfrm>
          <a:prstGeom prst="rect">
            <a:avLst/>
          </a:prstGeom>
          <a:noFill/>
        </p:spPr>
        <p:txBody>
          <a:bodyPr wrap="square" anchor="t">
            <a:spAutoFit/>
          </a:bodyPr>
          <a:lstStyle/>
          <a:p>
            <a:pPr algn="l"/>
            <a:r>
              <a:rPr sz="1450" b="1">
                <a:solidFill>
                  <a:srgbClr val="8B7FD6"/>
                </a:solidFill>
                <a:latin typeface="Arial"/>
              </a:rPr>
              <a:t>愛普生（Epson）</a:t>
            </a:r>
          </a:p>
        </p:txBody>
      </p:sp>
      <p:sp>
        <p:nvSpPr>
          <p:cNvPr id="12" name="TextBox 11"/>
          <p:cNvSpPr txBox="1"/>
          <p:nvPr/>
        </p:nvSpPr>
        <p:spPr>
          <a:xfrm>
            <a:off x="8298484" y="2258568"/>
            <a:ext cx="3143402" cy="1440180"/>
          </a:xfrm>
          <a:prstGeom prst="rect">
            <a:avLst/>
          </a:prstGeom>
          <a:noFill/>
        </p:spPr>
        <p:txBody>
          <a:bodyPr wrap="square">
            <a:spAutoFit/>
          </a:bodyPr>
          <a:lstStyle/>
          <a:p>
            <a:pPr>
              <a:lnSpc>
                <a:spcPct val="120000"/>
              </a:lnSpc>
            </a:pPr>
            <a:r>
              <a:rPr sz="1150">
                <a:solidFill>
                  <a:srgbClr val="F5F3EC"/>
                </a:solidFill>
                <a:latin typeface="Arial"/>
              </a:rPr>
              <a:t>提供 48 台 3LCD 激光工程投影機打造上海《永不消失的黑水城》沉浸式數位藝術展；官方並預告將於 CEDIA Expo 2026 展示最新高亮度 HDR 家用投影技術（投影時代、Epson官方）。</a:t>
            </a:r>
          </a:p>
        </p:txBody>
      </p:sp>
      <p:sp>
        <p:nvSpPr>
          <p:cNvPr id="13" name="Rounded Rectangle 12"/>
          <p:cNvSpPr/>
          <p:nvPr/>
        </p:nvSpPr>
        <p:spPr>
          <a:xfrm>
            <a:off x="548640" y="4091939"/>
            <a:ext cx="3545738" cy="2263140"/>
          </a:xfrm>
          <a:prstGeom prst="roundRect">
            <a:avLst>
              <a:gd name="adj" fmla="val 6000"/>
            </a:avLst>
          </a:prstGeom>
          <a:solidFill>
            <a:srgbClr val="23262F"/>
          </a:solidFill>
          <a:ln w="12700">
            <a:solidFill>
              <a:srgbClr val="6FCF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4256531"/>
            <a:ext cx="3143402" cy="457200"/>
          </a:xfrm>
          <a:prstGeom prst="rect">
            <a:avLst/>
          </a:prstGeom>
          <a:noFill/>
        </p:spPr>
        <p:txBody>
          <a:bodyPr wrap="square" anchor="t">
            <a:spAutoFit/>
          </a:bodyPr>
          <a:lstStyle/>
          <a:p>
            <a:pPr algn="l"/>
            <a:r>
              <a:rPr sz="1450" b="1">
                <a:solidFill>
                  <a:srgbClr val="6FCF97"/>
                </a:solidFill>
                <a:latin typeface="Arial"/>
              </a:rPr>
              <a:t>索諾克（Sonnoc）</a:t>
            </a:r>
          </a:p>
        </p:txBody>
      </p:sp>
      <p:sp>
        <p:nvSpPr>
          <p:cNvPr id="15" name="TextBox 14"/>
          <p:cNvSpPr txBox="1"/>
          <p:nvPr/>
        </p:nvSpPr>
        <p:spPr>
          <a:xfrm>
            <a:off x="749808" y="4750307"/>
            <a:ext cx="3143402" cy="1440180"/>
          </a:xfrm>
          <a:prstGeom prst="rect">
            <a:avLst/>
          </a:prstGeom>
          <a:noFill/>
        </p:spPr>
        <p:txBody>
          <a:bodyPr wrap="square">
            <a:spAutoFit/>
          </a:bodyPr>
          <a:lstStyle/>
          <a:p>
            <a:pPr>
              <a:lnSpc>
                <a:spcPct val="120000"/>
              </a:lnSpc>
            </a:pPr>
            <a:r>
              <a:rPr sz="1150">
                <a:solidFill>
                  <a:srgbClr val="F5F3EC"/>
                </a:solidFill>
                <a:latin typeface="Arial"/>
              </a:rPr>
              <a:t>領航系列 DLP 激光與 C1 液晶激光工程機全線導入中國（北京）航天科學中心沉浸式展區（投影時代）。</a:t>
            </a:r>
          </a:p>
        </p:txBody>
      </p:sp>
      <p:sp>
        <p:nvSpPr>
          <p:cNvPr id="16" name="Rounded Rectangle 15"/>
          <p:cNvSpPr/>
          <p:nvPr/>
        </p:nvSpPr>
        <p:spPr>
          <a:xfrm>
            <a:off x="4322978" y="4091939"/>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4146" y="4256531"/>
            <a:ext cx="3143402" cy="457200"/>
          </a:xfrm>
          <a:prstGeom prst="rect">
            <a:avLst/>
          </a:prstGeom>
          <a:noFill/>
        </p:spPr>
        <p:txBody>
          <a:bodyPr wrap="square" anchor="t">
            <a:spAutoFit/>
          </a:bodyPr>
          <a:lstStyle/>
          <a:p>
            <a:pPr algn="l"/>
            <a:r>
              <a:rPr sz="1450" b="1">
                <a:solidFill>
                  <a:srgbClr val="4C7EFF"/>
                </a:solidFill>
                <a:latin typeface="Arial"/>
              </a:rPr>
              <a:t>### 2. 家用劇院、雷射電視與智</a:t>
            </a:r>
          </a:p>
        </p:txBody>
      </p:sp>
      <p:sp>
        <p:nvSpPr>
          <p:cNvPr id="18" name="TextBox 17"/>
          <p:cNvSpPr txBox="1"/>
          <p:nvPr/>
        </p:nvSpPr>
        <p:spPr>
          <a:xfrm>
            <a:off x="4524146" y="4750307"/>
            <a:ext cx="3143402" cy="1440180"/>
          </a:xfrm>
          <a:prstGeom prst="rect">
            <a:avLst/>
          </a:prstGeom>
          <a:noFill/>
        </p:spPr>
        <p:txBody>
          <a:bodyPr wrap="square">
            <a:spAutoFit/>
          </a:bodyPr>
          <a:lstStyle/>
          <a:p>
            <a:pPr>
              <a:lnSpc>
                <a:spcPct val="120000"/>
              </a:lnSpc>
            </a:pPr>
            <a:r>
              <a:rPr sz="1150">
                <a:solidFill>
                  <a:srgbClr val="F5F3EC"/>
                </a:solidFill>
                <a:latin typeface="Arial"/>
              </a:rPr>
              <a:t/>
            </a:r>
          </a:p>
        </p:txBody>
      </p:sp>
      <p:sp>
        <p:nvSpPr>
          <p:cNvPr id="19" name="Rounded Rectangle 18"/>
          <p:cNvSpPr/>
          <p:nvPr/>
        </p:nvSpPr>
        <p:spPr>
          <a:xfrm>
            <a:off x="8097316" y="4091939"/>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8484" y="4256531"/>
            <a:ext cx="3143402" cy="457200"/>
          </a:xfrm>
          <a:prstGeom prst="rect">
            <a:avLst/>
          </a:prstGeom>
          <a:noFill/>
        </p:spPr>
        <p:txBody>
          <a:bodyPr wrap="square" anchor="t">
            <a:spAutoFit/>
          </a:bodyPr>
          <a:lstStyle/>
          <a:p>
            <a:pPr algn="l"/>
            <a:r>
              <a:rPr sz="1450" b="1">
                <a:solidFill>
                  <a:srgbClr val="FFB454"/>
                </a:solidFill>
                <a:latin typeface="Arial"/>
              </a:rPr>
              <a:t>海信（Hisense）</a:t>
            </a:r>
          </a:p>
        </p:txBody>
      </p:sp>
      <p:sp>
        <p:nvSpPr>
          <p:cNvPr id="21" name="TextBox 20"/>
          <p:cNvSpPr txBox="1"/>
          <p:nvPr/>
        </p:nvSpPr>
        <p:spPr>
          <a:xfrm>
            <a:off x="8298484" y="4750307"/>
            <a:ext cx="3143402" cy="1440180"/>
          </a:xfrm>
          <a:prstGeom prst="rect">
            <a:avLst/>
          </a:prstGeom>
          <a:noFill/>
        </p:spPr>
        <p:txBody>
          <a:bodyPr wrap="square">
            <a:spAutoFit/>
          </a:bodyPr>
          <a:lstStyle/>
          <a:p>
            <a:pPr>
              <a:lnSpc>
                <a:spcPct val="120000"/>
              </a:lnSpc>
            </a:pPr>
            <a:r>
              <a:rPr sz="1150">
                <a:solidFill>
                  <a:srgbClr val="F5F3EC"/>
                </a:solidFill>
                <a:latin typeface="Arial"/>
              </a:rPr>
              <a:t>推出星光 S2 Pro 雷射電視（80/88/100 吋），採用三色雷射光源、1:1 定制菲涅爾無源抗光屏與哈曼卡頓全景聲音響，售價 11,999 元人民幣起（投影時代）。</a:t>
            </a:r>
          </a:p>
        </p:txBody>
      </p:sp>
      <p:sp>
        <p:nvSpPr>
          <p:cNvPr id="22" name="TextBox 21"/>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06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三、新品與品牌動態</a:t>
            </a:r>
          </a:p>
        </p:txBody>
      </p:sp>
      <p:sp>
        <p:nvSpPr>
          <p:cNvPr id="4" name="Rounded Rectangle 3"/>
          <p:cNvSpPr/>
          <p:nvPr/>
        </p:nvSpPr>
        <p:spPr>
          <a:xfrm>
            <a:off x="548640" y="1600200"/>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3143402" cy="457200"/>
          </a:xfrm>
          <a:prstGeom prst="rect">
            <a:avLst/>
          </a:prstGeom>
          <a:noFill/>
        </p:spPr>
        <p:txBody>
          <a:bodyPr wrap="square" anchor="t">
            <a:spAutoFit/>
          </a:bodyPr>
          <a:lstStyle/>
          <a:p>
            <a:pPr algn="l"/>
            <a:r>
              <a:rPr sz="1450" b="1">
                <a:solidFill>
                  <a:srgbClr val="4C7EFF"/>
                </a:solidFill>
                <a:latin typeface="Arial"/>
              </a:rPr>
              <a:t>極米（XGIMI）</a:t>
            </a:r>
          </a:p>
        </p:txBody>
      </p:sp>
      <p:sp>
        <p:nvSpPr>
          <p:cNvPr id="6" name="TextBox 5"/>
          <p:cNvSpPr txBox="1"/>
          <p:nvPr/>
        </p:nvSpPr>
        <p:spPr>
          <a:xfrm>
            <a:off x="749808" y="2258568"/>
            <a:ext cx="3143402" cy="1440180"/>
          </a:xfrm>
          <a:prstGeom prst="rect">
            <a:avLst/>
          </a:prstGeom>
          <a:noFill/>
        </p:spPr>
        <p:txBody>
          <a:bodyPr wrap="square">
            <a:spAutoFit/>
          </a:bodyPr>
          <a:lstStyle/>
          <a:p>
            <a:pPr>
              <a:lnSpc>
                <a:spcPct val="120000"/>
              </a:lnSpc>
            </a:pPr>
            <a:r>
              <a:rPr sz="1150">
                <a:solidFill>
                  <a:srgbClr val="F5F3EC"/>
                </a:solidFill>
                <a:latin typeface="Arial"/>
              </a:rPr>
              <a:t>攜手美國客製化安裝商 AWALL 推出高端品牌「XWALL by XGIMI」，布局美國高端家庭影院市場（ProjectorCentral）。</a:t>
            </a:r>
          </a:p>
        </p:txBody>
      </p:sp>
      <p:sp>
        <p:nvSpPr>
          <p:cNvPr id="7" name="Rounded Rectangle 6"/>
          <p:cNvSpPr/>
          <p:nvPr/>
        </p:nvSpPr>
        <p:spPr>
          <a:xfrm>
            <a:off x="4322978" y="1600200"/>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4146" y="1764792"/>
            <a:ext cx="3143402" cy="457200"/>
          </a:xfrm>
          <a:prstGeom prst="rect">
            <a:avLst/>
          </a:prstGeom>
          <a:noFill/>
        </p:spPr>
        <p:txBody>
          <a:bodyPr wrap="square" anchor="t">
            <a:spAutoFit/>
          </a:bodyPr>
          <a:lstStyle/>
          <a:p>
            <a:pPr algn="l"/>
            <a:r>
              <a:rPr sz="1450" b="1">
                <a:solidFill>
                  <a:srgbClr val="FFB454"/>
                </a:solidFill>
                <a:latin typeface="Arial"/>
              </a:rPr>
              <a:t>當貝（Dangbei）</a:t>
            </a:r>
          </a:p>
        </p:txBody>
      </p:sp>
      <p:sp>
        <p:nvSpPr>
          <p:cNvPr id="9" name="TextBox 8"/>
          <p:cNvSpPr txBox="1"/>
          <p:nvPr/>
        </p:nvSpPr>
        <p:spPr>
          <a:xfrm>
            <a:off x="4524146" y="2258568"/>
            <a:ext cx="3143402" cy="1440180"/>
          </a:xfrm>
          <a:prstGeom prst="rect">
            <a:avLst/>
          </a:prstGeom>
          <a:noFill/>
        </p:spPr>
        <p:txBody>
          <a:bodyPr wrap="square">
            <a:spAutoFit/>
          </a:bodyPr>
          <a:lstStyle/>
          <a:p>
            <a:pPr>
              <a:lnSpc>
                <a:spcPct val="120000"/>
              </a:lnSpc>
            </a:pPr>
            <a:r>
              <a:rPr sz="1150">
                <a:solidFill>
                  <a:srgbClr val="F5F3EC"/>
                </a:solidFill>
                <a:latin typeface="Arial"/>
              </a:rPr>
              <a:t>推出原生 4K 純三色激光旗艦 X7 Max（搭載雙組 Qualas 32 激光器）、X7 Ultra、千元級三色激光機 D7X、RX10 靈動雲台雷射投影機（1200 CVIA 流明，售價 5,499 元）及 1kg 以下輕量機 Smart2（ZNDS投影頻道、IT之家）。</a:t>
            </a:r>
          </a:p>
        </p:txBody>
      </p:sp>
      <p:sp>
        <p:nvSpPr>
          <p:cNvPr id="10" name="Rounded Rectangle 9"/>
          <p:cNvSpPr/>
          <p:nvPr/>
        </p:nvSpPr>
        <p:spPr>
          <a:xfrm>
            <a:off x="8097316" y="1600200"/>
            <a:ext cx="3545738" cy="226314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764792"/>
            <a:ext cx="3143402" cy="457200"/>
          </a:xfrm>
          <a:prstGeom prst="rect">
            <a:avLst/>
          </a:prstGeom>
          <a:noFill/>
        </p:spPr>
        <p:txBody>
          <a:bodyPr wrap="square" anchor="t">
            <a:spAutoFit/>
          </a:bodyPr>
          <a:lstStyle/>
          <a:p>
            <a:pPr algn="l"/>
            <a:r>
              <a:rPr sz="1450" b="1">
                <a:solidFill>
                  <a:srgbClr val="8B7FD6"/>
                </a:solidFill>
                <a:latin typeface="Arial"/>
              </a:rPr>
              <a:t>Nebula</a:t>
            </a:r>
          </a:p>
        </p:txBody>
      </p:sp>
      <p:sp>
        <p:nvSpPr>
          <p:cNvPr id="12" name="TextBox 11"/>
          <p:cNvSpPr txBox="1"/>
          <p:nvPr/>
        </p:nvSpPr>
        <p:spPr>
          <a:xfrm>
            <a:off x="8298484" y="2258568"/>
            <a:ext cx="3143402" cy="1440180"/>
          </a:xfrm>
          <a:prstGeom prst="rect">
            <a:avLst/>
          </a:prstGeom>
          <a:noFill/>
        </p:spPr>
        <p:txBody>
          <a:bodyPr wrap="square">
            <a:spAutoFit/>
          </a:bodyPr>
          <a:lstStyle/>
          <a:p>
            <a:pPr>
              <a:lnSpc>
                <a:spcPct val="120000"/>
              </a:lnSpc>
            </a:pPr>
            <a:r>
              <a:rPr sz="1150">
                <a:solidFill>
                  <a:srgbClr val="F5F3EC"/>
                </a:solidFill>
                <a:latin typeface="Arial"/>
              </a:rPr>
              <a:t>發表 Nebula X1S 三色雷射戶外 4K 投影機，具備 6,000 流明超高亮度（ProjectorCentral）。</a:t>
            </a:r>
          </a:p>
        </p:txBody>
      </p:sp>
      <p:sp>
        <p:nvSpPr>
          <p:cNvPr id="13" name="Rounded Rectangle 12"/>
          <p:cNvSpPr/>
          <p:nvPr/>
        </p:nvSpPr>
        <p:spPr>
          <a:xfrm>
            <a:off x="548640" y="4091939"/>
            <a:ext cx="3545738" cy="2263140"/>
          </a:xfrm>
          <a:prstGeom prst="roundRect">
            <a:avLst>
              <a:gd name="adj" fmla="val 6000"/>
            </a:avLst>
          </a:prstGeom>
          <a:solidFill>
            <a:srgbClr val="23262F"/>
          </a:solidFill>
          <a:ln w="12700">
            <a:solidFill>
              <a:srgbClr val="6FCF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4256531"/>
            <a:ext cx="3143402" cy="457200"/>
          </a:xfrm>
          <a:prstGeom prst="rect">
            <a:avLst/>
          </a:prstGeom>
          <a:noFill/>
        </p:spPr>
        <p:txBody>
          <a:bodyPr wrap="square" anchor="t">
            <a:spAutoFit/>
          </a:bodyPr>
          <a:lstStyle/>
          <a:p>
            <a:pPr algn="l"/>
            <a:r>
              <a:rPr sz="1450" b="1">
                <a:solidFill>
                  <a:srgbClr val="6FCF97"/>
                </a:solidFill>
                <a:latin typeface="Arial"/>
              </a:rPr>
              <a:t>JVC</a:t>
            </a:r>
          </a:p>
        </p:txBody>
      </p:sp>
      <p:sp>
        <p:nvSpPr>
          <p:cNvPr id="15" name="TextBox 14"/>
          <p:cNvSpPr txBox="1"/>
          <p:nvPr/>
        </p:nvSpPr>
        <p:spPr>
          <a:xfrm>
            <a:off x="749808" y="4750307"/>
            <a:ext cx="3143402" cy="1440180"/>
          </a:xfrm>
          <a:prstGeom prst="rect">
            <a:avLst/>
          </a:prstGeom>
          <a:noFill/>
        </p:spPr>
        <p:txBody>
          <a:bodyPr wrap="square">
            <a:spAutoFit/>
          </a:bodyPr>
          <a:lstStyle/>
          <a:p>
            <a:pPr>
              <a:lnSpc>
                <a:spcPct val="120000"/>
              </a:lnSpc>
            </a:pPr>
            <a:r>
              <a:rPr sz="1150">
                <a:solidFill>
                  <a:srgbClr val="F5F3EC"/>
                </a:solidFill>
                <a:latin typeface="Arial"/>
              </a:rPr>
              <a:t>預告於 CEDIA 2026 展出 DLA-NZ900/NZ800 旗艦機型，主打 8K 家庭劇院與原生 4K/120p 高刷新電競體驗（ProjectorCentral）。</a:t>
            </a:r>
          </a:p>
        </p:txBody>
      </p:sp>
      <p:sp>
        <p:nvSpPr>
          <p:cNvPr id="16" name="Rounded Rectangle 15"/>
          <p:cNvSpPr/>
          <p:nvPr/>
        </p:nvSpPr>
        <p:spPr>
          <a:xfrm>
            <a:off x="4322978" y="4091939"/>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4146" y="4256531"/>
            <a:ext cx="3143402" cy="457200"/>
          </a:xfrm>
          <a:prstGeom prst="rect">
            <a:avLst/>
          </a:prstGeom>
          <a:noFill/>
        </p:spPr>
        <p:txBody>
          <a:bodyPr wrap="square" anchor="t">
            <a:spAutoFit/>
          </a:bodyPr>
          <a:lstStyle/>
          <a:p>
            <a:pPr algn="l"/>
            <a:r>
              <a:rPr sz="1450" b="1">
                <a:solidFill>
                  <a:srgbClr val="4C7EFF"/>
                </a:solidFill>
                <a:latin typeface="Arial"/>
              </a:rPr>
              <a:t>REDMI</a:t>
            </a:r>
          </a:p>
        </p:txBody>
      </p:sp>
      <p:sp>
        <p:nvSpPr>
          <p:cNvPr id="18" name="TextBox 17"/>
          <p:cNvSpPr txBox="1"/>
          <p:nvPr/>
        </p:nvSpPr>
        <p:spPr>
          <a:xfrm>
            <a:off x="4524146" y="4750307"/>
            <a:ext cx="3143402" cy="1440180"/>
          </a:xfrm>
          <a:prstGeom prst="rect">
            <a:avLst/>
          </a:prstGeom>
          <a:noFill/>
        </p:spPr>
        <p:txBody>
          <a:bodyPr wrap="square">
            <a:spAutoFit/>
          </a:bodyPr>
          <a:lstStyle/>
          <a:p>
            <a:pPr>
              <a:lnSpc>
                <a:spcPct val="120000"/>
              </a:lnSpc>
            </a:pPr>
            <a:r>
              <a:rPr sz="1150">
                <a:solidFill>
                  <a:srgbClr val="F5F3EC"/>
                </a:solidFill>
                <a:latin typeface="Arial"/>
              </a:rPr>
              <a:t>發布「REDMI 投影機 5」，配備 360 度一體式金屬雲台與全自動校正，預售價 999 元人民幣（ZOL投影機頻道）。</a:t>
            </a:r>
          </a:p>
        </p:txBody>
      </p:sp>
      <p:sp>
        <p:nvSpPr>
          <p:cNvPr id="19" name="TextBox 18"/>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07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四、技術動態</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1450" b="1">
                <a:solidFill>
                  <a:srgbClr val="4C7EFF"/>
                </a:solidFill>
                <a:latin typeface="Arial"/>
              </a:rPr>
              <a:t>三色雷射與超高解析度下沉</a:t>
            </a:r>
          </a:p>
        </p:txBody>
      </p:sp>
      <p:sp>
        <p:nvSpPr>
          <p:cNvPr id="6" name="TextBox 5"/>
          <p:cNvSpPr txBox="1"/>
          <p:nvPr/>
        </p:nvSpPr>
        <p:spPr>
          <a:xfrm>
            <a:off x="749808" y="2258568"/>
            <a:ext cx="5030571" cy="3931920"/>
          </a:xfrm>
          <a:prstGeom prst="rect">
            <a:avLst/>
          </a:prstGeom>
          <a:noFill/>
        </p:spPr>
        <p:txBody>
          <a:bodyPr wrap="square">
            <a:spAutoFit/>
          </a:bodyPr>
          <a:lstStyle/>
          <a:p>
            <a:pPr>
              <a:lnSpc>
                <a:spcPct val="120000"/>
              </a:lnSpc>
            </a:pPr>
            <a:r>
              <a:rPr sz="1150">
                <a:solidFill>
                  <a:srgbClr val="F5F3EC"/>
                </a:solidFill>
                <a:latin typeface="Arial"/>
              </a:rPr>
              <a:t>三色雷射光源技術正迅速由萬元旗艦向下普及至兩千元級別家用市場（如當貝 D7X），同時高階顯示朝向原生 4K/8K 與 4K/120Hz 極低延遲演進（投影時代、ProjectorCentral）。</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1450" b="1">
                <a:solidFill>
                  <a:srgbClr val="FFB454"/>
                </a:solidFill>
                <a:latin typeface="Arial"/>
              </a:rPr>
              <a:t>光學互連突破 AI 傳輸瓶頸</a:t>
            </a:r>
          </a:p>
        </p:txBody>
      </p:sp>
      <p:sp>
        <p:nvSpPr>
          <p:cNvPr id="9" name="TextBox 8"/>
          <p:cNvSpPr txBox="1"/>
          <p:nvPr/>
        </p:nvSpPr>
        <p:spPr>
          <a:xfrm>
            <a:off x="6411315" y="2258568"/>
            <a:ext cx="5030571" cy="3931920"/>
          </a:xfrm>
          <a:prstGeom prst="rect">
            <a:avLst/>
          </a:prstGeom>
          <a:noFill/>
        </p:spPr>
        <p:txBody>
          <a:bodyPr wrap="square">
            <a:spAutoFit/>
          </a:bodyPr>
          <a:lstStyle/>
          <a:p>
            <a:pPr>
              <a:lnSpc>
                <a:spcPct val="120000"/>
              </a:lnSpc>
            </a:pPr>
            <a:r>
              <a:rPr sz="1150">
                <a:solidFill>
                  <a:srgbClr val="F5F3EC"/>
                </a:solidFill>
                <a:latin typeface="Arial"/>
              </a:rPr>
              <a:t>光學技術在 AI 算力基礎建設發揮關鍵作用，Lightmatter 提出全光學互連架構藍圖，旨在取代傳統 SerDes 速度逼近 448G 時的銅纜傳輸極限（DigiTimes）。</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08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五、供應鏈觀察</a:t>
            </a:r>
          </a:p>
        </p:txBody>
      </p:sp>
      <p:sp>
        <p:nvSpPr>
          <p:cNvPr id="4" name="Rounded Rectangle 3"/>
          <p:cNvSpPr/>
          <p:nvPr/>
        </p:nvSpPr>
        <p:spPr>
          <a:xfrm>
            <a:off x="548640" y="1600200"/>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3143402" cy="457200"/>
          </a:xfrm>
          <a:prstGeom prst="rect">
            <a:avLst/>
          </a:prstGeom>
          <a:noFill/>
        </p:spPr>
        <p:txBody>
          <a:bodyPr wrap="square" anchor="t">
            <a:spAutoFit/>
          </a:bodyPr>
          <a:lstStyle/>
          <a:p>
            <a:pPr algn="l"/>
            <a:r>
              <a:rPr sz="1450" b="1">
                <a:solidFill>
                  <a:srgbClr val="4C7EFF"/>
                </a:solidFill>
                <a:latin typeface="Arial"/>
              </a:rPr>
              <a:t>半導體與感測器合資</a:t>
            </a:r>
          </a:p>
        </p:txBody>
      </p:sp>
      <p:sp>
        <p:nvSpPr>
          <p:cNvPr id="6" name="TextBox 5"/>
          <p:cNvSpPr txBox="1"/>
          <p:nvPr/>
        </p:nvSpPr>
        <p:spPr>
          <a:xfrm>
            <a:off x="749808" y="2258568"/>
            <a:ext cx="3143402" cy="1440180"/>
          </a:xfrm>
          <a:prstGeom prst="rect">
            <a:avLst/>
          </a:prstGeom>
          <a:noFill/>
        </p:spPr>
        <p:txBody>
          <a:bodyPr wrap="square">
            <a:spAutoFit/>
          </a:bodyPr>
          <a:lstStyle/>
          <a:p>
            <a:pPr>
              <a:lnSpc>
                <a:spcPct val="120000"/>
              </a:lnSpc>
            </a:pPr>
            <a:r>
              <a:rPr sz="1150">
                <a:solidFill>
                  <a:srgbClr val="F5F3EC"/>
                </a:solidFill>
                <a:latin typeface="Arial"/>
              </a:rPr>
              <a:t>台積電董事會拍板認購 282 億日圓股份，與索尼（Sony）於日本熊本成立合資企業（總投資額約 63 億美元），主導次世代影像感測器生產以支援蘋果等大客戶需求（DigiTimes）。</a:t>
            </a:r>
          </a:p>
        </p:txBody>
      </p:sp>
      <p:sp>
        <p:nvSpPr>
          <p:cNvPr id="7" name="Rounded Rectangle 6"/>
          <p:cNvSpPr/>
          <p:nvPr/>
        </p:nvSpPr>
        <p:spPr>
          <a:xfrm>
            <a:off x="4322978" y="1600200"/>
            <a:ext cx="3545738" cy="226314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4146" y="1764792"/>
            <a:ext cx="3143402" cy="457200"/>
          </a:xfrm>
          <a:prstGeom prst="rect">
            <a:avLst/>
          </a:prstGeom>
          <a:noFill/>
        </p:spPr>
        <p:txBody>
          <a:bodyPr wrap="square" anchor="t">
            <a:spAutoFit/>
          </a:bodyPr>
          <a:lstStyle/>
          <a:p>
            <a:pPr algn="l"/>
            <a:r>
              <a:rPr sz="1450" b="1">
                <a:solidFill>
                  <a:srgbClr val="FFB454"/>
                </a:solidFill>
                <a:latin typeface="Arial"/>
              </a:rPr>
              <a:t>光電核心元件投資</a:t>
            </a:r>
          </a:p>
        </p:txBody>
      </p:sp>
      <p:sp>
        <p:nvSpPr>
          <p:cNvPr id="9" name="TextBox 8"/>
          <p:cNvSpPr txBox="1"/>
          <p:nvPr/>
        </p:nvSpPr>
        <p:spPr>
          <a:xfrm>
            <a:off x="4524146" y="2258568"/>
            <a:ext cx="3143402" cy="1440180"/>
          </a:xfrm>
          <a:prstGeom prst="rect">
            <a:avLst/>
          </a:prstGeom>
          <a:noFill/>
        </p:spPr>
        <p:txBody>
          <a:bodyPr wrap="square">
            <a:spAutoFit/>
          </a:bodyPr>
          <a:lstStyle/>
          <a:p>
            <a:pPr>
              <a:lnSpc>
                <a:spcPct val="120000"/>
              </a:lnSpc>
            </a:pPr>
            <a:r>
              <a:rPr sz="1150">
                <a:solidFill>
                  <a:srgbClr val="F5F3EC"/>
                </a:solidFill>
                <a:latin typeface="Arial"/>
              </a:rPr>
              <a:t>：</a:t>
            </a:r>
          </a:p>
        </p:txBody>
      </p:sp>
      <p:sp>
        <p:nvSpPr>
          <p:cNvPr id="10" name="Rounded Rectangle 9"/>
          <p:cNvSpPr/>
          <p:nvPr/>
        </p:nvSpPr>
        <p:spPr>
          <a:xfrm>
            <a:off x="8097316" y="1600200"/>
            <a:ext cx="3545738" cy="2263140"/>
          </a:xfrm>
          <a:prstGeom prst="roundRect">
            <a:avLst>
              <a:gd name="adj" fmla="val 6000"/>
            </a:avLst>
          </a:prstGeom>
          <a:solidFill>
            <a:srgbClr val="23262F"/>
          </a:solidFill>
          <a:ln w="12700">
            <a:solidFill>
              <a:srgbClr val="8B7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98484" y="1764792"/>
            <a:ext cx="3143402" cy="457200"/>
          </a:xfrm>
          <a:prstGeom prst="rect">
            <a:avLst/>
          </a:prstGeom>
          <a:noFill/>
        </p:spPr>
        <p:txBody>
          <a:bodyPr wrap="square" anchor="t">
            <a:spAutoFit/>
          </a:bodyPr>
          <a:lstStyle/>
          <a:p>
            <a:pPr algn="l"/>
            <a:r>
              <a:rPr sz="1450" b="1">
                <a:solidFill>
                  <a:srgbClr val="8B7FD6"/>
                </a:solidFill>
                <a:latin typeface="Arial"/>
              </a:rPr>
              <a:t>唯捷光電（Vertilite）</a:t>
            </a:r>
          </a:p>
        </p:txBody>
      </p:sp>
      <p:sp>
        <p:nvSpPr>
          <p:cNvPr id="12" name="TextBox 11"/>
          <p:cNvSpPr txBox="1"/>
          <p:nvPr/>
        </p:nvSpPr>
        <p:spPr>
          <a:xfrm>
            <a:off x="8298484" y="2258568"/>
            <a:ext cx="3143402" cy="1440180"/>
          </a:xfrm>
          <a:prstGeom prst="rect">
            <a:avLst/>
          </a:prstGeom>
          <a:noFill/>
        </p:spPr>
        <p:txBody>
          <a:bodyPr wrap="square">
            <a:spAutoFit/>
          </a:bodyPr>
          <a:lstStyle/>
          <a:p>
            <a:pPr>
              <a:lnSpc>
                <a:spcPct val="120000"/>
              </a:lnSpc>
            </a:pPr>
            <a:r>
              <a:rPr sz="1150">
                <a:solidFill>
                  <a:srgbClr val="F5F3EC"/>
                </a:solidFill>
                <a:latin typeface="Arial"/>
              </a:rPr>
              <a:t>投資 7.41 億美元於常州建立研發基地，由 VCSEL 擴展至高階磷化銦（InP）雷射晶片，供應 AI 光互連需求（DigiTimes）。</a:t>
            </a:r>
          </a:p>
        </p:txBody>
      </p:sp>
      <p:sp>
        <p:nvSpPr>
          <p:cNvPr id="13" name="Rounded Rectangle 12"/>
          <p:cNvSpPr/>
          <p:nvPr/>
        </p:nvSpPr>
        <p:spPr>
          <a:xfrm>
            <a:off x="548640" y="4091939"/>
            <a:ext cx="3545738" cy="2263140"/>
          </a:xfrm>
          <a:prstGeom prst="roundRect">
            <a:avLst>
              <a:gd name="adj" fmla="val 6000"/>
            </a:avLst>
          </a:prstGeom>
          <a:solidFill>
            <a:srgbClr val="23262F"/>
          </a:solidFill>
          <a:ln w="12700">
            <a:solidFill>
              <a:srgbClr val="6FCF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4256531"/>
            <a:ext cx="3143402" cy="457200"/>
          </a:xfrm>
          <a:prstGeom prst="rect">
            <a:avLst/>
          </a:prstGeom>
          <a:noFill/>
        </p:spPr>
        <p:txBody>
          <a:bodyPr wrap="square" anchor="t">
            <a:spAutoFit/>
          </a:bodyPr>
          <a:lstStyle/>
          <a:p>
            <a:pPr algn="l"/>
            <a:r>
              <a:rPr sz="1450" b="1">
                <a:solidFill>
                  <a:srgbClr val="6FCF97"/>
                </a:solidFill>
                <a:latin typeface="Arial"/>
              </a:rPr>
              <a:t>環鴻科技（USI）</a:t>
            </a:r>
          </a:p>
        </p:txBody>
      </p:sp>
      <p:sp>
        <p:nvSpPr>
          <p:cNvPr id="15" name="TextBox 14"/>
          <p:cNvSpPr txBox="1"/>
          <p:nvPr/>
        </p:nvSpPr>
        <p:spPr>
          <a:xfrm>
            <a:off x="749808" y="4750307"/>
            <a:ext cx="3143402" cy="1440180"/>
          </a:xfrm>
          <a:prstGeom prst="rect">
            <a:avLst/>
          </a:prstGeom>
          <a:noFill/>
        </p:spPr>
        <p:txBody>
          <a:bodyPr wrap="square">
            <a:spAutoFit/>
          </a:bodyPr>
          <a:lstStyle/>
          <a:p>
            <a:pPr>
              <a:lnSpc>
                <a:spcPct val="120000"/>
              </a:lnSpc>
            </a:pPr>
            <a:r>
              <a:rPr sz="1150">
                <a:solidFill>
                  <a:srgbClr val="F5F3EC"/>
                </a:solidFill>
                <a:latin typeface="Arial"/>
              </a:rPr>
              <a:t>旗下 EugenLight Technologies 推出 ELSFP 超高功率外部雷射模組，預計 2027 年 Q1 量產，進軍 AI 資料中心光互連市場（DigiTimes）。</a:t>
            </a:r>
          </a:p>
        </p:txBody>
      </p:sp>
      <p:sp>
        <p:nvSpPr>
          <p:cNvPr id="16" name="Rounded Rectangle 15"/>
          <p:cNvSpPr/>
          <p:nvPr/>
        </p:nvSpPr>
        <p:spPr>
          <a:xfrm>
            <a:off x="4322978" y="4091939"/>
            <a:ext cx="3545738" cy="226314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4146" y="4256531"/>
            <a:ext cx="3143402" cy="457200"/>
          </a:xfrm>
          <a:prstGeom prst="rect">
            <a:avLst/>
          </a:prstGeom>
          <a:noFill/>
        </p:spPr>
        <p:txBody>
          <a:bodyPr wrap="square" anchor="t">
            <a:spAutoFit/>
          </a:bodyPr>
          <a:lstStyle/>
          <a:p>
            <a:pPr algn="l"/>
            <a:r>
              <a:rPr sz="1450" b="1">
                <a:solidFill>
                  <a:srgbClr val="4C7EFF"/>
                </a:solidFill>
                <a:latin typeface="Arial"/>
              </a:rPr>
              <a:t>電信營運商跨界合作</a:t>
            </a:r>
          </a:p>
        </p:txBody>
      </p:sp>
      <p:sp>
        <p:nvSpPr>
          <p:cNvPr id="18" name="TextBox 17"/>
          <p:cNvSpPr txBox="1"/>
          <p:nvPr/>
        </p:nvSpPr>
        <p:spPr>
          <a:xfrm>
            <a:off x="4524146" y="4750307"/>
            <a:ext cx="3143402" cy="1440180"/>
          </a:xfrm>
          <a:prstGeom prst="rect">
            <a:avLst/>
          </a:prstGeom>
          <a:noFill/>
        </p:spPr>
        <p:txBody>
          <a:bodyPr wrap="square">
            <a:spAutoFit/>
          </a:bodyPr>
          <a:lstStyle/>
          <a:p>
            <a:pPr>
              <a:lnSpc>
                <a:spcPct val="120000"/>
              </a:lnSpc>
            </a:pPr>
            <a:r>
              <a:rPr sz="1150">
                <a:solidFill>
                  <a:srgbClr val="F5F3EC"/>
                </a:solidFill>
                <a:latin typeface="Arial"/>
              </a:rPr>
              <a:t>中國移動與當貝達成深度戰略合作，結合 5G、AI 及物聯網優勢，共同推動智慧家庭大屏生態（ZNDS投影頻道）。</a:t>
            </a:r>
          </a:p>
        </p:txBody>
      </p:sp>
      <p:sp>
        <p:nvSpPr>
          <p:cNvPr id="19" name="TextBox 18"/>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09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六、本月關注品牌／技術關鍵字</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1450" b="1">
                <a:solidFill>
                  <a:srgbClr val="4C7EFF"/>
                </a:solidFill>
                <a:latin typeface="Arial"/>
              </a:rPr>
              <a:t>核心品牌</a:t>
            </a:r>
          </a:p>
        </p:txBody>
      </p:sp>
      <p:sp>
        <p:nvSpPr>
          <p:cNvPr id="6" name="TextBox 5"/>
          <p:cNvSpPr txBox="1"/>
          <p:nvPr/>
        </p:nvSpPr>
        <p:spPr>
          <a:xfrm>
            <a:off x="749808" y="2258568"/>
            <a:ext cx="5030571" cy="3931920"/>
          </a:xfrm>
          <a:prstGeom prst="rect">
            <a:avLst/>
          </a:prstGeom>
          <a:noFill/>
        </p:spPr>
        <p:txBody>
          <a:bodyPr wrap="square">
            <a:spAutoFit/>
          </a:bodyPr>
          <a:lstStyle/>
          <a:p>
            <a:pPr>
              <a:lnSpc>
                <a:spcPct val="120000"/>
              </a:lnSpc>
            </a:pPr>
            <a:r>
              <a:rPr sz="1150">
                <a:solidFill>
                  <a:srgbClr val="F5F3EC"/>
                </a:solidFill>
                <a:latin typeface="Arial"/>
              </a:rPr>
              <a:t>當貝（Dangbei）、極米（XGIMI）、愛普生（Epson）、巴可（Barco）、海信（Hisense）、索尼（Sony）、台積電（TSMC）、易仁科技（YR）、Nebula。</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1450" b="1">
                <a:solidFill>
                  <a:srgbClr val="FFB454"/>
                </a:solidFill>
                <a:latin typeface="Arial"/>
              </a:rPr>
              <a:t>技術關鍵字</a:t>
            </a:r>
          </a:p>
        </p:txBody>
      </p:sp>
      <p:sp>
        <p:nvSpPr>
          <p:cNvPr id="9" name="TextBox 8"/>
          <p:cNvSpPr txBox="1"/>
          <p:nvPr/>
        </p:nvSpPr>
        <p:spPr>
          <a:xfrm>
            <a:off x="6411315" y="2258568"/>
            <a:ext cx="5030571" cy="3931920"/>
          </a:xfrm>
          <a:prstGeom prst="rect">
            <a:avLst/>
          </a:prstGeom>
          <a:noFill/>
        </p:spPr>
        <p:txBody>
          <a:bodyPr wrap="square">
            <a:spAutoFit/>
          </a:bodyPr>
          <a:lstStyle/>
          <a:p>
            <a:pPr>
              <a:lnSpc>
                <a:spcPct val="120000"/>
              </a:lnSpc>
            </a:pPr>
            <a:r>
              <a:rPr sz="1150">
                <a:solidFill>
                  <a:srgbClr val="F5F3EC"/>
                </a:solidFill>
                <a:latin typeface="Arial"/>
              </a:rPr>
              <a:t>三色雷射（RGB Laser）、純雷射（Pure Laser）、原生 4K / 8K、AI光互連（Optical Interconnect）、磷化銦（InP）雷射晶片、一體式雲台。</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10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402336"/>
          </a:xfrm>
          <a:prstGeom prst="rect">
            <a:avLst/>
          </a:prstGeom>
          <a:noFill/>
        </p:spPr>
        <p:txBody>
          <a:bodyPr wrap="square">
            <a:spAutoFit/>
          </a:bodyPr>
          <a:lstStyle/>
          <a:p>
            <a:pPr>
              <a:lnSpc>
                <a:spcPct val="115000"/>
              </a:lnSpc>
            </a:pPr>
            <a:r>
              <a:rPr sz="1450">
                <a:solidFill>
                  <a:srgbClr val="F5F3EC"/>
                </a:solidFill>
                <a:latin typeface="Arial"/>
              </a:rPr>
              <a:t>### 新品發布</a:t>
            </a:r>
          </a:p>
        </p:txBody>
      </p:sp>
      <p:sp>
        <p:nvSpPr>
          <p:cNvPr id="6" name="Oval 5"/>
          <p:cNvSpPr/>
          <p:nvPr/>
        </p:nvSpPr>
        <p:spPr>
          <a:xfrm>
            <a:off x="594360" y="213055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02536"/>
            <a:ext cx="10698480" cy="877824"/>
          </a:xfrm>
          <a:prstGeom prst="rect">
            <a:avLst/>
          </a:prstGeom>
          <a:noFill/>
        </p:spPr>
        <p:txBody>
          <a:bodyPr wrap="square">
            <a:spAutoFit/>
          </a:bodyPr>
          <a:lstStyle/>
          <a:p>
            <a:pPr>
              <a:lnSpc>
                <a:spcPct val="115000"/>
              </a:lnSpc>
            </a:pPr>
            <a:r>
              <a:rPr sz="1450">
                <a:solidFill>
                  <a:srgbClr val="F5F3EC"/>
                </a:solidFill>
                <a:latin typeface="Arial"/>
              </a:rPr>
              <a:t>1. </a:t>
            </a:r>
            <a:r>
              <a:rPr sz="1450" b="1">
                <a:solidFill>
                  <a:srgbClr val="FFB454"/>
                </a:solidFill>
                <a:latin typeface="Arial"/>
              </a:rPr>
              <a:t>ROLY RL-A6U投影機北京促銷價32200元</a:t>
            </a:r>
            <a:r>
              <a:rPr sz="1450">
                <a:solidFill>
                  <a:srgbClr val="F5F3EC"/>
                </a:solidFill>
                <a:latin typeface="Arial"/>
              </a:rPr>
              <a:t> — ZOL投影機頻道 [連結](https://projector.zol.com.cn/1226/12263468.html)</a:t>
            </a:r>
          </a:p>
        </p:txBody>
      </p:sp>
      <p:sp>
        <p:nvSpPr>
          <p:cNvPr id="8" name="Oval 7"/>
          <p:cNvSpPr/>
          <p:nvPr/>
        </p:nvSpPr>
        <p:spPr>
          <a:xfrm>
            <a:off x="594360" y="300837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80360"/>
            <a:ext cx="10698480" cy="877824"/>
          </a:xfrm>
          <a:prstGeom prst="rect">
            <a:avLst/>
          </a:prstGeom>
          <a:noFill/>
        </p:spPr>
        <p:txBody>
          <a:bodyPr wrap="square">
            <a:spAutoFit/>
          </a:bodyPr>
          <a:lstStyle/>
          <a:p>
            <a:pPr>
              <a:lnSpc>
                <a:spcPct val="115000"/>
              </a:lnSpc>
            </a:pPr>
            <a:r>
              <a:rPr sz="1450">
                <a:solidFill>
                  <a:srgbClr val="F5F3EC"/>
                </a:solidFill>
                <a:latin typeface="Arial"/>
              </a:rPr>
              <a:t>2. </a:t>
            </a:r>
            <a:r>
              <a:rPr sz="1450" b="1">
                <a:solidFill>
                  <a:srgbClr val="FFB454"/>
                </a:solidFill>
                <a:latin typeface="Arial"/>
              </a:rPr>
              <a:t>松下 PT-XZ401C 北京促銷價 10500 元</a:t>
            </a:r>
            <a:r>
              <a:rPr sz="1450">
                <a:solidFill>
                  <a:srgbClr val="F5F3EC"/>
                </a:solidFill>
                <a:latin typeface="Arial"/>
              </a:rPr>
              <a:t> — ZOL投影機頻道 [連結](https://projector.zol.com.cn/1226/12263555.html)</a:t>
            </a:r>
          </a:p>
        </p:txBody>
      </p:sp>
      <p:sp>
        <p:nvSpPr>
          <p:cNvPr id="10" name="Oval 9"/>
          <p:cNvSpPr/>
          <p:nvPr/>
        </p:nvSpPr>
        <p:spPr>
          <a:xfrm>
            <a:off x="594360" y="3886199"/>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58183"/>
            <a:ext cx="10698480" cy="877824"/>
          </a:xfrm>
          <a:prstGeom prst="rect">
            <a:avLst/>
          </a:prstGeom>
          <a:noFill/>
        </p:spPr>
        <p:txBody>
          <a:bodyPr wrap="square">
            <a:spAutoFit/>
          </a:bodyPr>
          <a:lstStyle/>
          <a:p>
            <a:pPr>
              <a:lnSpc>
                <a:spcPct val="115000"/>
              </a:lnSpc>
            </a:pPr>
            <a:r>
              <a:rPr sz="1450">
                <a:solidFill>
                  <a:srgbClr val="F5F3EC"/>
                </a:solidFill>
                <a:latin typeface="Arial"/>
              </a:rPr>
              <a:t>3. </a:t>
            </a:r>
            <a:r>
              <a:rPr sz="1450" b="1">
                <a:solidFill>
                  <a:srgbClr val="FFB454"/>
                </a:solidFill>
                <a:latin typeface="Arial"/>
              </a:rPr>
              <a:t>愛普生CB-L530U投影機北京促銷價14000元</a:t>
            </a:r>
            <a:r>
              <a:rPr sz="1450">
                <a:solidFill>
                  <a:srgbClr val="F5F3EC"/>
                </a:solidFill>
                <a:latin typeface="Arial"/>
              </a:rPr>
              <a:t> — ZOL投影機頻道 [連結](https://projector.zol.com.cn/1226/12263557.html)</a:t>
            </a:r>
          </a:p>
        </p:txBody>
      </p:sp>
      <p:sp>
        <p:nvSpPr>
          <p:cNvPr id="12" name="Oval 11"/>
          <p:cNvSpPr/>
          <p:nvPr/>
        </p:nvSpPr>
        <p:spPr>
          <a:xfrm>
            <a:off x="594360" y="4764023"/>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636007"/>
            <a:ext cx="10698480" cy="640080"/>
          </a:xfrm>
          <a:prstGeom prst="rect">
            <a:avLst/>
          </a:prstGeom>
          <a:noFill/>
        </p:spPr>
        <p:txBody>
          <a:bodyPr wrap="square">
            <a:spAutoFit/>
          </a:bodyPr>
          <a:lstStyle/>
          <a:p>
            <a:pPr>
              <a:lnSpc>
                <a:spcPct val="115000"/>
              </a:lnSpc>
            </a:pPr>
            <a:r>
              <a:rPr sz="1450">
                <a:solidFill>
                  <a:srgbClr val="F5F3EC"/>
                </a:solidFill>
                <a:latin typeface="Arial"/>
              </a:rPr>
              <a:t>4. </a:t>
            </a:r>
            <a:r>
              <a:rPr sz="1450" b="1">
                <a:solidFill>
                  <a:srgbClr val="FFB454"/>
                </a:solidFill>
                <a:latin typeface="Arial"/>
              </a:rPr>
              <a:t>明基EH6834投影機北京促銷價6800元</a:t>
            </a:r>
            <a:r>
              <a:rPr sz="1450">
                <a:solidFill>
                  <a:srgbClr val="F5F3EC"/>
                </a:solidFill>
                <a:latin typeface="Arial"/>
              </a:rPr>
              <a:t> — ZOL投影機頻道 [連結](https://projector.zol.com.cn/1226/12263558.html)</a:t>
            </a:r>
          </a:p>
        </p:txBody>
      </p:sp>
      <p:sp>
        <p:nvSpPr>
          <p:cNvPr id="14" name="Oval 13"/>
          <p:cNvSpPr/>
          <p:nvPr/>
        </p:nvSpPr>
        <p:spPr>
          <a:xfrm>
            <a:off x="594360" y="540410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276088"/>
            <a:ext cx="10698480" cy="877824"/>
          </a:xfrm>
          <a:prstGeom prst="rect">
            <a:avLst/>
          </a:prstGeom>
          <a:noFill/>
        </p:spPr>
        <p:txBody>
          <a:bodyPr wrap="square">
            <a:spAutoFit/>
          </a:bodyPr>
          <a:lstStyle/>
          <a:p>
            <a:pPr>
              <a:lnSpc>
                <a:spcPct val="115000"/>
              </a:lnSpc>
            </a:pPr>
            <a:r>
              <a:rPr sz="1450">
                <a:solidFill>
                  <a:srgbClr val="F5F3EC"/>
                </a:solidFill>
                <a:latin typeface="Arial"/>
              </a:rPr>
              <a:t>5. </a:t>
            </a:r>
            <a:r>
              <a:rPr sz="1450" b="1">
                <a:solidFill>
                  <a:srgbClr val="FFB454"/>
                </a:solidFill>
                <a:latin typeface="Arial"/>
              </a:rPr>
              <a:t>Redmi投影機5正式發布：400 CVIA流明搭配360度雲台，預售價999元</a:t>
            </a:r>
            <a:r>
              <a:rPr sz="1450">
                <a:solidFill>
                  <a:srgbClr val="F5F3EC"/>
                </a:solidFill>
                <a:latin typeface="Arial"/>
              </a:rPr>
              <a:t> — ZOL投影機頻道 [連結](https://projector.zol.com.cn/1226/12266543.html)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11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6. </a:t>
            </a:r>
            <a:r>
              <a:rPr sz="1450" b="1">
                <a:solidFill>
                  <a:srgbClr val="FFB454"/>
                </a:solidFill>
                <a:latin typeface="Arial"/>
              </a:rPr>
              <a:t>光峰 AL-MU630 激光工程投影機 6200流明促銷資訊</a:t>
            </a:r>
            <a:r>
              <a:rPr sz="1450">
                <a:solidFill>
                  <a:srgbClr val="F5F3EC"/>
                </a:solidFill>
                <a:latin typeface="Arial"/>
              </a:rPr>
              <a:t> — ZOL投影機頻道 [連結](https://projector.zol.com.cn/1227/12270653.html)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7. </a:t>
            </a:r>
            <a:r>
              <a:rPr sz="1450" b="1">
                <a:solidFill>
                  <a:srgbClr val="FFB454"/>
                </a:solidFill>
                <a:latin typeface="Arial"/>
              </a:rPr>
              <a:t>光峰AL-MU530雷射工程投影機5200流明促銷</a:t>
            </a:r>
            <a:r>
              <a:rPr sz="1450">
                <a:solidFill>
                  <a:srgbClr val="F5F3EC"/>
                </a:solidFill>
                <a:latin typeface="Arial"/>
              </a:rPr>
              <a:t> — ZOL投影機頻道 [連結](https://projector.zol.com.cn/1227/12270659.html)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8. </a:t>
            </a:r>
            <a:r>
              <a:rPr sz="1450" b="1">
                <a:solidFill>
                  <a:srgbClr val="FFB454"/>
                </a:solidFill>
                <a:latin typeface="Arial"/>
              </a:rPr>
              <a:t>光峰 AL-MK625 投影機 6200流明 4K 帶系統規格與行情資訊</a:t>
            </a:r>
            <a:r>
              <a:rPr sz="1450">
                <a:solidFill>
                  <a:srgbClr val="F5F3EC"/>
                </a:solidFill>
                <a:latin typeface="Arial"/>
              </a:rPr>
              <a:t> — ZOL投影機頻道 [連結](https://projector.zol.com.cn/1227/12270675.html)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9. </a:t>
            </a:r>
            <a:r>
              <a:rPr sz="1450" b="1">
                <a:solidFill>
                  <a:srgbClr val="FFB454"/>
                </a:solidFill>
                <a:latin typeface="Arial"/>
              </a:rPr>
              <a:t>索尼 VPL-C500XZ 商務辦公雷射投影機促銷活動</a:t>
            </a:r>
            <a:r>
              <a:rPr sz="1450">
                <a:solidFill>
                  <a:srgbClr val="F5F3EC"/>
                </a:solidFill>
                <a:latin typeface="Arial"/>
              </a:rPr>
              <a:t> — ZOL投影機頻道 [連結](https://projector.zol.com.cn/1227/12270685.html)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10. </a:t>
            </a:r>
            <a:r>
              <a:rPr sz="1450" b="1">
                <a:solidFill>
                  <a:srgbClr val="FFB454"/>
                </a:solidFill>
                <a:latin typeface="Arial"/>
              </a:rPr>
              <a:t>索尼VPL-EW575辦公會議投影機4300流明促銷中</a:t>
            </a:r>
            <a:r>
              <a:rPr sz="1450">
                <a:solidFill>
                  <a:srgbClr val="F5F3EC"/>
                </a:solidFill>
                <a:latin typeface="Arial"/>
              </a:rPr>
              <a:t> — ZOL投影機頻道 [連結](https://projector.zol.com.cn/1227/12270688.html)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12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11. </a:t>
            </a:r>
            <a:r>
              <a:rPr sz="1450" b="1">
                <a:solidFill>
                  <a:srgbClr val="FFB454"/>
                </a:solidFill>
                <a:latin typeface="Arial"/>
              </a:rPr>
              <a:t>索尼VPL-EX575辦公會議投影機4200流明促銷中</a:t>
            </a:r>
            <a:r>
              <a:rPr sz="1450">
                <a:solidFill>
                  <a:srgbClr val="F5F3EC"/>
                </a:solidFill>
                <a:latin typeface="Arial"/>
              </a:rPr>
              <a:t> — ZOL投影機頻道 [連結](https://projector.zol.com.cn/1227/12270692.html)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12. </a:t>
            </a:r>
            <a:r>
              <a:rPr sz="1450" b="1">
                <a:solidFill>
                  <a:srgbClr val="FFB454"/>
                </a:solidFill>
                <a:latin typeface="Arial"/>
              </a:rPr>
              <a:t>索尼 VPL-P501XZ 投影機商務辦公雷射機種特價促銷</a:t>
            </a:r>
            <a:r>
              <a:rPr sz="1450">
                <a:solidFill>
                  <a:srgbClr val="F5F3EC"/>
                </a:solidFill>
                <a:latin typeface="Arial"/>
              </a:rPr>
              <a:t> — ZOL投影機頻道 [連結](https://projector.zol.com.cn/1227/12270696.html)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13. </a:t>
            </a:r>
            <a:r>
              <a:rPr sz="1450" b="1">
                <a:solidFill>
                  <a:srgbClr val="FFB454"/>
                </a:solidFill>
                <a:latin typeface="Arial"/>
              </a:rPr>
              <a:t>索尼 VPL-P630HZ 投影機中心 7000 流明雷射規格與促銷行情</a:t>
            </a:r>
            <a:r>
              <a:rPr sz="1450">
                <a:solidFill>
                  <a:srgbClr val="F5F3EC"/>
                </a:solidFill>
                <a:latin typeface="Arial"/>
              </a:rPr>
              <a:t> — ZOL投影機頻道 [連結](https://projector.zol.com.cn/1227/12270701.html)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14. </a:t>
            </a:r>
            <a:r>
              <a:rPr sz="1450" b="1">
                <a:solidFill>
                  <a:srgbClr val="FFB454"/>
                </a:solidFill>
                <a:latin typeface="Arial"/>
              </a:rPr>
              <a:t>索尼 VPL-P530HZ 投影機促銷特價 19,899 元</a:t>
            </a:r>
            <a:r>
              <a:rPr sz="1450">
                <a:solidFill>
                  <a:srgbClr val="F5F3EC"/>
                </a:solidFill>
                <a:latin typeface="Arial"/>
              </a:rPr>
              <a:t> — ZOL投影機頻道 [連結](https://projector.zol.com.cn/1227/12270703.html)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15. </a:t>
            </a:r>
            <a:r>
              <a:rPr sz="1450" b="1">
                <a:solidFill>
                  <a:srgbClr val="FFB454"/>
                </a:solidFill>
                <a:latin typeface="Arial"/>
              </a:rPr>
              <a:t>光峰AL-W360雷射投影機商務辦公機種促銷資訊</a:t>
            </a:r>
            <a:r>
              <a:rPr sz="1450">
                <a:solidFill>
                  <a:srgbClr val="F5F3EC"/>
                </a:solidFill>
                <a:latin typeface="Arial"/>
              </a:rPr>
              <a:t> — ZOL投影機頻道 [連結](https://projector.zol.com.cn/1227/12271128.html)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13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a:solidFill>
                  <a:srgbClr val="F5F3EC"/>
                </a:solidFill>
                <a:latin typeface="Arial"/>
              </a:rPr>
              <a:t>16. </a:t>
            </a:r>
            <a:r>
              <a:rPr sz="1450" b="1">
                <a:solidFill>
                  <a:srgbClr val="FFB454"/>
                </a:solidFill>
                <a:latin typeface="Arial"/>
              </a:rPr>
              <a:t>光峰AL-W320激光商務投影機促銷特價資訊</a:t>
            </a:r>
            <a:r>
              <a:rPr sz="1450">
                <a:solidFill>
                  <a:srgbClr val="F5F3EC"/>
                </a:solidFill>
                <a:latin typeface="Arial"/>
              </a:rPr>
              <a:t> — ZOL投影機頻道 [連結](https://projector.zol.com.cn/1227/12271129.html)</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877824"/>
          </a:xfrm>
          <a:prstGeom prst="rect">
            <a:avLst/>
          </a:prstGeom>
          <a:noFill/>
        </p:spPr>
        <p:txBody>
          <a:bodyPr wrap="square">
            <a:spAutoFit/>
          </a:bodyPr>
          <a:lstStyle/>
          <a:p>
            <a:pPr>
              <a:lnSpc>
                <a:spcPct val="115000"/>
              </a:lnSpc>
            </a:pPr>
            <a:r>
              <a:rPr sz="1450">
                <a:solidFill>
                  <a:srgbClr val="F5F3EC"/>
                </a:solidFill>
                <a:latin typeface="Arial"/>
              </a:rPr>
              <a:t>17. </a:t>
            </a:r>
            <a:r>
              <a:rPr sz="1450" b="1">
                <a:solidFill>
                  <a:srgbClr val="FFB454"/>
                </a:solidFill>
                <a:latin typeface="Arial"/>
              </a:rPr>
              <a:t>SHARP/NEC NP-CA4400X投影機4700流明商務教學促銷</a:t>
            </a:r>
            <a:r>
              <a:rPr sz="1450">
                <a:solidFill>
                  <a:srgbClr val="F5F3EC"/>
                </a:solidFill>
                <a:latin typeface="Arial"/>
              </a:rPr>
              <a:t> — ZOL投影機頻道 [連結](https://projector.zol.com.cn/1227/12271131.html)</a:t>
            </a:r>
          </a:p>
        </p:txBody>
      </p:sp>
      <p:sp>
        <p:nvSpPr>
          <p:cNvPr id="8" name="Oval 7"/>
          <p:cNvSpPr/>
          <p:nvPr/>
        </p:nvSpPr>
        <p:spPr>
          <a:xfrm>
            <a:off x="594360" y="324612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18104"/>
            <a:ext cx="10698480" cy="640080"/>
          </a:xfrm>
          <a:prstGeom prst="rect">
            <a:avLst/>
          </a:prstGeom>
          <a:noFill/>
        </p:spPr>
        <p:txBody>
          <a:bodyPr wrap="square">
            <a:spAutoFit/>
          </a:bodyPr>
          <a:lstStyle/>
          <a:p>
            <a:pPr>
              <a:lnSpc>
                <a:spcPct val="115000"/>
              </a:lnSpc>
            </a:pPr>
            <a:r>
              <a:rPr sz="1450">
                <a:solidFill>
                  <a:srgbClr val="F5F3EC"/>
                </a:solidFill>
                <a:latin typeface="Arial"/>
              </a:rPr>
              <a:t>18. </a:t>
            </a:r>
            <a:r>
              <a:rPr sz="1450" b="1">
                <a:solidFill>
                  <a:srgbClr val="FFB454"/>
                </a:solidFill>
                <a:latin typeface="Arial"/>
              </a:rPr>
              <a:t>騰訊先鋒雲遊戲發布全新品牌 攜手當貝共探未來大屏遊戲方向</a:t>
            </a:r>
            <a:r>
              <a:rPr sz="1450">
                <a:solidFill>
                  <a:srgbClr val="F5F3EC"/>
                </a:solidFill>
                <a:latin typeface="Arial"/>
              </a:rPr>
              <a:t> — ZNDS投影頻道 [連結](https://news.znds.com/article/60088.html)</a:t>
            </a:r>
          </a:p>
        </p:txBody>
      </p:sp>
      <p:sp>
        <p:nvSpPr>
          <p:cNvPr id="10" name="Oval 9"/>
          <p:cNvSpPr/>
          <p:nvPr/>
        </p:nvSpPr>
        <p:spPr>
          <a:xfrm>
            <a:off x="594360" y="388620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58184"/>
            <a:ext cx="10698480" cy="640080"/>
          </a:xfrm>
          <a:prstGeom prst="rect">
            <a:avLst/>
          </a:prstGeom>
          <a:noFill/>
        </p:spPr>
        <p:txBody>
          <a:bodyPr wrap="square">
            <a:spAutoFit/>
          </a:bodyPr>
          <a:lstStyle/>
          <a:p>
            <a:pPr>
              <a:lnSpc>
                <a:spcPct val="115000"/>
              </a:lnSpc>
            </a:pPr>
            <a:r>
              <a:rPr sz="1450">
                <a:solidFill>
                  <a:srgbClr val="F5F3EC"/>
                </a:solidFill>
                <a:latin typeface="Arial"/>
              </a:rPr>
              <a:t>19. </a:t>
            </a:r>
            <a:r>
              <a:rPr sz="1450" b="1">
                <a:solidFill>
                  <a:srgbClr val="FFB454"/>
                </a:solidFill>
                <a:latin typeface="Arial"/>
              </a:rPr>
              <a:t>2023家用投影機推薦指南：各價位選購分析</a:t>
            </a:r>
            <a:r>
              <a:rPr sz="1450">
                <a:solidFill>
                  <a:srgbClr val="F5F3EC"/>
                </a:solidFill>
                <a:latin typeface="Arial"/>
              </a:rPr>
              <a:t> — ZNDS投影頻道 [連結](https://news.znds.com/article/61992.html)</a:t>
            </a:r>
          </a:p>
        </p:txBody>
      </p:sp>
      <p:sp>
        <p:nvSpPr>
          <p:cNvPr id="12" name="Oval 11"/>
          <p:cNvSpPr/>
          <p:nvPr/>
        </p:nvSpPr>
        <p:spPr>
          <a:xfrm>
            <a:off x="594360" y="452628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398264"/>
            <a:ext cx="10698480" cy="640080"/>
          </a:xfrm>
          <a:prstGeom prst="rect">
            <a:avLst/>
          </a:prstGeom>
          <a:noFill/>
        </p:spPr>
        <p:txBody>
          <a:bodyPr wrap="square">
            <a:spAutoFit/>
          </a:bodyPr>
          <a:lstStyle/>
          <a:p>
            <a:pPr>
              <a:lnSpc>
                <a:spcPct val="115000"/>
              </a:lnSpc>
            </a:pPr>
            <a:r>
              <a:rPr sz="1450">
                <a:solidFill>
                  <a:srgbClr val="F5F3EC"/>
                </a:solidFill>
                <a:latin typeface="Arial"/>
              </a:rPr>
              <a:t>20. </a:t>
            </a:r>
            <a:r>
              <a:rPr sz="1450" b="1">
                <a:solidFill>
                  <a:srgbClr val="FFB454"/>
                </a:solidFill>
                <a:latin typeface="Arial"/>
              </a:rPr>
              <a:t>2000元人民幣左右高性價比家用智能投影儀推薦選購指南</a:t>
            </a:r>
            <a:r>
              <a:rPr sz="1450">
                <a:solidFill>
                  <a:srgbClr val="F5F3EC"/>
                </a:solidFill>
                <a:latin typeface="Arial"/>
              </a:rPr>
              <a:t> — ZNDS投影頻道 [連結](https://news.znds.com/article/62577.html)</a:t>
            </a:r>
          </a:p>
        </p:txBody>
      </p:sp>
      <p:sp>
        <p:nvSpPr>
          <p:cNvPr id="14" name="Oval 13"/>
          <p:cNvSpPr/>
          <p:nvPr/>
        </p:nvSpPr>
        <p:spPr>
          <a:xfrm>
            <a:off x="594360" y="516636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38344"/>
            <a:ext cx="10698480" cy="640080"/>
          </a:xfrm>
          <a:prstGeom prst="rect">
            <a:avLst/>
          </a:prstGeom>
          <a:noFill/>
        </p:spPr>
        <p:txBody>
          <a:bodyPr wrap="square">
            <a:spAutoFit/>
          </a:bodyPr>
          <a:lstStyle/>
          <a:p>
            <a:pPr>
              <a:lnSpc>
                <a:spcPct val="115000"/>
              </a:lnSpc>
            </a:pPr>
            <a:r>
              <a:rPr sz="1450">
                <a:solidFill>
                  <a:srgbClr val="F5F3EC"/>
                </a:solidFill>
                <a:latin typeface="Arial"/>
              </a:rPr>
              <a:t>21. </a:t>
            </a:r>
            <a:r>
              <a:rPr sz="1450" b="1">
                <a:solidFill>
                  <a:srgbClr val="FFB454"/>
                </a:solidFill>
                <a:latin typeface="Arial"/>
              </a:rPr>
              <a:t>5000元家用投影機推薦 5000元以內雷射投影機哪款好</a:t>
            </a:r>
            <a:r>
              <a:rPr sz="1450">
                <a:solidFill>
                  <a:srgbClr val="F5F3EC"/>
                </a:solidFill>
                <a:latin typeface="Arial"/>
              </a:rPr>
              <a:t> — ZNDS投影頻道 [連結](https://news.znds.com/article/62662.html)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14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a:solidFill>
                  <a:srgbClr val="F5F3EC"/>
                </a:solidFill>
                <a:latin typeface="Arial"/>
              </a:rPr>
              <a:t>22. </a:t>
            </a:r>
            <a:r>
              <a:rPr sz="1450" b="1">
                <a:solidFill>
                  <a:srgbClr val="FFB454"/>
                </a:solidFill>
                <a:latin typeface="Arial"/>
              </a:rPr>
              <a:t>2023年四千元左右高性價比家用投影機推薦指南</a:t>
            </a:r>
            <a:r>
              <a:rPr sz="1450">
                <a:solidFill>
                  <a:srgbClr val="F5F3EC"/>
                </a:solidFill>
                <a:latin typeface="Arial"/>
              </a:rPr>
              <a:t> — ZNDS投影頻道 [連結](https://news.znds.com/article/63122.html)</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640080"/>
          </a:xfrm>
          <a:prstGeom prst="rect">
            <a:avLst/>
          </a:prstGeom>
          <a:noFill/>
        </p:spPr>
        <p:txBody>
          <a:bodyPr wrap="square">
            <a:spAutoFit/>
          </a:bodyPr>
          <a:lstStyle/>
          <a:p>
            <a:pPr>
              <a:lnSpc>
                <a:spcPct val="115000"/>
              </a:lnSpc>
            </a:pPr>
            <a:r>
              <a:rPr sz="1450">
                <a:solidFill>
                  <a:srgbClr val="F5F3EC"/>
                </a:solidFill>
                <a:latin typeface="Arial"/>
              </a:rPr>
              <a:t>23. </a:t>
            </a:r>
            <a:r>
              <a:rPr sz="1450" b="1">
                <a:solidFill>
                  <a:srgbClr val="FFB454"/>
                </a:solidFill>
                <a:latin typeface="Arial"/>
              </a:rPr>
              <a:t>情人節實用禮物怎麼選？值得入手的寶藏投影機推薦</a:t>
            </a:r>
            <a:r>
              <a:rPr sz="1450">
                <a:solidFill>
                  <a:srgbClr val="F5F3EC"/>
                </a:solidFill>
                <a:latin typeface="Arial"/>
              </a:rPr>
              <a:t> — ZNDS投影頻道 [連結](https://news.znds.com/article/65374.html)</a:t>
            </a:r>
          </a:p>
        </p:txBody>
      </p:sp>
      <p:sp>
        <p:nvSpPr>
          <p:cNvPr id="8" name="Oval 7"/>
          <p:cNvSpPr/>
          <p:nvPr/>
        </p:nvSpPr>
        <p:spPr>
          <a:xfrm>
            <a:off x="594360" y="300837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80360"/>
            <a:ext cx="10698480" cy="640080"/>
          </a:xfrm>
          <a:prstGeom prst="rect">
            <a:avLst/>
          </a:prstGeom>
          <a:noFill/>
        </p:spPr>
        <p:txBody>
          <a:bodyPr wrap="square">
            <a:spAutoFit/>
          </a:bodyPr>
          <a:lstStyle/>
          <a:p>
            <a:pPr>
              <a:lnSpc>
                <a:spcPct val="115000"/>
              </a:lnSpc>
            </a:pPr>
            <a:r>
              <a:rPr sz="1450">
                <a:solidFill>
                  <a:srgbClr val="F5F3EC"/>
                </a:solidFill>
                <a:latin typeface="Arial"/>
              </a:rPr>
              <a:t>24. </a:t>
            </a:r>
            <a:r>
              <a:rPr sz="1450" b="1">
                <a:solidFill>
                  <a:srgbClr val="FFB454"/>
                </a:solidFill>
                <a:latin typeface="Arial"/>
              </a:rPr>
              <a:t>什麼投影儀最好性價比最高？投影儀測評排行榜前十名</a:t>
            </a:r>
            <a:r>
              <a:rPr sz="1450">
                <a:solidFill>
                  <a:srgbClr val="F5F3EC"/>
                </a:solidFill>
                <a:latin typeface="Arial"/>
              </a:rPr>
              <a:t> — ZNDS投影頻道 [連結](https://news.znds.com/article/66246.html)</a:t>
            </a:r>
          </a:p>
        </p:txBody>
      </p:sp>
      <p:sp>
        <p:nvSpPr>
          <p:cNvPr id="10" name="Oval 9"/>
          <p:cNvSpPr/>
          <p:nvPr/>
        </p:nvSpPr>
        <p:spPr>
          <a:xfrm>
            <a:off x="594360" y="364845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520440"/>
            <a:ext cx="10698480" cy="640080"/>
          </a:xfrm>
          <a:prstGeom prst="rect">
            <a:avLst/>
          </a:prstGeom>
          <a:noFill/>
        </p:spPr>
        <p:txBody>
          <a:bodyPr wrap="square">
            <a:spAutoFit/>
          </a:bodyPr>
          <a:lstStyle/>
          <a:p>
            <a:pPr>
              <a:lnSpc>
                <a:spcPct val="115000"/>
              </a:lnSpc>
            </a:pPr>
            <a:r>
              <a:rPr sz="1450">
                <a:solidFill>
                  <a:srgbClr val="F5F3EC"/>
                </a:solidFill>
                <a:latin typeface="Arial"/>
              </a:rPr>
              <a:t>25. </a:t>
            </a:r>
            <a:r>
              <a:rPr sz="1450" b="1">
                <a:solidFill>
                  <a:srgbClr val="FFB454"/>
                </a:solidFill>
                <a:latin typeface="Arial"/>
              </a:rPr>
              <a:t>2024家用投影機推薦指南：剖析品牌選擇與選購要點</a:t>
            </a:r>
            <a:r>
              <a:rPr sz="1450">
                <a:solidFill>
                  <a:srgbClr val="F5F3EC"/>
                </a:solidFill>
                <a:latin typeface="Arial"/>
              </a:rPr>
              <a:t> — ZNDS投影頻道 [連結](https://news.znds.com/article/66540.html)</a:t>
            </a:r>
          </a:p>
        </p:txBody>
      </p:sp>
      <p:sp>
        <p:nvSpPr>
          <p:cNvPr id="12" name="Oval 11"/>
          <p:cNvSpPr/>
          <p:nvPr/>
        </p:nvSpPr>
        <p:spPr>
          <a:xfrm>
            <a:off x="594360" y="428853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160520"/>
            <a:ext cx="10698480" cy="877824"/>
          </a:xfrm>
          <a:prstGeom prst="rect">
            <a:avLst/>
          </a:prstGeom>
          <a:noFill/>
        </p:spPr>
        <p:txBody>
          <a:bodyPr wrap="square">
            <a:spAutoFit/>
          </a:bodyPr>
          <a:lstStyle/>
          <a:p>
            <a:pPr>
              <a:lnSpc>
                <a:spcPct val="115000"/>
              </a:lnSpc>
            </a:pPr>
            <a:r>
              <a:rPr sz="1450">
                <a:solidFill>
                  <a:srgbClr val="F5F3EC"/>
                </a:solidFill>
                <a:latin typeface="Arial"/>
              </a:rPr>
              <a:t>26. </a:t>
            </a:r>
            <a:r>
              <a:rPr sz="1450" b="1">
                <a:solidFill>
                  <a:srgbClr val="FFB454"/>
                </a:solidFill>
                <a:latin typeface="Arial"/>
              </a:rPr>
              <a:t>三色激光畫質驚人！當貝D7X激光投影儀評測：兩千多元即體驗旗艦技術</a:t>
            </a:r>
            <a:r>
              <a:rPr sz="1450">
                <a:solidFill>
                  <a:srgbClr val="F5F3EC"/>
                </a:solidFill>
                <a:latin typeface="Arial"/>
              </a:rPr>
              <a:t> — ZNDS投影頻道 [連結](https://news.znds.com/article/68899.html)</a:t>
            </a:r>
          </a:p>
        </p:txBody>
      </p:sp>
      <p:sp>
        <p:nvSpPr>
          <p:cNvPr id="14" name="Oval 13"/>
          <p:cNvSpPr/>
          <p:nvPr/>
        </p:nvSpPr>
        <p:spPr>
          <a:xfrm>
            <a:off x="594360" y="516636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38344"/>
            <a:ext cx="10698480" cy="640080"/>
          </a:xfrm>
          <a:prstGeom prst="rect">
            <a:avLst/>
          </a:prstGeom>
          <a:noFill/>
        </p:spPr>
        <p:txBody>
          <a:bodyPr wrap="square">
            <a:spAutoFit/>
          </a:bodyPr>
          <a:lstStyle/>
          <a:p>
            <a:pPr>
              <a:lnSpc>
                <a:spcPct val="115000"/>
              </a:lnSpc>
            </a:pPr>
            <a:r>
              <a:rPr sz="1450">
                <a:solidFill>
                  <a:srgbClr val="F5F3EC"/>
                </a:solidFill>
                <a:latin typeface="Arial"/>
              </a:rPr>
              <a:t>27. </a:t>
            </a:r>
            <a:r>
              <a:rPr sz="1450" b="1">
                <a:solidFill>
                  <a:srgbClr val="FFB454"/>
                </a:solidFill>
                <a:latin typeface="Arial"/>
              </a:rPr>
              <a:t>當貝Smart2智慧投影機評測：羽量級機身與便攜畫質表現</a:t>
            </a:r>
            <a:r>
              <a:rPr sz="1450">
                <a:solidFill>
                  <a:srgbClr val="F5F3EC"/>
                </a:solidFill>
                <a:latin typeface="Arial"/>
              </a:rPr>
              <a:t> — ZNDS投影頻道 [連結](https://news.znds.com/article/68911.html)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15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28. </a:t>
            </a:r>
            <a:r>
              <a:rPr sz="1450" b="1">
                <a:solidFill>
                  <a:srgbClr val="FFB454"/>
                </a:solidFill>
                <a:latin typeface="Arial"/>
              </a:rPr>
              <a:t>當貝X7 Ultra投影儀實測：家庭影院與遊戲發燒友的雙滿足旗艦</a:t>
            </a:r>
            <a:r>
              <a:rPr sz="1450">
                <a:solidFill>
                  <a:srgbClr val="F5F3EC"/>
                </a:solidFill>
                <a:latin typeface="Arial"/>
              </a:rPr>
              <a:t> — ZNDS投影頻道 [連結](https://news.znds.com/article/68923.html)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29. </a:t>
            </a:r>
            <a:r>
              <a:rPr sz="1450" b="1">
                <a:solidFill>
                  <a:srgbClr val="FFB454"/>
                </a:solidFill>
                <a:latin typeface="Arial"/>
              </a:rPr>
              <a:t>當貝X7 Max投影儀深度評測：純三色激光已普及，鏡頭移軸新賽道出現！</a:t>
            </a:r>
            <a:r>
              <a:rPr sz="1450">
                <a:solidFill>
                  <a:srgbClr val="F5F3EC"/>
                </a:solidFill>
                <a:latin typeface="Arial"/>
              </a:rPr>
              <a:t> — ZNDS投影頻道 [連結](https://news.znds.com/article/68941.html)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30. </a:t>
            </a:r>
            <a:r>
              <a:rPr sz="1450" b="1">
                <a:solidFill>
                  <a:srgbClr val="FFB454"/>
                </a:solidFill>
                <a:latin typeface="Arial"/>
              </a:rPr>
              <a:t>2026年十大大型場館投影機推薦</a:t>
            </a:r>
            <a:r>
              <a:rPr sz="1450">
                <a:solidFill>
                  <a:srgbClr val="F5F3EC"/>
                </a:solidFill>
                <a:latin typeface="Arial"/>
              </a:rPr>
              <a:t> — ProjectorCentral [連結](https://www.projectorcentral.com/best-bright-projectors.htm)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31. </a:t>
            </a:r>
            <a:r>
              <a:rPr sz="1450" b="1">
                <a:solidFill>
                  <a:srgbClr val="FFB454"/>
                </a:solidFill>
                <a:latin typeface="Arial"/>
              </a:rPr>
              <a:t>2026年八月十大宗教場所教堂投影機推薦</a:t>
            </a:r>
            <a:r>
              <a:rPr sz="1450">
                <a:solidFill>
                  <a:srgbClr val="F5F3EC"/>
                </a:solidFill>
                <a:latin typeface="Arial"/>
              </a:rPr>
              <a:t> — ProjectorCentral [連結](https://www.projectorcentral.com/best-church-projectors.htm)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32. </a:t>
            </a:r>
            <a:r>
              <a:rPr sz="1450" b="1">
                <a:solidFill>
                  <a:srgbClr val="FFB454"/>
                </a:solidFill>
                <a:latin typeface="Arial"/>
              </a:rPr>
              <a:t>2026年十大會議室投影機推薦</a:t>
            </a:r>
            <a:r>
              <a:rPr sz="1450">
                <a:solidFill>
                  <a:srgbClr val="F5F3EC"/>
                </a:solidFill>
                <a:latin typeface="Arial"/>
              </a:rPr>
              <a:t> — ProjectorCentral [連結](https://www.projectorcentral.com/best-conference-room-projectors.htm)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16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33. </a:t>
            </a:r>
            <a:r>
              <a:rPr sz="1450" b="1">
                <a:solidFill>
                  <a:srgbClr val="FFB454"/>
                </a:solidFill>
                <a:latin typeface="Arial"/>
              </a:rPr>
              <a:t>2026年最佳遊戲投影機推薦</a:t>
            </a:r>
            <a:r>
              <a:rPr sz="1450">
                <a:solidFill>
                  <a:srgbClr val="F5F3EC"/>
                </a:solidFill>
                <a:latin typeface="Arial"/>
              </a:rPr>
              <a:t> — ProjectorCentral [連結](https://www.projectorcentral.com/best-gaming-projectors.htm)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34. </a:t>
            </a:r>
            <a:r>
              <a:rPr sz="1450" b="1">
                <a:solidFill>
                  <a:srgbClr val="FFB454"/>
                </a:solidFill>
                <a:latin typeface="Arial"/>
              </a:rPr>
              <a:t>2026年最佳高爾夫模擬器投影機推薦</a:t>
            </a:r>
            <a:r>
              <a:rPr sz="1450">
                <a:solidFill>
                  <a:srgbClr val="F5F3EC"/>
                </a:solidFill>
                <a:latin typeface="Arial"/>
              </a:rPr>
              <a:t> — ProjectorCentral [連結](https://www.projectorcentral.com/best-golf-projectors.htm)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35. </a:t>
            </a:r>
            <a:r>
              <a:rPr sz="1450" b="1">
                <a:solidFill>
                  <a:srgbClr val="FFB454"/>
                </a:solidFill>
                <a:latin typeface="Arial"/>
              </a:rPr>
              <a:t>2026年八月最佳高階家庭劇院投影機推薦</a:t>
            </a:r>
            <a:r>
              <a:rPr sz="1450">
                <a:solidFill>
                  <a:srgbClr val="F5F3EC"/>
                </a:solidFill>
                <a:latin typeface="Arial"/>
              </a:rPr>
              <a:t> — ProjectorCentral [連結](https://www.projectorcentral.com/best-home-theater-projectors.htm)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36. </a:t>
            </a:r>
            <a:r>
              <a:rPr sz="1450" b="1">
                <a:solidFill>
                  <a:srgbClr val="FFB454"/>
                </a:solidFill>
                <a:latin typeface="Arial"/>
              </a:rPr>
              <a:t>2026年十大最佳便攜式家用投影機評選</a:t>
            </a:r>
            <a:r>
              <a:rPr sz="1450">
                <a:solidFill>
                  <a:srgbClr val="F5F3EC"/>
                </a:solidFill>
                <a:latin typeface="Arial"/>
              </a:rPr>
              <a:t> — ProjectorCentral [連結](https://www.projectorcentral.com/best-portable-projectors.htm)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37. </a:t>
            </a:r>
            <a:r>
              <a:rPr sz="1450" b="1">
                <a:solidFill>
                  <a:srgbClr val="FFB454"/>
                </a:solidFill>
                <a:latin typeface="Arial"/>
              </a:rPr>
              <a:t>2026年八月十大超短焦雷射投影機推薦</a:t>
            </a:r>
            <a:r>
              <a:rPr sz="1450">
                <a:solidFill>
                  <a:srgbClr val="F5F3EC"/>
                </a:solidFill>
                <a:latin typeface="Arial"/>
              </a:rPr>
              <a:t> — ProjectorCentral [連結](https://www.projectorcentral.com/best-ultra-short-throw-projectors.htm)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17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38. </a:t>
            </a:r>
            <a:r>
              <a:rPr sz="1450" b="1">
                <a:solidFill>
                  <a:srgbClr val="FFB454"/>
                </a:solidFill>
                <a:latin typeface="Arial"/>
              </a:rPr>
              <a:t>2026年十大互動式投影機推薦</a:t>
            </a:r>
            <a:r>
              <a:rPr sz="1450">
                <a:solidFill>
                  <a:srgbClr val="F5F3EC"/>
                </a:solidFill>
                <a:latin typeface="Arial"/>
              </a:rPr>
              <a:t> — ProjectorCentral [連結](https://www.projectorcentral.com/interactive-projectors.htm)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39. </a:t>
            </a:r>
            <a:r>
              <a:rPr sz="1450" b="1">
                <a:solidFill>
                  <a:srgbClr val="FFB454"/>
                </a:solidFill>
                <a:latin typeface="Arial"/>
              </a:rPr>
              <a:t>2026年全新投影機資料庫與搜尋工具</a:t>
            </a:r>
            <a:r>
              <a:rPr sz="1450">
                <a:solidFill>
                  <a:srgbClr val="F5F3EC"/>
                </a:solidFill>
                <a:latin typeface="Arial"/>
              </a:rPr>
              <a:t> — ProjectorCentral [連結](https://www.projectorcentral.com/new-projectors.htm)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40. </a:t>
            </a:r>
            <a:r>
              <a:rPr sz="1450" b="1">
                <a:solidFill>
                  <a:srgbClr val="FFB454"/>
                </a:solidFill>
                <a:latin typeface="Arial"/>
              </a:rPr>
              <a:t>2026年十大口袋投影機推薦</a:t>
            </a:r>
            <a:r>
              <a:rPr sz="1450">
                <a:solidFill>
                  <a:srgbClr val="F5F3EC"/>
                </a:solidFill>
                <a:latin typeface="Arial"/>
              </a:rPr>
              <a:t> — ProjectorCentral [連結](https://www.projectorcentral.com/popular-pocket-projectors.htm)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41. </a:t>
            </a:r>
            <a:r>
              <a:rPr sz="1450" b="1">
                <a:solidFill>
                  <a:srgbClr val="FFB454"/>
                </a:solidFill>
                <a:latin typeface="Arial"/>
              </a:rPr>
              <a:t>投影機吊架購買指南與推薦通路</a:t>
            </a:r>
            <a:r>
              <a:rPr sz="1450">
                <a:solidFill>
                  <a:srgbClr val="F5F3EC"/>
                </a:solidFill>
                <a:latin typeface="Arial"/>
              </a:rPr>
              <a:t> — ProjectorCentral [連結](https://www.projectorcentral.com/projector-ceiling-mounts.htm)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42. </a:t>
            </a:r>
            <a:r>
              <a:rPr sz="1450" b="1">
                <a:solidFill>
                  <a:srgbClr val="FFB454"/>
                </a:solidFill>
                <a:latin typeface="Arial"/>
              </a:rPr>
              <a:t>中小學與高等教育教室投影機資料庫與選購指南</a:t>
            </a:r>
            <a:r>
              <a:rPr sz="1450">
                <a:solidFill>
                  <a:srgbClr val="F5F3EC"/>
                </a:solidFill>
                <a:latin typeface="Arial"/>
              </a:rPr>
              <a:t> — ProjectorCentral [連結](https://www.projectorcentral.com/projectors-classroom.htm)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18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43. </a:t>
            </a:r>
            <a:r>
              <a:rPr sz="1450" b="1">
                <a:solidFill>
                  <a:srgbClr val="FFB454"/>
                </a:solidFill>
                <a:latin typeface="Arial"/>
              </a:rPr>
              <a:t>會議室投影機資料庫與選購指南</a:t>
            </a:r>
            <a:r>
              <a:rPr sz="1450">
                <a:solidFill>
                  <a:srgbClr val="F5F3EC"/>
                </a:solidFill>
                <a:latin typeface="Arial"/>
              </a:rPr>
              <a:t> — ProjectorCentral [連結](https://www.projectorcentral.com/projectors-conference.htm)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44. </a:t>
            </a:r>
            <a:r>
              <a:rPr sz="1450" b="1">
                <a:solidFill>
                  <a:srgbClr val="FFB454"/>
                </a:solidFill>
                <a:latin typeface="Arial"/>
              </a:rPr>
              <a:t>家庭劇院投影機資料庫與搜尋工具</a:t>
            </a:r>
            <a:r>
              <a:rPr sz="1450">
                <a:solidFill>
                  <a:srgbClr val="F5F3EC"/>
                </a:solidFill>
                <a:latin typeface="Arial"/>
              </a:rPr>
              <a:t> — ProjectorCentral [連結](https://www.projectorcentral.com/projectors-home-theater.htm)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45. </a:t>
            </a:r>
            <a:r>
              <a:rPr sz="1450" b="1">
                <a:solidFill>
                  <a:srgbClr val="FFB454"/>
                </a:solidFill>
                <a:latin typeface="Arial"/>
              </a:rPr>
              <a:t>互動式投影機資料庫與搜尋工具</a:t>
            </a:r>
            <a:r>
              <a:rPr sz="1450">
                <a:solidFill>
                  <a:srgbClr val="F5F3EC"/>
                </a:solidFill>
                <a:latin typeface="Arial"/>
              </a:rPr>
              <a:t> — ProjectorCentral [連結](https://www.projectorcentral.com/projectors-interactive.htm)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46. </a:t>
            </a:r>
            <a:r>
              <a:rPr sz="1450" b="1">
                <a:solidFill>
                  <a:srgbClr val="FFB454"/>
                </a:solidFill>
                <a:latin typeface="Arial"/>
              </a:rPr>
              <a:t>大型場地投影機資料庫搜尋與篩選</a:t>
            </a:r>
            <a:r>
              <a:rPr sz="1450">
                <a:solidFill>
                  <a:srgbClr val="F5F3EC"/>
                </a:solidFill>
                <a:latin typeface="Arial"/>
              </a:rPr>
              <a:t> — ProjectorCentral [連結](https://www.projectorcentral.com/projectors-large-venue.htm)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47. </a:t>
            </a:r>
            <a:r>
              <a:rPr sz="1450" b="1">
                <a:solidFill>
                  <a:srgbClr val="FFB454"/>
                </a:solidFill>
                <a:latin typeface="Arial"/>
              </a:rPr>
              <a:t>口袋型投影機資料庫搜尋</a:t>
            </a:r>
            <a:r>
              <a:rPr sz="1450">
                <a:solidFill>
                  <a:srgbClr val="F5F3EC"/>
                </a:solidFill>
                <a:latin typeface="Arial"/>
              </a:rPr>
              <a:t> — ProjectorCentral [連結](https://www.projectorcentral.com/projectors-pocket.htm)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19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48. </a:t>
            </a:r>
            <a:r>
              <a:rPr sz="1450" b="1">
                <a:solidFill>
                  <a:srgbClr val="FFB454"/>
                </a:solidFill>
                <a:latin typeface="Arial"/>
              </a:rPr>
              <a:t>可攜式投影機資料庫與搜尋工具</a:t>
            </a:r>
            <a:r>
              <a:rPr sz="1450">
                <a:solidFill>
                  <a:srgbClr val="F5F3EC"/>
                </a:solidFill>
                <a:latin typeface="Arial"/>
              </a:rPr>
              <a:t> — ProjectorCentral [連結](https://www.projectorcentral.com/projectors-portable.htm)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49. </a:t>
            </a:r>
            <a:r>
              <a:rPr sz="1450" b="1">
                <a:solidFill>
                  <a:srgbClr val="FFB454"/>
                </a:solidFill>
                <a:latin typeface="Arial"/>
              </a:rPr>
              <a:t>超短焦投影機資料庫與篩選工具</a:t>
            </a:r>
            <a:r>
              <a:rPr sz="1450">
                <a:solidFill>
                  <a:srgbClr val="F5F3EC"/>
                </a:solidFill>
                <a:latin typeface="Arial"/>
              </a:rPr>
              <a:t> — ProjectorCentral [連結](https://www.projectorcentral.com/projectors-ultra-short-throw.htm)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50. </a:t>
            </a:r>
            <a:r>
              <a:rPr sz="1450" b="1">
                <a:solidFill>
                  <a:srgbClr val="FFB454"/>
                </a:solidFill>
                <a:latin typeface="Arial"/>
              </a:rPr>
              <a:t>Screen Innovations 推出 KAOS 360 戶外雙面投影幕</a:t>
            </a:r>
            <a:r>
              <a:rPr sz="1450">
                <a:solidFill>
                  <a:srgbClr val="F5F3EC"/>
                </a:solidFill>
                <a:latin typeface="Arial"/>
              </a:rPr>
              <a:t> — ProjectorCentral [連結](https://www.projectorcentral.com/screen-innovations-kaos-360.htm)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51. </a:t>
            </a:r>
            <a:r>
              <a:rPr sz="1450" b="1">
                <a:solidFill>
                  <a:srgbClr val="FFB454"/>
                </a:solidFill>
                <a:latin typeface="Arial"/>
              </a:rPr>
              <a:t>2026年十大最佳3D投影機推薦</a:t>
            </a:r>
            <a:r>
              <a:rPr sz="1450">
                <a:solidFill>
                  <a:srgbClr val="F5F3EC"/>
                </a:solidFill>
                <a:latin typeface="Arial"/>
              </a:rPr>
              <a:t> — ProjectorCentral [連結](https://www.projectorcentral.com/top-3d-projectors.htm)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52. </a:t>
            </a:r>
            <a:r>
              <a:rPr sz="1450" b="1">
                <a:solidFill>
                  <a:srgbClr val="FFB454"/>
                </a:solidFill>
                <a:latin typeface="Arial"/>
              </a:rPr>
              <a:t>2026年十大大型場地投影機推薦</a:t>
            </a:r>
            <a:r>
              <a:rPr sz="1450">
                <a:solidFill>
                  <a:srgbClr val="F5F3EC"/>
                </a:solidFill>
                <a:latin typeface="Arial"/>
              </a:rPr>
              <a:t> — ProjectorCentral [連結](https://www.projectorcentral.com/top-bright-projectors.htm)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20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a:solidFill>
                  <a:srgbClr val="F5F3EC"/>
                </a:solidFill>
                <a:latin typeface="Arial"/>
              </a:rPr>
              <a:t>53. </a:t>
            </a:r>
            <a:r>
              <a:rPr sz="1450" b="1">
                <a:solidFill>
                  <a:srgbClr val="FFB454"/>
                </a:solidFill>
                <a:latin typeface="Arial"/>
              </a:rPr>
              <a:t>堅果投影儀X型雲台支架促銷，特價254元起</a:t>
            </a:r>
            <a:r>
              <a:rPr sz="1450">
                <a:solidFill>
                  <a:srgbClr val="F5F3EC"/>
                </a:solidFill>
                <a:latin typeface="Arial"/>
              </a:rPr>
              <a:t> — ZOL投影機頻道 [連結](https://projector.zol.com.cn/1228/12286359.html)</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877824"/>
          </a:xfrm>
          <a:prstGeom prst="rect">
            <a:avLst/>
          </a:prstGeom>
          <a:noFill/>
        </p:spPr>
        <p:txBody>
          <a:bodyPr wrap="square">
            <a:spAutoFit/>
          </a:bodyPr>
          <a:lstStyle/>
          <a:p>
            <a:pPr>
              <a:lnSpc>
                <a:spcPct val="115000"/>
              </a:lnSpc>
            </a:pPr>
            <a:r>
              <a:rPr sz="1450">
                <a:solidFill>
                  <a:srgbClr val="F5F3EC"/>
                </a:solidFill>
                <a:latin typeface="Arial"/>
              </a:rPr>
              <a:t>54. </a:t>
            </a:r>
            <a:r>
              <a:rPr sz="1450" b="1">
                <a:solidFill>
                  <a:srgbClr val="FFB454"/>
                </a:solidFill>
                <a:latin typeface="Arial"/>
              </a:rPr>
              <a:t>思影 Z06 投影機支架限時優惠，活動價低至 424 元</a:t>
            </a:r>
            <a:r>
              <a:rPr sz="1450">
                <a:solidFill>
                  <a:srgbClr val="F5F3EC"/>
                </a:solidFill>
                <a:latin typeface="Arial"/>
              </a:rPr>
              <a:t> — ZOL投影機頻道 [連結](https://projector.zol.com.cn/1228/12287685.html)</a:t>
            </a:r>
          </a:p>
        </p:txBody>
      </p:sp>
      <p:sp>
        <p:nvSpPr>
          <p:cNvPr id="8" name="Oval 7"/>
          <p:cNvSpPr/>
          <p:nvPr/>
        </p:nvSpPr>
        <p:spPr>
          <a:xfrm>
            <a:off x="594360" y="324612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18104"/>
            <a:ext cx="10698480" cy="640080"/>
          </a:xfrm>
          <a:prstGeom prst="rect">
            <a:avLst/>
          </a:prstGeom>
          <a:noFill/>
        </p:spPr>
        <p:txBody>
          <a:bodyPr wrap="square">
            <a:spAutoFit/>
          </a:bodyPr>
          <a:lstStyle/>
          <a:p>
            <a:pPr>
              <a:lnSpc>
                <a:spcPct val="115000"/>
              </a:lnSpc>
            </a:pPr>
            <a:r>
              <a:rPr sz="1450">
                <a:solidFill>
                  <a:srgbClr val="F5F3EC"/>
                </a:solidFill>
                <a:latin typeface="Arial"/>
              </a:rPr>
              <a:t>55. </a:t>
            </a:r>
            <a:r>
              <a:rPr sz="1450" b="1">
                <a:solidFill>
                  <a:srgbClr val="FFB454"/>
                </a:solidFill>
                <a:latin typeface="Arial"/>
              </a:rPr>
              <a:t>思影PH投影機吊架售價119元</a:t>
            </a:r>
            <a:r>
              <a:rPr sz="1450">
                <a:solidFill>
                  <a:srgbClr val="F5F3EC"/>
                </a:solidFill>
                <a:latin typeface="Arial"/>
              </a:rPr>
              <a:t> — ZOL投影機頻道 [連結](https://projector.zol.com.cn/1228/12287758.html)</a:t>
            </a:r>
          </a:p>
        </p:txBody>
      </p:sp>
      <p:sp>
        <p:nvSpPr>
          <p:cNvPr id="10" name="Oval 9"/>
          <p:cNvSpPr/>
          <p:nvPr/>
        </p:nvSpPr>
        <p:spPr>
          <a:xfrm>
            <a:off x="594360" y="388620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58184"/>
            <a:ext cx="10698480" cy="877824"/>
          </a:xfrm>
          <a:prstGeom prst="rect">
            <a:avLst/>
          </a:prstGeom>
          <a:noFill/>
        </p:spPr>
        <p:txBody>
          <a:bodyPr wrap="square">
            <a:spAutoFit/>
          </a:bodyPr>
          <a:lstStyle/>
          <a:p>
            <a:pPr>
              <a:lnSpc>
                <a:spcPct val="115000"/>
              </a:lnSpc>
            </a:pPr>
            <a:r>
              <a:rPr sz="1450">
                <a:solidFill>
                  <a:srgbClr val="F5F3EC"/>
                </a:solidFill>
                <a:latin typeface="Arial"/>
              </a:rPr>
              <a:t>56. </a:t>
            </a:r>
            <a:r>
              <a:rPr sz="1450" b="1">
                <a:solidFill>
                  <a:srgbClr val="FFB454"/>
                </a:solidFill>
                <a:latin typeface="Arial"/>
              </a:rPr>
              <a:t>最佳電池供電戶外投影機推薦</a:t>
            </a:r>
            <a:r>
              <a:rPr sz="1450">
                <a:solidFill>
                  <a:srgbClr val="F5F3EC"/>
                </a:solidFill>
                <a:latin typeface="Arial"/>
              </a:rPr>
              <a:t> — ProjectorReviews [連結](https://www.projectorreviews.com/best-battery-powered-outdoor-projectors/)</a:t>
            </a:r>
          </a:p>
        </p:txBody>
      </p:sp>
      <p:sp>
        <p:nvSpPr>
          <p:cNvPr id="12" name="Oval 11"/>
          <p:cNvSpPr/>
          <p:nvPr/>
        </p:nvSpPr>
        <p:spPr>
          <a:xfrm>
            <a:off x="594360" y="476402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636008"/>
            <a:ext cx="10698480" cy="877824"/>
          </a:xfrm>
          <a:prstGeom prst="rect">
            <a:avLst/>
          </a:prstGeom>
          <a:noFill/>
        </p:spPr>
        <p:txBody>
          <a:bodyPr wrap="square">
            <a:spAutoFit/>
          </a:bodyPr>
          <a:lstStyle/>
          <a:p>
            <a:pPr>
              <a:lnSpc>
                <a:spcPct val="115000"/>
              </a:lnSpc>
            </a:pPr>
            <a:r>
              <a:rPr sz="1450">
                <a:solidFill>
                  <a:srgbClr val="F5F3EC"/>
                </a:solidFill>
                <a:latin typeface="Arial"/>
              </a:rPr>
              <a:t>57. </a:t>
            </a:r>
            <a:r>
              <a:rPr sz="1450" b="1">
                <a:solidFill>
                  <a:srgbClr val="FFB454"/>
                </a:solidFill>
                <a:latin typeface="Arial"/>
              </a:rPr>
              <a:t>2026年最佳家庭劇院投影機推薦與評選</a:t>
            </a:r>
            <a:r>
              <a:rPr sz="1450">
                <a:solidFill>
                  <a:srgbClr val="F5F3EC"/>
                </a:solidFill>
                <a:latin typeface="Arial"/>
              </a:rPr>
              <a:t> — ProjectorReviews [連結](https://www.projectorreviews.com/best-home-theater-projectors/)</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21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58. </a:t>
            </a:r>
            <a:r>
              <a:rPr sz="1450" b="1">
                <a:solidFill>
                  <a:srgbClr val="FFB454"/>
                </a:solidFill>
                <a:latin typeface="Arial"/>
              </a:rPr>
              <a:t>2026年千元美金以下最佳投影機推薦指南</a:t>
            </a:r>
            <a:r>
              <a:rPr sz="1450">
                <a:solidFill>
                  <a:srgbClr val="F5F3EC"/>
                </a:solidFill>
                <a:latin typeface="Arial"/>
              </a:rPr>
              <a:t> — ProjectorReviews [連結](https://www.projectorreviews.com/best-projectors-under-1000/)</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59. </a:t>
            </a:r>
            <a:r>
              <a:rPr sz="1450" b="1">
                <a:solidFill>
                  <a:srgbClr val="FFB454"/>
                </a:solidFill>
                <a:latin typeface="Arial"/>
              </a:rPr>
              <a:t>2026年五百美元以下最佳投影機推薦指南</a:t>
            </a:r>
            <a:r>
              <a:rPr sz="1450">
                <a:solidFill>
                  <a:srgbClr val="F5F3EC"/>
                </a:solidFill>
                <a:latin typeface="Arial"/>
              </a:rPr>
              <a:t> — ProjectorReviews [連結](https://www.projectorreviews.com/best-projectors-under-500/)</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60. </a:t>
            </a:r>
            <a:r>
              <a:rPr sz="1450" b="1">
                <a:solidFill>
                  <a:srgbClr val="FFB454"/>
                </a:solidFill>
                <a:latin typeface="Arial"/>
              </a:rPr>
              <a:t>2026年最佳超短焦投影機推薦與評選</a:t>
            </a:r>
            <a:r>
              <a:rPr sz="1450">
                <a:solidFill>
                  <a:srgbClr val="F5F3EC"/>
                </a:solidFill>
                <a:latin typeface="Arial"/>
              </a:rPr>
              <a:t> — ProjectorReviews [連結](https://www.projectorreviews.com/best-ultra-short-throw-projectors/)</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640080"/>
          </a:xfrm>
          <a:prstGeom prst="rect">
            <a:avLst/>
          </a:prstGeom>
          <a:noFill/>
        </p:spPr>
        <p:txBody>
          <a:bodyPr wrap="square">
            <a:spAutoFit/>
          </a:bodyPr>
          <a:lstStyle/>
          <a:p>
            <a:pPr>
              <a:lnSpc>
                <a:spcPct val="115000"/>
              </a:lnSpc>
            </a:pPr>
            <a:r>
              <a:rPr sz="1450">
                <a:solidFill>
                  <a:srgbClr val="F5F3EC"/>
                </a:solidFill>
                <a:latin typeface="Arial"/>
              </a:rPr>
              <a:t>61. </a:t>
            </a:r>
            <a:r>
              <a:rPr sz="1450" b="1">
                <a:solidFill>
                  <a:srgbClr val="FFB454"/>
                </a:solidFill>
                <a:latin typeface="Arial"/>
              </a:rPr>
              <a:t>愛克創LS022投影機支架限時特惠</a:t>
            </a:r>
            <a:r>
              <a:rPr sz="1450">
                <a:solidFill>
                  <a:srgbClr val="F5F3EC"/>
                </a:solidFill>
                <a:latin typeface="Arial"/>
              </a:rPr>
              <a:t> — ZOL投影機頻道 [連結](https://projector.zol.com.cn/1230/12303153.html)</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877824"/>
          </a:xfrm>
          <a:prstGeom prst="rect">
            <a:avLst/>
          </a:prstGeom>
          <a:noFill/>
        </p:spPr>
        <p:txBody>
          <a:bodyPr wrap="square">
            <a:spAutoFit/>
          </a:bodyPr>
          <a:lstStyle/>
          <a:p>
            <a:pPr>
              <a:lnSpc>
                <a:spcPct val="115000"/>
              </a:lnSpc>
            </a:pPr>
            <a:r>
              <a:rPr sz="1450">
                <a:solidFill>
                  <a:srgbClr val="F5F3EC"/>
                </a:solidFill>
                <a:latin typeface="Arial"/>
              </a:rPr>
              <a:t>62. </a:t>
            </a:r>
            <a:r>
              <a:rPr sz="1450" b="1">
                <a:solidFill>
                  <a:srgbClr val="FFB454"/>
                </a:solidFill>
                <a:latin typeface="Arial"/>
              </a:rPr>
              <a:t>REDMI投影機5正式發布：售價1299元起，搭載一體雲台與自動校正</a:t>
            </a:r>
            <a:r>
              <a:rPr sz="1450">
                <a:solidFill>
                  <a:srgbClr val="F5F3EC"/>
                </a:solidFill>
                <a:latin typeface="Arial"/>
              </a:rPr>
              <a:t> — ZOL投影機頻道 [連結](https://projector.zol.com.cn/1230/12306080.html)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22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63. </a:t>
            </a:r>
            <a:r>
              <a:rPr sz="1450" b="1">
                <a:solidFill>
                  <a:srgbClr val="FFB454"/>
                </a:solidFill>
                <a:latin typeface="Arial"/>
              </a:rPr>
              <a:t>學生宿舍投影機推薦：2026秋季九款五百美元以下高性價比機種選購指南</a:t>
            </a:r>
            <a:r>
              <a:rPr sz="1450">
                <a:solidFill>
                  <a:srgbClr val="F5F3EC"/>
                </a:solidFill>
                <a:latin typeface="Arial"/>
              </a:rPr>
              <a:t> — ProjectorCentral [連結](https://www.projectorcentral.com/dorm-room-projectors-2026.htm)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64. </a:t>
            </a:r>
            <a:r>
              <a:rPr sz="1450" b="1">
                <a:solidFill>
                  <a:srgbClr val="FFB454"/>
                </a:solidFill>
                <a:latin typeface="Arial"/>
              </a:rPr>
              <a:t>松下BMZ62C 6500流明雷射全高清工程機促銷資訊</a:t>
            </a:r>
            <a:r>
              <a:rPr sz="1450">
                <a:solidFill>
                  <a:srgbClr val="F5F3EC"/>
                </a:solidFill>
                <a:latin typeface="Arial"/>
              </a:rPr>
              <a:t> — ZOL投影機頻道 [連結](https://projector.zol.com.cn/1231/12316504.html)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640080"/>
          </a:xfrm>
          <a:prstGeom prst="rect">
            <a:avLst/>
          </a:prstGeom>
          <a:noFill/>
        </p:spPr>
        <p:txBody>
          <a:bodyPr wrap="square">
            <a:spAutoFit/>
          </a:bodyPr>
          <a:lstStyle/>
          <a:p>
            <a:pPr>
              <a:lnSpc>
                <a:spcPct val="115000"/>
              </a:lnSpc>
            </a:pPr>
            <a:r>
              <a:rPr sz="1450">
                <a:solidFill>
                  <a:srgbClr val="F5F3EC"/>
                </a:solidFill>
                <a:latin typeface="Arial"/>
              </a:rPr>
              <a:t>65. </a:t>
            </a:r>
            <a:r>
              <a:rPr sz="1450" b="1">
                <a:solidFill>
                  <a:srgbClr val="FFB454"/>
                </a:solidFill>
                <a:latin typeface="Arial"/>
              </a:rPr>
              <a:t>愛克創LS022投影儀支架促銷降價72.98元</a:t>
            </a:r>
            <a:r>
              <a:rPr sz="1450">
                <a:solidFill>
                  <a:srgbClr val="F5F3EC"/>
                </a:solidFill>
                <a:latin typeface="Arial"/>
              </a:rPr>
              <a:t> — ZOL投影機頻道 [連結](https://projector.zol.com.cn/1231/12316751.html)</a:t>
            </a:r>
          </a:p>
        </p:txBody>
      </p:sp>
      <p:sp>
        <p:nvSpPr>
          <p:cNvPr id="10" name="Oval 9"/>
          <p:cNvSpPr/>
          <p:nvPr/>
        </p:nvSpPr>
        <p:spPr>
          <a:xfrm>
            <a:off x="594360" y="412394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95928"/>
            <a:ext cx="10698480" cy="877824"/>
          </a:xfrm>
          <a:prstGeom prst="rect">
            <a:avLst/>
          </a:prstGeom>
          <a:noFill/>
        </p:spPr>
        <p:txBody>
          <a:bodyPr wrap="square">
            <a:spAutoFit/>
          </a:bodyPr>
          <a:lstStyle/>
          <a:p>
            <a:pPr>
              <a:lnSpc>
                <a:spcPct val="115000"/>
              </a:lnSpc>
            </a:pPr>
            <a:r>
              <a:rPr sz="1450">
                <a:solidFill>
                  <a:srgbClr val="F5F3EC"/>
                </a:solidFill>
                <a:latin typeface="Arial"/>
              </a:rPr>
              <a:t>66. </a:t>
            </a:r>
            <a:r>
              <a:rPr sz="1450" b="1">
                <a:solidFill>
                  <a:srgbClr val="FFB454"/>
                </a:solidFill>
                <a:latin typeface="Arial"/>
              </a:rPr>
              <a:t>不只是亮，更是「真」！巴可QDX RGB純激光發布，重新定義沉浸式體驗天花板</a:t>
            </a:r>
            <a:r>
              <a:rPr sz="1450">
                <a:solidFill>
                  <a:srgbClr val="F5F3EC"/>
                </a:solidFill>
                <a:latin typeface="Arial"/>
              </a:rPr>
              <a:t> — 投影時代 [連結](http://www.pjtime.com/2026/8/241945617442.shtml)</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640080"/>
          </a:xfrm>
          <a:prstGeom prst="rect">
            <a:avLst/>
          </a:prstGeom>
          <a:noFill/>
        </p:spPr>
        <p:txBody>
          <a:bodyPr wrap="square">
            <a:spAutoFit/>
          </a:bodyPr>
          <a:lstStyle/>
          <a:p>
            <a:pPr>
              <a:lnSpc>
                <a:spcPct val="115000"/>
              </a:lnSpc>
            </a:pPr>
            <a:r>
              <a:rPr sz="1450">
                <a:solidFill>
                  <a:srgbClr val="F5F3EC"/>
                </a:solidFill>
                <a:latin typeface="Arial"/>
              </a:rPr>
              <a:t>67. </a:t>
            </a:r>
            <a:r>
              <a:rPr sz="1450" b="1">
                <a:solidFill>
                  <a:srgbClr val="FFB454"/>
                </a:solidFill>
                <a:latin typeface="Arial"/>
              </a:rPr>
              <a:t>索諾克（Sonnoc）光影賦能沉浸式航天科普新標杆</a:t>
            </a:r>
            <a:r>
              <a:rPr sz="1450">
                <a:solidFill>
                  <a:srgbClr val="F5F3EC"/>
                </a:solidFill>
                <a:latin typeface="Arial"/>
              </a:rPr>
              <a:t> — 投影時代 [連結](http://www.pjtime.com/2026/8/242049388135.shtml)</a:t>
            </a:r>
          </a:p>
        </p:txBody>
      </p:sp>
      <p:sp>
        <p:nvSpPr>
          <p:cNvPr id="14" name="Oval 13"/>
          <p:cNvSpPr/>
          <p:nvPr/>
        </p:nvSpPr>
        <p:spPr>
          <a:xfrm>
            <a:off x="594360" y="564184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513832"/>
            <a:ext cx="10698480" cy="640080"/>
          </a:xfrm>
          <a:prstGeom prst="rect">
            <a:avLst/>
          </a:prstGeom>
          <a:noFill/>
        </p:spPr>
        <p:txBody>
          <a:bodyPr wrap="square">
            <a:spAutoFit/>
          </a:bodyPr>
          <a:lstStyle/>
          <a:p>
            <a:pPr>
              <a:lnSpc>
                <a:spcPct val="115000"/>
              </a:lnSpc>
            </a:pPr>
            <a:r>
              <a:rPr sz="1450">
                <a:solidFill>
                  <a:srgbClr val="F5F3EC"/>
                </a:solidFill>
                <a:latin typeface="Arial"/>
              </a:rPr>
              <a:t>68. </a:t>
            </a:r>
            <a:r>
              <a:rPr sz="1450" b="1">
                <a:solidFill>
                  <a:srgbClr val="FFB454"/>
                </a:solidFill>
                <a:latin typeface="Arial"/>
              </a:rPr>
              <a:t>奧圖碼 UHZ616 投影機家庭影院特價促銷</a:t>
            </a:r>
            <a:r>
              <a:rPr sz="1450">
                <a:solidFill>
                  <a:srgbClr val="F5F3EC"/>
                </a:solidFill>
                <a:latin typeface="Arial"/>
              </a:rPr>
              <a:t> — ZOL投影機頻道 [連結](https://projector.zol.com.cn/1234/12342046.html)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23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69. </a:t>
            </a:r>
            <a:r>
              <a:rPr sz="1450" b="1">
                <a:solidFill>
                  <a:srgbClr val="FFB454"/>
                </a:solidFill>
                <a:latin typeface="Arial"/>
              </a:rPr>
              <a:t>愛普生CH-TW7400投影機北京促銷價15,000元</a:t>
            </a:r>
            <a:r>
              <a:rPr sz="1450">
                <a:solidFill>
                  <a:srgbClr val="F5F3EC"/>
                </a:solidFill>
                <a:latin typeface="Arial"/>
              </a:rPr>
              <a:t> — ZOL投影機頻道 [連結](https://projector.zol.com.cn/1234/12344095.html)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70. </a:t>
            </a:r>
            <a:r>
              <a:rPr sz="1450" b="1">
                <a:solidFill>
                  <a:srgbClr val="FFB454"/>
                </a:solidFill>
                <a:latin typeface="Arial"/>
              </a:rPr>
              <a:t>宏碁 Acer AX620 投影機北京特價促銷 3000 元</a:t>
            </a:r>
            <a:r>
              <a:rPr sz="1450">
                <a:solidFill>
                  <a:srgbClr val="F5F3EC"/>
                </a:solidFill>
                <a:latin typeface="Arial"/>
              </a:rPr>
              <a:t> — ZOL投影機頻道 [連結](https://projector.zol.com.cn/1234/12344097.html)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71. </a:t>
            </a:r>
            <a:r>
              <a:rPr sz="1450" b="1">
                <a:solidFill>
                  <a:srgbClr val="FFB454"/>
                </a:solidFill>
                <a:latin typeface="Arial"/>
              </a:rPr>
              <a:t>松下 PT-X3282STC 短焦投影機特惠促銷，助力商務與教育高效演示</a:t>
            </a:r>
            <a:r>
              <a:rPr sz="1450">
                <a:solidFill>
                  <a:srgbClr val="F5F3EC"/>
                </a:solidFill>
                <a:latin typeface="Arial"/>
              </a:rPr>
              <a:t> — ZOL投影機頻道 [連結](https://projector.zol.com.cn/1234/12349753.html)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72. </a:t>
            </a:r>
            <a:r>
              <a:rPr sz="1450" b="1">
                <a:solidFill>
                  <a:srgbClr val="FFB454"/>
                </a:solidFill>
                <a:latin typeface="Arial"/>
              </a:rPr>
              <a:t>奧圖碼UHZ616雷射4K投影機 大變焦+高對比打造客廳私人影院</a:t>
            </a:r>
            <a:r>
              <a:rPr sz="1450">
                <a:solidFill>
                  <a:srgbClr val="F5F3EC"/>
                </a:solidFill>
                <a:latin typeface="Arial"/>
              </a:rPr>
              <a:t> — ZOL投影機頻道 [連結](https://projector.zol.com.cn/1234/12349765.html)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73. </a:t>
            </a:r>
            <a:r>
              <a:rPr sz="1450" b="1">
                <a:solidFill>
                  <a:srgbClr val="FFB454"/>
                </a:solidFill>
                <a:latin typeface="Arial"/>
              </a:rPr>
              <a:t>光峰 AL-DK750S 4K 雷射工程投影機特惠促銷，助力七夕光影活動</a:t>
            </a:r>
            <a:r>
              <a:rPr sz="1450">
                <a:solidFill>
                  <a:srgbClr val="F5F3EC"/>
                </a:solidFill>
                <a:latin typeface="Arial"/>
              </a:rPr>
              <a:t> — ZOL投影機頻道 [連結](https://projector.zol.com.cn/1234/12349774.html)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24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74. </a:t>
            </a:r>
            <a:r>
              <a:rPr sz="1450" b="1">
                <a:solidFill>
                  <a:srgbClr val="FFB454"/>
                </a:solidFill>
                <a:latin typeface="Arial"/>
              </a:rPr>
              <a:t>易仁科技 YR-PPV60AW 暑期特惠：4K 雷射超短焦投影機打造巨幕家庭劇院</a:t>
            </a:r>
            <a:r>
              <a:rPr sz="1450">
                <a:solidFill>
                  <a:srgbClr val="F5F3EC"/>
                </a:solidFill>
                <a:latin typeface="Arial"/>
              </a:rPr>
              <a:t> — ZOL投影機頻道 [連結](https://projector.zol.com.cn/1234/12349785.html)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75. </a:t>
            </a:r>
            <a:r>
              <a:rPr sz="1450" b="1">
                <a:solidFill>
                  <a:srgbClr val="FFB454"/>
                </a:solidFill>
                <a:latin typeface="Arial"/>
              </a:rPr>
              <a:t>易仁科技 YR-CL7816 廠家直銷特惠 3LCD 雷射高亮賦能大型場館</a:t>
            </a:r>
            <a:r>
              <a:rPr sz="1450">
                <a:solidFill>
                  <a:srgbClr val="F5F3EC"/>
                </a:solidFill>
                <a:latin typeface="Arial"/>
              </a:rPr>
              <a:t> — ZOL投影機頻道 [連結](https://projector.zol.com.cn/1234/12349792.html)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76. </a:t>
            </a:r>
            <a:r>
              <a:rPr sz="1450" b="1">
                <a:solidFill>
                  <a:srgbClr val="FFB454"/>
                </a:solidFill>
                <a:latin typeface="Arial"/>
              </a:rPr>
              <a:t>日立 TCP-D1070U 工程投影機特價清庫存 雙燈熱切換高亮工程利器</a:t>
            </a:r>
            <a:r>
              <a:rPr sz="1450">
                <a:solidFill>
                  <a:srgbClr val="F5F3EC"/>
                </a:solidFill>
                <a:latin typeface="Arial"/>
              </a:rPr>
              <a:t> — ZOL投影機頻道 [連結](https://projector.zol.com.cn/1234/12349812.html)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77. </a:t>
            </a:r>
            <a:r>
              <a:rPr sz="1450" b="1">
                <a:solidFill>
                  <a:srgbClr val="FFB454"/>
                </a:solidFill>
                <a:latin typeface="Arial"/>
              </a:rPr>
              <a:t>當貝推出 RX10 投影儀：採用 0.33 吋 DMD 晶片與 1200 CVIA 流明，售價 5499 元</a:t>
            </a:r>
            <a:r>
              <a:rPr sz="1450">
                <a:solidFill>
                  <a:srgbClr val="F5F3EC"/>
                </a:solidFill>
                <a:latin typeface="Arial"/>
              </a:rPr>
              <a:t> — IT之家 [連結](https://www.ithome.com/0/993/101.htm)</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78. </a:t>
            </a:r>
            <a:r>
              <a:rPr sz="1450" b="1">
                <a:solidFill>
                  <a:srgbClr val="FFB454"/>
                </a:solidFill>
                <a:latin typeface="Arial"/>
              </a:rPr>
              <a:t>明基推出 LH660 雷射商用投影機：4600 流明 1080P，首發價 9499 元</a:t>
            </a:r>
            <a:r>
              <a:rPr sz="1450">
                <a:solidFill>
                  <a:srgbClr val="F5F3EC"/>
                </a:solidFill>
                <a:latin typeface="Arial"/>
              </a:rPr>
              <a:t> — IT之家 [連結](https://www.ithome.com/0/993/050.htm)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25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79. </a:t>
            </a:r>
            <a:r>
              <a:rPr sz="1450" b="1">
                <a:solidFill>
                  <a:srgbClr val="FFB454"/>
                </a:solidFill>
                <a:latin typeface="Arial"/>
              </a:rPr>
              <a:t>2026山東省教育博覽會開幕，羿飛教育文科數位化系列產品亮相</a:t>
            </a:r>
            <a:r>
              <a:rPr sz="1450">
                <a:solidFill>
                  <a:srgbClr val="F5F3EC"/>
                </a:solidFill>
                <a:latin typeface="Arial"/>
              </a:rPr>
              <a:t> — 投影時代 [連結](http://www.pjtime.com/2026/8/342046546851.shtml)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80. </a:t>
            </a:r>
            <a:r>
              <a:rPr sz="1450" b="1">
                <a:solidFill>
                  <a:srgbClr val="FFB454"/>
                </a:solidFill>
                <a:latin typeface="Arial"/>
              </a:rPr>
              <a:t>松下 PT-BMZ41C 雷射商教投影機 高清商用與教育投影 批量採購優惠</a:t>
            </a:r>
            <a:r>
              <a:rPr sz="1450">
                <a:solidFill>
                  <a:srgbClr val="F5F3EC"/>
                </a:solidFill>
                <a:latin typeface="Arial"/>
              </a:rPr>
              <a:t> — ZOL投影機頻道 [連結](https://projector.zol.com.cn/1237/12376215.html)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81. </a:t>
            </a:r>
            <a:r>
              <a:rPr sz="1450" b="1">
                <a:solidFill>
                  <a:srgbClr val="FFB454"/>
                </a:solidFill>
                <a:latin typeface="Arial"/>
              </a:rPr>
              <a:t>寶視來 BV6H 短焦雷射投影機 靈活安裝穩定輸出 現貨優惠</a:t>
            </a:r>
            <a:r>
              <a:rPr sz="1450">
                <a:solidFill>
                  <a:srgbClr val="F5F3EC"/>
                </a:solidFill>
                <a:latin typeface="Arial"/>
              </a:rPr>
              <a:t> — ZOL投影機頻道 [連結](https://projector.zol.com.cn/1237/12376216.html)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640080"/>
          </a:xfrm>
          <a:prstGeom prst="rect">
            <a:avLst/>
          </a:prstGeom>
          <a:noFill/>
        </p:spPr>
        <p:txBody>
          <a:bodyPr wrap="square">
            <a:spAutoFit/>
          </a:bodyPr>
          <a:lstStyle/>
          <a:p>
            <a:pPr>
              <a:lnSpc>
                <a:spcPct val="115000"/>
              </a:lnSpc>
            </a:pPr>
            <a:r>
              <a:rPr sz="1450">
                <a:solidFill>
                  <a:srgbClr val="F5F3EC"/>
                </a:solidFill>
                <a:latin typeface="Arial"/>
              </a:rPr>
              <a:t>82. </a:t>
            </a:r>
            <a:r>
              <a:rPr sz="1450" b="1">
                <a:solidFill>
                  <a:srgbClr val="FFB454"/>
                </a:solidFill>
                <a:latin typeface="Arial"/>
              </a:rPr>
              <a:t>明基HT711家用娛樂投影機限時特惠</a:t>
            </a:r>
            <a:r>
              <a:rPr sz="1450">
                <a:solidFill>
                  <a:srgbClr val="F5F3EC"/>
                </a:solidFill>
                <a:latin typeface="Arial"/>
              </a:rPr>
              <a:t> — ZOL投影機頻道 [連結](https://projector.zol.com.cn/1237/12376415.html)</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640080"/>
          </a:xfrm>
          <a:prstGeom prst="rect">
            <a:avLst/>
          </a:prstGeom>
          <a:noFill/>
        </p:spPr>
        <p:txBody>
          <a:bodyPr wrap="square">
            <a:spAutoFit/>
          </a:bodyPr>
          <a:lstStyle/>
          <a:p>
            <a:pPr>
              <a:lnSpc>
                <a:spcPct val="115000"/>
              </a:lnSpc>
            </a:pPr>
            <a:r>
              <a:rPr sz="1450">
                <a:solidFill>
                  <a:srgbClr val="F5F3EC"/>
                </a:solidFill>
                <a:latin typeface="Arial"/>
              </a:rPr>
              <a:t>83. </a:t>
            </a:r>
            <a:r>
              <a:rPr sz="1450" b="1">
                <a:solidFill>
                  <a:srgbClr val="FFB454"/>
                </a:solidFill>
                <a:latin typeface="Arial"/>
              </a:rPr>
              <a:t>以數位光影守護居延文脈 愛普生點亮「永不消失的黑水城」</a:t>
            </a:r>
            <a:r>
              <a:rPr sz="1450">
                <a:solidFill>
                  <a:srgbClr val="F5F3EC"/>
                </a:solidFill>
                <a:latin typeface="Arial"/>
              </a:rPr>
              <a:t> — 投影時代 [連結](http://www.pjtime.com/2026/8/352239339668.shtml)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26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84. </a:t>
            </a:r>
            <a:r>
              <a:rPr sz="1450" b="1">
                <a:solidFill>
                  <a:srgbClr val="FFB454"/>
                </a:solidFill>
                <a:latin typeface="Arial"/>
              </a:rPr>
              <a:t>JVC 將於 CEDIA 2026 展示 8K 劇院與 4K/120p 電競旗艦投影機</a:t>
            </a:r>
            <a:r>
              <a:rPr sz="1450">
                <a:solidFill>
                  <a:srgbClr val="F5F3EC"/>
                </a:solidFill>
                <a:latin typeface="Arial"/>
              </a:rPr>
              <a:t> — ProjectorCentral [連結](https://www.projectorcentral.com/jvc-cedia-2026.htm)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85. </a:t>
            </a:r>
            <a:r>
              <a:rPr sz="1450" b="1">
                <a:solidFill>
                  <a:srgbClr val="FFB454"/>
                </a:solidFill>
                <a:latin typeface="Arial"/>
              </a:rPr>
              <a:t>海信雷射電視新品星光 S2 Pro 正式開售 五大升級打造全景聲家庭影院</a:t>
            </a:r>
            <a:r>
              <a:rPr sz="1450">
                <a:solidFill>
                  <a:srgbClr val="F5F3EC"/>
                </a:solidFill>
                <a:latin typeface="Arial"/>
              </a:rPr>
              <a:t> — 投影時代 [連結](http://www.pjtime.com/2026/8/382860542281.shtml)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86. </a:t>
            </a:r>
            <a:r>
              <a:rPr sz="1450" b="1">
                <a:solidFill>
                  <a:srgbClr val="FFB454"/>
                </a:solidFill>
                <a:latin typeface="Arial"/>
              </a:rPr>
              <a:t>明基 EH6834 投影機北京特價促銷 6800 元人民幣</a:t>
            </a:r>
            <a:r>
              <a:rPr sz="1450">
                <a:solidFill>
                  <a:srgbClr val="F5F3EC"/>
                </a:solidFill>
                <a:latin typeface="Arial"/>
              </a:rPr>
              <a:t> — ZOL投影機頻道 [連結](https://projector.zol.com.cn/1238/12387725.html)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87. </a:t>
            </a:r>
            <a:r>
              <a:rPr sz="1450" b="1">
                <a:solidFill>
                  <a:srgbClr val="FFB454"/>
                </a:solidFill>
                <a:latin typeface="Arial"/>
              </a:rPr>
              <a:t>易仁科技 YR-BM6826 投影機北京特價 26,999 元</a:t>
            </a:r>
            <a:r>
              <a:rPr sz="1450">
                <a:solidFill>
                  <a:srgbClr val="F5F3EC"/>
                </a:solidFill>
                <a:latin typeface="Arial"/>
              </a:rPr>
              <a:t> — ZOL投影機頻道 [連結](https://projector.zol.com.cn/1238/12388840.html)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88. </a:t>
            </a:r>
            <a:r>
              <a:rPr sz="1450" b="1">
                <a:solidFill>
                  <a:srgbClr val="FFB454"/>
                </a:solidFill>
                <a:latin typeface="Arial"/>
              </a:rPr>
              <a:t>易仁科技工程投影機YR-D110UB北京促銷 售價99,900元</a:t>
            </a:r>
            <a:r>
              <a:rPr sz="1450">
                <a:solidFill>
                  <a:srgbClr val="F5F3EC"/>
                </a:solidFill>
                <a:latin typeface="Arial"/>
              </a:rPr>
              <a:t> — ZOL投影機頻道 [連結](https://projector.zol.com.cn/1238/12388842.html)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27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89. </a:t>
            </a:r>
            <a:r>
              <a:rPr sz="1450" b="1">
                <a:solidFill>
                  <a:srgbClr val="FFB454"/>
                </a:solidFill>
                <a:latin typeface="Arial"/>
              </a:rPr>
              <a:t>易仁科技 YR-PPV60AW 投影機北京促銷價 51,999 元</a:t>
            </a:r>
            <a:r>
              <a:rPr sz="1450">
                <a:solidFill>
                  <a:srgbClr val="F5F3EC"/>
                </a:solidFill>
                <a:latin typeface="Arial"/>
              </a:rPr>
              <a:t> — ZOL投影機頻道 [連結](https://projector.zol.com.cn/1238/12388849.html)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90. </a:t>
            </a:r>
            <a:r>
              <a:rPr sz="1450" b="1">
                <a:solidFill>
                  <a:srgbClr val="FFB454"/>
                </a:solidFill>
                <a:latin typeface="Arial"/>
              </a:rPr>
              <a:t>Nebula推出X1S三色雷射戶外4K投影機 具備6,000流明高亮度</a:t>
            </a:r>
            <a:r>
              <a:rPr sz="1450">
                <a:solidFill>
                  <a:srgbClr val="F5F3EC"/>
                </a:solidFill>
                <a:latin typeface="Arial"/>
              </a:rPr>
              <a:t> — ProjectorCentral [連結](https://www.projectorcentral.com/soundcore-nebula-x1s-upgrade.htm)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91. </a:t>
            </a:r>
            <a:r>
              <a:rPr sz="1450" b="1">
                <a:solidFill>
                  <a:srgbClr val="FFB454"/>
                </a:solidFill>
                <a:latin typeface="Arial"/>
              </a:rPr>
              <a:t>極米攜手 AWALL 針對美國市場推出全新高端品牌 XWALL by XGIMI</a:t>
            </a:r>
            <a:r>
              <a:rPr sz="1450">
                <a:solidFill>
                  <a:srgbClr val="F5F3EC"/>
                </a:solidFill>
                <a:latin typeface="Arial"/>
              </a:rPr>
              <a:t> — ProjectorCentral [連結](https://www.projectorcentral.com/xwall-by-xgimi-launch.htm)</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92. </a:t>
            </a:r>
            <a:r>
              <a:rPr sz="1450" b="1">
                <a:solidFill>
                  <a:srgbClr val="FFB454"/>
                </a:solidFill>
                <a:latin typeface="Arial"/>
              </a:rPr>
              <a:t>奧圖碼 CUL15K 投影機北京經銷商報價 180,000 人民幣</a:t>
            </a:r>
            <a:r>
              <a:rPr sz="1450">
                <a:solidFill>
                  <a:srgbClr val="F5F3EC"/>
                </a:solidFill>
                <a:latin typeface="Arial"/>
              </a:rPr>
              <a:t> — ZOL投影機頻道 [連結](https://projector.zol.com.cn/1241/12412052.html)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93. </a:t>
            </a:r>
            <a:r>
              <a:rPr sz="1450" b="1">
                <a:solidFill>
                  <a:srgbClr val="FFB454"/>
                </a:solidFill>
                <a:latin typeface="Arial"/>
              </a:rPr>
              <a:t>易仁科技 YR-BJ5832 投影機北京促銷價 43,999 元</a:t>
            </a:r>
            <a:r>
              <a:rPr sz="1450">
                <a:solidFill>
                  <a:srgbClr val="F5F3EC"/>
                </a:solidFill>
                <a:latin typeface="Arial"/>
              </a:rPr>
              <a:t> — ZOL投影機頻道 [連結](https://projector.zol.com.cn/1241/12412058.html)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28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94. </a:t>
            </a:r>
            <a:r>
              <a:rPr sz="1450" b="1">
                <a:solidFill>
                  <a:srgbClr val="FFB454"/>
                </a:solidFill>
                <a:latin typeface="Arial"/>
              </a:rPr>
              <a:t>易仁科技高亮度工程投影機YR-D200UAW北京促銷價69萬元</a:t>
            </a:r>
            <a:r>
              <a:rPr sz="1450">
                <a:solidFill>
                  <a:srgbClr val="F5F3EC"/>
                </a:solidFill>
                <a:latin typeface="Arial"/>
              </a:rPr>
              <a:t> — ZOL投影機頻道 [連結](https://projector.zol.com.cn/1241/12412064.html)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95. </a:t>
            </a:r>
            <a:r>
              <a:rPr sz="1450" b="1">
                <a:solidFill>
                  <a:srgbClr val="FFB454"/>
                </a:solidFill>
                <a:latin typeface="Arial"/>
              </a:rPr>
              <a:t>易仁科技 YR-JFH48UBST 北京促銷價 31,900 元</a:t>
            </a:r>
            <a:r>
              <a:rPr sz="1450">
                <a:solidFill>
                  <a:srgbClr val="F5F3EC"/>
                </a:solidFill>
                <a:latin typeface="Arial"/>
              </a:rPr>
              <a:t> — ZOL投影機頻道 [連結](https://projector.zol.com.cn/1241/12412075.html)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96. </a:t>
            </a:r>
            <a:r>
              <a:rPr sz="1450" b="1">
                <a:solidFill>
                  <a:srgbClr val="FFB454"/>
                </a:solidFill>
                <a:latin typeface="Arial"/>
              </a:rPr>
              <a:t>易仁科技 YR-NG4186 北京特價促銷 5999 元</a:t>
            </a:r>
            <a:r>
              <a:rPr sz="1450">
                <a:solidFill>
                  <a:srgbClr val="F5F3EC"/>
                </a:solidFill>
                <a:latin typeface="Arial"/>
              </a:rPr>
              <a:t> — ZOL投影機頻道 [連結](https://projector.zol.com.cn/1241/12412076.html)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97. </a:t>
            </a:r>
            <a:r>
              <a:rPr sz="1450" b="1">
                <a:solidFill>
                  <a:srgbClr val="FFB454"/>
                </a:solidFill>
                <a:latin typeface="Arial"/>
              </a:rPr>
              <a:t>易仁科技 YR-D86UB 投影機北京促銷價 389,000 元</a:t>
            </a:r>
            <a:r>
              <a:rPr sz="1450">
                <a:solidFill>
                  <a:srgbClr val="F5F3EC"/>
                </a:solidFill>
                <a:latin typeface="Arial"/>
              </a:rPr>
              <a:t> — ZOL投影機頻道 [連結](https://projector.zol.com.cn/1241/12412079.html)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98. </a:t>
            </a:r>
            <a:r>
              <a:rPr sz="1450" b="1">
                <a:solidFill>
                  <a:srgbClr val="FFB454"/>
                </a:solidFill>
                <a:latin typeface="Arial"/>
              </a:rPr>
              <a:t>易仁科技 YR-D72UB 北京特價促銷 34.9 萬元</a:t>
            </a:r>
            <a:r>
              <a:rPr sz="1450">
                <a:solidFill>
                  <a:srgbClr val="F5F3EC"/>
                </a:solidFill>
                <a:latin typeface="Arial"/>
              </a:rPr>
              <a:t> — ZOL投影機頻道 [連結](https://projector.zol.com.cn/1241/12412080.html)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29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99. </a:t>
            </a:r>
            <a:r>
              <a:rPr sz="1450" b="1">
                <a:solidFill>
                  <a:srgbClr val="FFB454"/>
                </a:solidFill>
                <a:latin typeface="Arial"/>
              </a:rPr>
              <a:t>易仁科技 YR-D80UB 投影機北京促銷價 359,000 元</a:t>
            </a:r>
            <a:r>
              <a:rPr sz="1450">
                <a:solidFill>
                  <a:srgbClr val="F5F3EC"/>
                </a:solidFill>
                <a:latin typeface="Arial"/>
              </a:rPr>
              <a:t> — ZOL投影機頻道 [連結](https://projector.zol.com.cn/1241/12412081.html)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100. </a:t>
            </a:r>
            <a:r>
              <a:rPr sz="1450" b="1">
                <a:solidFill>
                  <a:srgbClr val="FFB454"/>
                </a:solidFill>
                <a:latin typeface="Arial"/>
              </a:rPr>
              <a:t>大眼橙 C3 Ultra 投影機北京促銷價 2199 元</a:t>
            </a:r>
            <a:r>
              <a:rPr sz="1450">
                <a:solidFill>
                  <a:srgbClr val="F5F3EC"/>
                </a:solidFill>
                <a:latin typeface="Arial"/>
              </a:rPr>
              <a:t> — ZOL投影機頻道 [連結](https://projector.zol.com.cn/1241/12413253.html)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640080"/>
          </a:xfrm>
          <a:prstGeom prst="rect">
            <a:avLst/>
          </a:prstGeom>
          <a:noFill/>
        </p:spPr>
        <p:txBody>
          <a:bodyPr wrap="square">
            <a:spAutoFit/>
          </a:bodyPr>
          <a:lstStyle/>
          <a:p>
            <a:pPr>
              <a:lnSpc>
                <a:spcPct val="115000"/>
              </a:lnSpc>
            </a:pPr>
            <a:r>
              <a:rPr sz="1450">
                <a:solidFill>
                  <a:srgbClr val="F5F3EC"/>
                </a:solidFill>
                <a:latin typeface="Arial"/>
              </a:rPr>
              <a:t>101. </a:t>
            </a:r>
            <a:r>
              <a:rPr sz="1450" b="1">
                <a:solidFill>
                  <a:srgbClr val="FFB454"/>
                </a:solidFill>
                <a:latin typeface="Arial"/>
              </a:rPr>
              <a:t>奧圖碼 CUL80T 投影機北京促銷熱賣</a:t>
            </a:r>
            <a:r>
              <a:rPr sz="1450">
                <a:solidFill>
                  <a:srgbClr val="F5F3EC"/>
                </a:solidFill>
                <a:latin typeface="Arial"/>
              </a:rPr>
              <a:t> — ZOL投影機頻道 [連結](https://projector.zol.com.cn/1241/12413262.html)</a:t>
            </a:r>
          </a:p>
        </p:txBody>
      </p:sp>
      <p:sp>
        <p:nvSpPr>
          <p:cNvPr id="10" name="Oval 9"/>
          <p:cNvSpPr/>
          <p:nvPr/>
        </p:nvSpPr>
        <p:spPr>
          <a:xfrm>
            <a:off x="594360" y="412394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95928"/>
            <a:ext cx="10698480" cy="877824"/>
          </a:xfrm>
          <a:prstGeom prst="rect">
            <a:avLst/>
          </a:prstGeom>
          <a:noFill/>
        </p:spPr>
        <p:txBody>
          <a:bodyPr wrap="square">
            <a:spAutoFit/>
          </a:bodyPr>
          <a:lstStyle/>
          <a:p>
            <a:pPr>
              <a:lnSpc>
                <a:spcPct val="115000"/>
              </a:lnSpc>
            </a:pPr>
            <a:r>
              <a:rPr sz="1450">
                <a:solidFill>
                  <a:srgbClr val="F5F3EC"/>
                </a:solidFill>
                <a:latin typeface="Arial"/>
              </a:rPr>
              <a:t>102. </a:t>
            </a:r>
            <a:r>
              <a:rPr sz="1450" b="1">
                <a:solidFill>
                  <a:srgbClr val="FFB454"/>
                </a:solidFill>
                <a:latin typeface="Arial"/>
              </a:rPr>
              <a:t>如何在床上使用投影機將電影投射到天花板</a:t>
            </a:r>
            <a:r>
              <a:rPr sz="1450">
                <a:solidFill>
                  <a:srgbClr val="F5F3EC"/>
                </a:solidFill>
                <a:latin typeface="Arial"/>
              </a:rPr>
              <a:t> — 當貝Dangbei官方 [連結](https://us.dangbei.com/blogs/newsroom/how-to-project-movies-on-the-ceiling-from-bed)</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877824"/>
          </a:xfrm>
          <a:prstGeom prst="rect">
            <a:avLst/>
          </a:prstGeom>
          <a:noFill/>
        </p:spPr>
        <p:txBody>
          <a:bodyPr wrap="square">
            <a:spAutoFit/>
          </a:bodyPr>
          <a:lstStyle/>
          <a:p>
            <a:pPr>
              <a:lnSpc>
                <a:spcPct val="115000"/>
              </a:lnSpc>
            </a:pPr>
            <a:r>
              <a:rPr sz="1450">
                <a:solidFill>
                  <a:srgbClr val="F5F3EC"/>
                </a:solidFill>
                <a:latin typeface="Arial"/>
              </a:rPr>
              <a:t>103. </a:t>
            </a:r>
            <a:r>
              <a:rPr sz="1450" b="1">
                <a:solidFill>
                  <a:srgbClr val="FFB454"/>
                </a:solidFill>
                <a:latin typeface="Arial"/>
              </a:rPr>
              <a:t>Epson將於2026年CEDIA展會展示高亮度家用投影技術</a:t>
            </a:r>
            <a:r>
              <a:rPr sz="1450">
                <a:solidFill>
                  <a:srgbClr val="F5F3EC"/>
                </a:solidFill>
                <a:latin typeface="Arial"/>
              </a:rPr>
              <a:t> — Epson官方 [連結](https://news.epson.com/news/cedia-expo-high-brightness-home-projection-2026)</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30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104. </a:t>
            </a:r>
            <a:r>
              <a:rPr sz="1450" b="1">
                <a:solidFill>
                  <a:srgbClr val="FFB454"/>
                </a:solidFill>
                <a:latin typeface="Arial"/>
              </a:rPr>
              <a:t>愛普生創新獲肯定，全新投影機與dvLED產品榮獲16項影音與教育產業大獎</a:t>
            </a:r>
            <a:r>
              <a:rPr sz="1450">
                <a:solidFill>
                  <a:srgbClr val="F5F3EC"/>
                </a:solidFill>
                <a:latin typeface="Arial"/>
              </a:rPr>
              <a:t> — Epson官方 [連結](https://news.epson.com/news/projector-dvled-awards-2026)</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402336"/>
          </a:xfrm>
          <a:prstGeom prst="rect">
            <a:avLst/>
          </a:prstGeom>
          <a:noFill/>
        </p:spPr>
        <p:txBody>
          <a:bodyPr wrap="square">
            <a:spAutoFit/>
          </a:bodyPr>
          <a:lstStyle/>
          <a:p>
            <a:pPr>
              <a:lnSpc>
                <a:spcPct val="115000"/>
              </a:lnSpc>
            </a:pPr>
            <a:r>
              <a:rPr sz="1450">
                <a:solidFill>
                  <a:srgbClr val="F5F3EC"/>
                </a:solidFill>
                <a:latin typeface="Arial"/>
              </a:rPr>
              <a:t>### 市場數據</a:t>
            </a:r>
          </a:p>
        </p:txBody>
      </p:sp>
      <p:sp>
        <p:nvSpPr>
          <p:cNvPr id="8" name="Oval 7"/>
          <p:cNvSpPr/>
          <p:nvPr/>
        </p:nvSpPr>
        <p:spPr>
          <a:xfrm>
            <a:off x="594360" y="300837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80360"/>
            <a:ext cx="10698480" cy="640080"/>
          </a:xfrm>
          <a:prstGeom prst="rect">
            <a:avLst/>
          </a:prstGeom>
          <a:noFill/>
        </p:spPr>
        <p:txBody>
          <a:bodyPr wrap="square">
            <a:spAutoFit/>
          </a:bodyPr>
          <a:lstStyle/>
          <a:p>
            <a:pPr>
              <a:lnSpc>
                <a:spcPct val="115000"/>
              </a:lnSpc>
            </a:pPr>
            <a:r>
              <a:rPr sz="1450">
                <a:solidFill>
                  <a:srgbClr val="F5F3EC"/>
                </a:solidFill>
                <a:latin typeface="Arial"/>
              </a:rPr>
              <a:t>1. </a:t>
            </a:r>
            <a:r>
              <a:rPr sz="1450" b="1">
                <a:solidFill>
                  <a:srgbClr val="FFB454"/>
                </a:solidFill>
                <a:latin typeface="Arial"/>
              </a:rPr>
              <a:t>愛普生CH-TW7400北京促銷價15000元</a:t>
            </a:r>
            <a:r>
              <a:rPr sz="1450">
                <a:solidFill>
                  <a:srgbClr val="F5F3EC"/>
                </a:solidFill>
                <a:latin typeface="Arial"/>
              </a:rPr>
              <a:t> — ZOL投影機頻道 [連結](https://projector.zol.com.cn/1226/12263556.html)</a:t>
            </a:r>
          </a:p>
        </p:txBody>
      </p:sp>
      <p:sp>
        <p:nvSpPr>
          <p:cNvPr id="10" name="Oval 9"/>
          <p:cNvSpPr/>
          <p:nvPr/>
        </p:nvSpPr>
        <p:spPr>
          <a:xfrm>
            <a:off x="594360" y="3648455"/>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520439"/>
            <a:ext cx="10698480" cy="877824"/>
          </a:xfrm>
          <a:prstGeom prst="rect">
            <a:avLst/>
          </a:prstGeom>
          <a:noFill/>
        </p:spPr>
        <p:txBody>
          <a:bodyPr wrap="square">
            <a:spAutoFit/>
          </a:bodyPr>
          <a:lstStyle/>
          <a:p>
            <a:pPr>
              <a:lnSpc>
                <a:spcPct val="115000"/>
              </a:lnSpc>
            </a:pPr>
            <a:r>
              <a:rPr sz="1450">
                <a:solidFill>
                  <a:srgbClr val="F5F3EC"/>
                </a:solidFill>
                <a:latin typeface="Arial"/>
              </a:rPr>
              <a:t>2. </a:t>
            </a:r>
            <a:r>
              <a:rPr sz="1450" b="1">
                <a:solidFill>
                  <a:srgbClr val="FFB454"/>
                </a:solidFill>
                <a:latin typeface="Arial"/>
              </a:rPr>
              <a:t>索諾克SNP-AC40LU北京地區促銷價12550元</a:t>
            </a:r>
            <a:r>
              <a:rPr sz="1450">
                <a:solidFill>
                  <a:srgbClr val="F5F3EC"/>
                </a:solidFill>
                <a:latin typeface="Arial"/>
              </a:rPr>
              <a:t> — ZOL投影機頻道 [連結](https://projector.zol.com.cn/1226/12263559.html)</a:t>
            </a:r>
          </a:p>
        </p:txBody>
      </p:sp>
      <p:sp>
        <p:nvSpPr>
          <p:cNvPr id="12" name="Oval 11"/>
          <p:cNvSpPr/>
          <p:nvPr/>
        </p:nvSpPr>
        <p:spPr>
          <a:xfrm>
            <a:off x="594360" y="452628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398264"/>
            <a:ext cx="10698480" cy="640080"/>
          </a:xfrm>
          <a:prstGeom prst="rect">
            <a:avLst/>
          </a:prstGeom>
          <a:noFill/>
        </p:spPr>
        <p:txBody>
          <a:bodyPr wrap="square">
            <a:spAutoFit/>
          </a:bodyPr>
          <a:lstStyle/>
          <a:p>
            <a:pPr>
              <a:lnSpc>
                <a:spcPct val="115000"/>
              </a:lnSpc>
            </a:pPr>
            <a:r>
              <a:rPr sz="1450">
                <a:solidFill>
                  <a:srgbClr val="F5F3EC"/>
                </a:solidFill>
                <a:latin typeface="Arial"/>
              </a:rPr>
              <a:t>3. </a:t>
            </a:r>
            <a:r>
              <a:rPr sz="1450" b="1">
                <a:solidFill>
                  <a:srgbClr val="FFB454"/>
                </a:solidFill>
                <a:latin typeface="Arial"/>
              </a:rPr>
              <a:t>勢如破竹！當貝入選2020杭州獨角獸與準獨角獸企業榜單</a:t>
            </a:r>
            <a:r>
              <a:rPr sz="1450">
                <a:solidFill>
                  <a:srgbClr val="F5F3EC"/>
                </a:solidFill>
                <a:latin typeface="Arial"/>
              </a:rPr>
              <a:t> — ZNDS投影頻道 [連結](https://news.znds.com/article/46871.html)</a:t>
            </a:r>
          </a:p>
        </p:txBody>
      </p:sp>
      <p:sp>
        <p:nvSpPr>
          <p:cNvPr id="14" name="Oval 13"/>
          <p:cNvSpPr/>
          <p:nvPr/>
        </p:nvSpPr>
        <p:spPr>
          <a:xfrm>
            <a:off x="594360" y="516636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38344"/>
            <a:ext cx="10698480" cy="640080"/>
          </a:xfrm>
          <a:prstGeom prst="rect">
            <a:avLst/>
          </a:prstGeom>
          <a:noFill/>
        </p:spPr>
        <p:txBody>
          <a:bodyPr wrap="square">
            <a:spAutoFit/>
          </a:bodyPr>
          <a:lstStyle/>
          <a:p>
            <a:pPr>
              <a:lnSpc>
                <a:spcPct val="115000"/>
              </a:lnSpc>
            </a:pPr>
            <a:r>
              <a:rPr sz="1450">
                <a:solidFill>
                  <a:srgbClr val="F5F3EC"/>
                </a:solidFill>
                <a:latin typeface="Arial"/>
              </a:rPr>
              <a:t>4. </a:t>
            </a:r>
            <a:r>
              <a:rPr sz="1450" b="1">
                <a:solidFill>
                  <a:srgbClr val="FFB454"/>
                </a:solidFill>
                <a:latin typeface="Arial"/>
              </a:rPr>
              <a:t>2023投影機品牌保值率排名與計算方法解析</a:t>
            </a:r>
            <a:r>
              <a:rPr sz="1450">
                <a:solidFill>
                  <a:srgbClr val="F5F3EC"/>
                </a:solidFill>
                <a:latin typeface="Arial"/>
              </a:rPr>
              <a:t> — ZNDS投影頻道 [連結](https://news.znds.com/article/62541.html)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31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5. </a:t>
            </a:r>
            <a:r>
              <a:rPr sz="1450" b="1">
                <a:solidFill>
                  <a:srgbClr val="FFB454"/>
                </a:solidFill>
                <a:latin typeface="Arial"/>
              </a:rPr>
              <a:t>2023年最值得入手的618投影機推薦與3000-6000元排行榜</a:t>
            </a:r>
            <a:r>
              <a:rPr sz="1450">
                <a:solidFill>
                  <a:srgbClr val="F5F3EC"/>
                </a:solidFill>
                <a:latin typeface="Arial"/>
              </a:rPr>
              <a:t> — ZNDS投影頻道 [連結](https://news.znds.com/article/63461.html)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640080"/>
          </a:xfrm>
          <a:prstGeom prst="rect">
            <a:avLst/>
          </a:prstGeom>
          <a:noFill/>
        </p:spPr>
        <p:txBody>
          <a:bodyPr wrap="square">
            <a:spAutoFit/>
          </a:bodyPr>
          <a:lstStyle/>
          <a:p>
            <a:pPr>
              <a:lnSpc>
                <a:spcPct val="115000"/>
              </a:lnSpc>
            </a:pPr>
            <a:r>
              <a:rPr sz="1450">
                <a:solidFill>
                  <a:srgbClr val="F5F3EC"/>
                </a:solidFill>
                <a:latin typeface="Arial"/>
              </a:rPr>
              <a:t>6. </a:t>
            </a:r>
            <a:r>
              <a:rPr sz="1450" b="1">
                <a:solidFill>
                  <a:srgbClr val="FFB454"/>
                </a:solidFill>
                <a:latin typeface="Arial"/>
              </a:rPr>
              <a:t>客廳用什麼投影機好？適合白天客廳用的投影機推薦</a:t>
            </a:r>
            <a:r>
              <a:rPr sz="1450">
                <a:solidFill>
                  <a:srgbClr val="F5F3EC"/>
                </a:solidFill>
                <a:latin typeface="Arial"/>
              </a:rPr>
              <a:t> — ZNDS投影頻道 [連結](https://news.znds.com/article/64202.html)</a:t>
            </a:r>
          </a:p>
        </p:txBody>
      </p:sp>
      <p:sp>
        <p:nvSpPr>
          <p:cNvPr id="8" name="Oval 7"/>
          <p:cNvSpPr/>
          <p:nvPr/>
        </p:nvSpPr>
        <p:spPr>
          <a:xfrm>
            <a:off x="594360" y="324612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18104"/>
            <a:ext cx="10698480" cy="877824"/>
          </a:xfrm>
          <a:prstGeom prst="rect">
            <a:avLst/>
          </a:prstGeom>
          <a:noFill/>
        </p:spPr>
        <p:txBody>
          <a:bodyPr wrap="square">
            <a:spAutoFit/>
          </a:bodyPr>
          <a:lstStyle/>
          <a:p>
            <a:pPr>
              <a:lnSpc>
                <a:spcPct val="115000"/>
              </a:lnSpc>
            </a:pPr>
            <a:r>
              <a:rPr sz="1450">
                <a:solidFill>
                  <a:srgbClr val="F5F3EC"/>
                </a:solidFill>
                <a:latin typeface="Arial"/>
              </a:rPr>
              <a:t>7. </a:t>
            </a:r>
            <a:r>
              <a:rPr sz="1450" b="1">
                <a:solidFill>
                  <a:srgbClr val="FFB454"/>
                </a:solidFill>
                <a:latin typeface="Arial"/>
              </a:rPr>
              <a:t>2026年8月最佳熱銷平價家庭劇院投影機推薦</a:t>
            </a:r>
            <a:r>
              <a:rPr sz="1450">
                <a:solidFill>
                  <a:srgbClr val="F5F3EC"/>
                </a:solidFill>
                <a:latin typeface="Arial"/>
              </a:rPr>
              <a:t> — ProjectorCentral [連結](https://www.projectorcentral.com/best-cheap-projectors.htm)</a:t>
            </a:r>
          </a:p>
        </p:txBody>
      </p:sp>
      <p:sp>
        <p:nvSpPr>
          <p:cNvPr id="10" name="Oval 9"/>
          <p:cNvSpPr/>
          <p:nvPr/>
        </p:nvSpPr>
        <p:spPr>
          <a:xfrm>
            <a:off x="594360" y="412394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95928"/>
            <a:ext cx="10698480" cy="877824"/>
          </a:xfrm>
          <a:prstGeom prst="rect">
            <a:avLst/>
          </a:prstGeom>
          <a:noFill/>
        </p:spPr>
        <p:txBody>
          <a:bodyPr wrap="square">
            <a:spAutoFit/>
          </a:bodyPr>
          <a:lstStyle/>
          <a:p>
            <a:pPr>
              <a:lnSpc>
                <a:spcPct val="115000"/>
              </a:lnSpc>
            </a:pPr>
            <a:r>
              <a:rPr sz="1450">
                <a:solidFill>
                  <a:srgbClr val="F5F3EC"/>
                </a:solidFill>
                <a:latin typeface="Arial"/>
              </a:rPr>
              <a:t>8. </a:t>
            </a:r>
            <a:r>
              <a:rPr sz="1450" b="1">
                <a:solidFill>
                  <a:srgbClr val="FFB454"/>
                </a:solidFill>
                <a:latin typeface="Arial"/>
              </a:rPr>
              <a:t>2026年八月五千美元以下最佳暢銷家庭劇院投影機盤點</a:t>
            </a:r>
            <a:r>
              <a:rPr sz="1450">
                <a:solidFill>
                  <a:srgbClr val="F5F3EC"/>
                </a:solidFill>
                <a:latin typeface="Arial"/>
              </a:rPr>
              <a:t> — ProjectorCentral [連結](https://www.projectorcentral.com/best-selling-home-theater-projectors.htm)</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877824"/>
          </a:xfrm>
          <a:prstGeom prst="rect">
            <a:avLst/>
          </a:prstGeom>
          <a:noFill/>
        </p:spPr>
        <p:txBody>
          <a:bodyPr wrap="square">
            <a:spAutoFit/>
          </a:bodyPr>
          <a:lstStyle/>
          <a:p>
            <a:pPr>
              <a:lnSpc>
                <a:spcPct val="115000"/>
              </a:lnSpc>
            </a:pPr>
            <a:r>
              <a:rPr sz="1450">
                <a:solidFill>
                  <a:srgbClr val="F5F3EC"/>
                </a:solidFill>
                <a:latin typeface="Arial"/>
              </a:rPr>
              <a:t>9. </a:t>
            </a:r>
            <a:r>
              <a:rPr sz="1450" b="1">
                <a:solidFill>
                  <a:srgbClr val="FFB454"/>
                </a:solidFill>
                <a:latin typeface="Arial"/>
              </a:rPr>
              <a:t>2026年八月三千美元以下最佳暢銷家庭劇院投影機排行</a:t>
            </a:r>
            <a:r>
              <a:rPr sz="1450">
                <a:solidFill>
                  <a:srgbClr val="F5F3EC"/>
                </a:solidFill>
                <a:latin typeface="Arial"/>
              </a:rPr>
              <a:t> — ProjectorCentral [連結](https://www.projectorcentral.com/hottest-home-theater-projectors.htm)</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32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10. </a:t>
            </a:r>
            <a:r>
              <a:rPr sz="1450" b="1">
                <a:solidFill>
                  <a:srgbClr val="FFB454"/>
                </a:solidFill>
                <a:latin typeface="Arial"/>
              </a:rPr>
              <a:t>投影機幕購買指南與推薦通路</a:t>
            </a:r>
            <a:r>
              <a:rPr sz="1450">
                <a:solidFill>
                  <a:srgbClr val="F5F3EC"/>
                </a:solidFill>
                <a:latin typeface="Arial"/>
              </a:rPr>
              <a:t> — ProjectorCentral [連結](https://www.projectorcentral.com/projector-screens.htm)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11. </a:t>
            </a:r>
            <a:r>
              <a:rPr sz="1450" b="1">
                <a:solidFill>
                  <a:srgbClr val="FFB454"/>
                </a:solidFill>
                <a:latin typeface="Arial"/>
              </a:rPr>
              <a:t>松下 PT-BMZ51SC 投影機北京經銷商特價促銷</a:t>
            </a:r>
            <a:r>
              <a:rPr sz="1450">
                <a:solidFill>
                  <a:srgbClr val="F5F3EC"/>
                </a:solidFill>
                <a:latin typeface="Arial"/>
              </a:rPr>
              <a:t> — ZOL投影機頻道 [連結](https://projector.zol.com.cn/1234/12344091.html)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12. </a:t>
            </a:r>
            <a:r>
              <a:rPr sz="1450" b="1">
                <a:solidFill>
                  <a:srgbClr val="FFB454"/>
                </a:solidFill>
                <a:latin typeface="Arial"/>
              </a:rPr>
              <a:t>愛普生CB-2265U北京促銷行情 售價10500元人民幣</a:t>
            </a:r>
            <a:r>
              <a:rPr sz="1450">
                <a:solidFill>
                  <a:srgbClr val="F5F3EC"/>
                </a:solidFill>
                <a:latin typeface="Arial"/>
              </a:rPr>
              <a:t> — ZOL投影機頻道 [連結](https://projector.zol.com.cn/1234/12344092.html)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13. </a:t>
            </a:r>
            <a:r>
              <a:rPr sz="1450" b="1">
                <a:solidFill>
                  <a:srgbClr val="FFB454"/>
                </a:solidFill>
                <a:latin typeface="Arial"/>
              </a:rPr>
              <a:t>愛普生 CH-TW7000 投影機北京促銷價 8,499 人民幣</a:t>
            </a:r>
            <a:r>
              <a:rPr sz="1450">
                <a:solidFill>
                  <a:srgbClr val="F5F3EC"/>
                </a:solidFill>
                <a:latin typeface="Arial"/>
              </a:rPr>
              <a:t> — ZOL投影機頻道 [連結](https://projector.zol.com.cn/1234/12344093.html)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14. </a:t>
            </a:r>
            <a:r>
              <a:rPr sz="1450" b="1">
                <a:solidFill>
                  <a:srgbClr val="FFB454"/>
                </a:solidFill>
                <a:latin typeface="Arial"/>
              </a:rPr>
              <a:t>明基E545商用投影機北京通路促銷 優惠價4199元</a:t>
            </a:r>
            <a:r>
              <a:rPr sz="1450">
                <a:solidFill>
                  <a:srgbClr val="F5F3EC"/>
                </a:solidFill>
                <a:latin typeface="Arial"/>
              </a:rPr>
              <a:t> — ZOL投影機頻道 [連結](https://projector.zol.com.cn/1234/12344099.html)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33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15. </a:t>
            </a:r>
            <a:r>
              <a:rPr sz="1450" b="1">
                <a:solidFill>
                  <a:srgbClr val="FFB454"/>
                </a:solidFill>
                <a:latin typeface="Arial"/>
              </a:rPr>
              <a:t>明基 E585 投影機北京促銷價 6,099 元</a:t>
            </a:r>
            <a:r>
              <a:rPr sz="1450">
                <a:solidFill>
                  <a:srgbClr val="F5F3EC"/>
                </a:solidFill>
                <a:latin typeface="Arial"/>
              </a:rPr>
              <a:t> — ZOL投影機頻道 [連結](https://projector.zol.com.cn/1234/12344100.html)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640080"/>
          </a:xfrm>
          <a:prstGeom prst="rect">
            <a:avLst/>
          </a:prstGeom>
          <a:noFill/>
        </p:spPr>
        <p:txBody>
          <a:bodyPr wrap="square">
            <a:spAutoFit/>
          </a:bodyPr>
          <a:lstStyle/>
          <a:p>
            <a:pPr>
              <a:lnSpc>
                <a:spcPct val="115000"/>
              </a:lnSpc>
            </a:pPr>
            <a:r>
              <a:rPr sz="1450">
                <a:solidFill>
                  <a:srgbClr val="F5F3EC"/>
                </a:solidFill>
                <a:latin typeface="Arial"/>
              </a:rPr>
              <a:t>16. </a:t>
            </a:r>
            <a:r>
              <a:rPr sz="1450" b="1">
                <a:solidFill>
                  <a:srgbClr val="FFB454"/>
                </a:solidFill>
                <a:latin typeface="Arial"/>
              </a:rPr>
              <a:t>明基EH6834投影機北京特價促銷6720元</a:t>
            </a:r>
            <a:r>
              <a:rPr sz="1450">
                <a:solidFill>
                  <a:srgbClr val="F5F3EC"/>
                </a:solidFill>
                <a:latin typeface="Arial"/>
              </a:rPr>
              <a:t> — ZOL投影機頻道 [連結](https://projector.zol.com.cn/1234/12344101.html)</a:t>
            </a:r>
          </a:p>
        </p:txBody>
      </p:sp>
      <p:sp>
        <p:nvSpPr>
          <p:cNvPr id="8" name="Oval 7"/>
          <p:cNvSpPr/>
          <p:nvPr/>
        </p:nvSpPr>
        <p:spPr>
          <a:xfrm>
            <a:off x="594360" y="324612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18104"/>
            <a:ext cx="10698480" cy="877824"/>
          </a:xfrm>
          <a:prstGeom prst="rect">
            <a:avLst/>
          </a:prstGeom>
          <a:noFill/>
        </p:spPr>
        <p:txBody>
          <a:bodyPr wrap="square">
            <a:spAutoFit/>
          </a:bodyPr>
          <a:lstStyle/>
          <a:p>
            <a:pPr>
              <a:lnSpc>
                <a:spcPct val="115000"/>
              </a:lnSpc>
            </a:pPr>
            <a:r>
              <a:rPr sz="1450">
                <a:solidFill>
                  <a:srgbClr val="F5F3EC"/>
                </a:solidFill>
                <a:latin typeface="Arial"/>
              </a:rPr>
              <a:t>17. </a:t>
            </a:r>
            <a:r>
              <a:rPr sz="1450" b="1">
                <a:solidFill>
                  <a:srgbClr val="FFB454"/>
                </a:solidFill>
                <a:latin typeface="Arial"/>
              </a:rPr>
              <a:t>索諾克SNP-AC55LU投影機北京經銷商特價促銷</a:t>
            </a:r>
            <a:r>
              <a:rPr sz="1450">
                <a:solidFill>
                  <a:srgbClr val="F5F3EC"/>
                </a:solidFill>
                <a:latin typeface="Arial"/>
              </a:rPr>
              <a:t> — ZOL投影機頻道 [連結](https://projector.zol.com.cn/1234/12344102.html)</a:t>
            </a:r>
          </a:p>
        </p:txBody>
      </p:sp>
      <p:sp>
        <p:nvSpPr>
          <p:cNvPr id="10" name="Oval 9"/>
          <p:cNvSpPr/>
          <p:nvPr/>
        </p:nvSpPr>
        <p:spPr>
          <a:xfrm>
            <a:off x="594360" y="412394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95928"/>
            <a:ext cx="10698480" cy="877824"/>
          </a:xfrm>
          <a:prstGeom prst="rect">
            <a:avLst/>
          </a:prstGeom>
          <a:noFill/>
        </p:spPr>
        <p:txBody>
          <a:bodyPr wrap="square">
            <a:spAutoFit/>
          </a:bodyPr>
          <a:lstStyle/>
          <a:p>
            <a:pPr>
              <a:lnSpc>
                <a:spcPct val="115000"/>
              </a:lnSpc>
            </a:pPr>
            <a:r>
              <a:rPr sz="1450">
                <a:solidFill>
                  <a:srgbClr val="F5F3EC"/>
                </a:solidFill>
                <a:latin typeface="Arial"/>
              </a:rPr>
              <a:t>18. </a:t>
            </a:r>
            <a:r>
              <a:rPr sz="1450" b="1">
                <a:solidFill>
                  <a:srgbClr val="FFB454"/>
                </a:solidFill>
                <a:latin typeface="Arial"/>
              </a:rPr>
              <a:t>索諾克 SNP-AC40LU 北京特價 12,530 元</a:t>
            </a:r>
            <a:r>
              <a:rPr sz="1450">
                <a:solidFill>
                  <a:srgbClr val="F5F3EC"/>
                </a:solidFill>
                <a:latin typeface="Arial"/>
              </a:rPr>
              <a:t> — ZOL投影機頻道 [連結](https://projector.zol.com.cn/1234/12344103.html)</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877824"/>
          </a:xfrm>
          <a:prstGeom prst="rect">
            <a:avLst/>
          </a:prstGeom>
          <a:noFill/>
        </p:spPr>
        <p:txBody>
          <a:bodyPr wrap="square">
            <a:spAutoFit/>
          </a:bodyPr>
          <a:lstStyle/>
          <a:p>
            <a:pPr>
              <a:lnSpc>
                <a:spcPct val="115000"/>
              </a:lnSpc>
            </a:pPr>
            <a:r>
              <a:rPr sz="1450">
                <a:solidFill>
                  <a:srgbClr val="F5F3EC"/>
                </a:solidFill>
                <a:latin typeface="Arial"/>
              </a:rPr>
              <a:t>19. </a:t>
            </a:r>
            <a:r>
              <a:rPr sz="1450" b="1">
                <a:solidFill>
                  <a:srgbClr val="FFB454"/>
                </a:solidFill>
                <a:latin typeface="Arial"/>
              </a:rPr>
              <a:t>中光學2026上半年營收7.25億人民幣 淨虧損同比縮減39.95%</a:t>
            </a:r>
            <a:r>
              <a:rPr sz="1450">
                <a:solidFill>
                  <a:srgbClr val="F5F3EC"/>
                </a:solidFill>
                <a:latin typeface="Arial"/>
              </a:rPr>
              <a:t> — 投影時代 [連結](http://www.pjtime.com/2026/8/363165661872.shtml)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34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20. </a:t>
            </a:r>
            <a:r>
              <a:rPr sz="1450" b="1">
                <a:solidFill>
                  <a:srgbClr val="FFB454"/>
                </a:solidFill>
                <a:latin typeface="Arial"/>
              </a:rPr>
              <a:t>2026年全球投影機市場「外熱內冷」：品牌廠商破局與轉型路徑分析</a:t>
            </a:r>
            <a:r>
              <a:rPr sz="1450">
                <a:solidFill>
                  <a:srgbClr val="F5F3EC"/>
                </a:solidFill>
                <a:latin typeface="Arial"/>
              </a:rPr>
              <a:t> — 投影時代 [連結](http://www.pjtime.com/2026/8/371965549391.shtml)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21. </a:t>
            </a:r>
            <a:r>
              <a:rPr sz="1450" b="1">
                <a:solidFill>
                  <a:srgbClr val="FFB454"/>
                </a:solidFill>
                <a:latin typeface="Arial"/>
              </a:rPr>
              <a:t>愛普生 CB-L790U 激光投影機北京經銷商特價促銷</a:t>
            </a:r>
            <a:r>
              <a:rPr sz="1450">
                <a:solidFill>
                  <a:srgbClr val="F5F3EC"/>
                </a:solidFill>
                <a:latin typeface="Arial"/>
              </a:rPr>
              <a:t> — ZOL投影機頻道 [連結](https://projector.zol.com.cn/1238/12387709.html)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22. </a:t>
            </a:r>
            <a:r>
              <a:rPr sz="1450" b="1">
                <a:solidFill>
                  <a:srgbClr val="FFB454"/>
                </a:solidFill>
                <a:latin typeface="Arial"/>
              </a:rPr>
              <a:t>宏碁 Acer T421D 投影機北京經銷商促銷價 12,600 元</a:t>
            </a:r>
            <a:r>
              <a:rPr sz="1450">
                <a:solidFill>
                  <a:srgbClr val="F5F3EC"/>
                </a:solidFill>
                <a:latin typeface="Arial"/>
              </a:rPr>
              <a:t> — ZOL投影機頻道 [連結](https://projector.zol.com.cn/1238/12387717.html)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23. </a:t>
            </a:r>
            <a:r>
              <a:rPr sz="1450" b="1">
                <a:solidFill>
                  <a:srgbClr val="FFB454"/>
                </a:solidFill>
                <a:latin typeface="Arial"/>
              </a:rPr>
              <a:t>索諾克 SNP-AC40LU 北京促銷價 12,530 元</a:t>
            </a:r>
            <a:r>
              <a:rPr sz="1450">
                <a:solidFill>
                  <a:srgbClr val="F5F3EC"/>
                </a:solidFill>
                <a:latin typeface="Arial"/>
              </a:rPr>
              <a:t> — ZOL投影機頻道 [連結](https://projector.zol.com.cn/1238/12387729.html)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24. </a:t>
            </a:r>
            <a:r>
              <a:rPr sz="1450" b="1">
                <a:solidFill>
                  <a:srgbClr val="FFB454"/>
                </a:solidFill>
                <a:latin typeface="Arial"/>
              </a:rPr>
              <a:t>易仁科技 YR-CL7816 投影機北京特價 89,999 元</a:t>
            </a:r>
            <a:r>
              <a:rPr sz="1450">
                <a:solidFill>
                  <a:srgbClr val="F5F3EC"/>
                </a:solidFill>
                <a:latin typeface="Arial"/>
              </a:rPr>
              <a:t> — ZOL投影機頻道 [連結](https://projector.zol.com.cn/1238/12388105.html)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35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25. </a:t>
            </a:r>
            <a:r>
              <a:rPr sz="1450" b="1">
                <a:solidFill>
                  <a:srgbClr val="FFB454"/>
                </a:solidFill>
                <a:latin typeface="Arial"/>
              </a:rPr>
              <a:t>易仁科技 YR-LU580ST 投影機北京促銷價 43,999 元</a:t>
            </a:r>
            <a:r>
              <a:rPr sz="1450">
                <a:solidFill>
                  <a:srgbClr val="F5F3EC"/>
                </a:solidFill>
                <a:latin typeface="Arial"/>
              </a:rPr>
              <a:t> — ZOL投影機頻道 [連結](https://projector.zol.com.cn/1238/12388844.html)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26. </a:t>
            </a:r>
            <a:r>
              <a:rPr sz="1450" b="1">
                <a:solidFill>
                  <a:srgbClr val="FFB454"/>
                </a:solidFill>
                <a:latin typeface="Arial"/>
              </a:rPr>
              <a:t>極米、創維等13家光顯供應鏈企業半年報：淨利最高增873%，車載與AI推動成長</a:t>
            </a:r>
            <a:r>
              <a:rPr sz="1450">
                <a:solidFill>
                  <a:srgbClr val="F5F3EC"/>
                </a:solidFill>
                <a:latin typeface="Arial"/>
              </a:rPr>
              <a:t> — 投影時代 [連結](http://www.pjtime.com/2026/8/391925124934.shtml)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27. </a:t>
            </a:r>
            <a:r>
              <a:rPr sz="1450" b="1">
                <a:solidFill>
                  <a:srgbClr val="FFB454"/>
                </a:solidFill>
                <a:latin typeface="Arial"/>
              </a:rPr>
              <a:t>安克創新發布2026年半年報：營收166.05億元同比增29.05%，智能影音板塊穩健增長</a:t>
            </a:r>
            <a:r>
              <a:rPr sz="1450">
                <a:solidFill>
                  <a:srgbClr val="F5F3EC"/>
                </a:solidFill>
                <a:latin typeface="Arial"/>
              </a:rPr>
              <a:t> — 投影時代 [連結](http://www.pjtime.com/2026/8/403321486712.shtml)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28. </a:t>
            </a:r>
            <a:r>
              <a:rPr sz="1450" b="1">
                <a:solidFill>
                  <a:srgbClr val="FFB454"/>
                </a:solidFill>
                <a:latin typeface="Arial"/>
              </a:rPr>
              <a:t>易仁科技 X9 4K超短焦投影機北京開出 36,999 元促銷價</a:t>
            </a:r>
            <a:r>
              <a:rPr sz="1450">
                <a:solidFill>
                  <a:srgbClr val="F5F3EC"/>
                </a:solidFill>
                <a:latin typeface="Arial"/>
              </a:rPr>
              <a:t> — ZOL投影機頻道 [連結](https://projector.zol.com.cn/1241/12412063.html)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29. </a:t>
            </a:r>
            <a:r>
              <a:rPr sz="1450" b="1">
                <a:solidFill>
                  <a:srgbClr val="FFB454"/>
                </a:solidFill>
                <a:latin typeface="Arial"/>
              </a:rPr>
              <a:t>易仁科技 YR-RL5817 投影機北京促銷價 79999 人民幣</a:t>
            </a:r>
            <a:r>
              <a:rPr sz="1450">
                <a:solidFill>
                  <a:srgbClr val="F5F3EC"/>
                </a:solidFill>
                <a:latin typeface="Arial"/>
              </a:rPr>
              <a:t> — ZOL投影機頻道 [連結](https://projector.zol.com.cn/1241/12412071.html)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36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30. </a:t>
            </a:r>
            <a:r>
              <a:rPr sz="1450" b="1">
                <a:solidFill>
                  <a:srgbClr val="FFB454"/>
                </a:solidFill>
                <a:latin typeface="Arial"/>
              </a:rPr>
              <a:t>易仁科技 YR-BJ5335 投影機北京促銷價 69,999 元</a:t>
            </a:r>
            <a:r>
              <a:rPr sz="1450">
                <a:solidFill>
                  <a:srgbClr val="F5F3EC"/>
                </a:solidFill>
                <a:latin typeface="Arial"/>
              </a:rPr>
              <a:t> — ZOL投影機頻道 [連結](https://projector.zol.com.cn/1241/12412072.html)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31. </a:t>
            </a:r>
            <a:r>
              <a:rPr sz="1450" b="1">
                <a:solidFill>
                  <a:srgbClr val="FFB454"/>
                </a:solidFill>
                <a:latin typeface="Arial"/>
              </a:rPr>
              <a:t>易仁科技 YR-D45UB 北京特價促銷 售價 10999 元</a:t>
            </a:r>
            <a:r>
              <a:rPr sz="1450">
                <a:solidFill>
                  <a:srgbClr val="F5F3EC"/>
                </a:solidFill>
                <a:latin typeface="Arial"/>
              </a:rPr>
              <a:t> — ZOL投影機頻道 [連結](https://projector.zol.com.cn/1241/12412074.html)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32. </a:t>
            </a:r>
            <a:r>
              <a:rPr sz="1450" b="1">
                <a:solidFill>
                  <a:srgbClr val="FFB454"/>
                </a:solidFill>
                <a:latin typeface="Arial"/>
              </a:rPr>
              <a:t>易仁科技 YR-D100UB 投影機北京促銷 優惠價 468,000 元</a:t>
            </a:r>
            <a:r>
              <a:rPr sz="1450">
                <a:solidFill>
                  <a:srgbClr val="F5F3EC"/>
                </a:solidFill>
                <a:latin typeface="Arial"/>
              </a:rPr>
              <a:t> — ZOL投影機頻道 [連結](https://projector.zol.com.cn/1241/12412077.html)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33. </a:t>
            </a:r>
            <a:r>
              <a:rPr sz="1450" b="1">
                <a:solidFill>
                  <a:srgbClr val="FFB454"/>
                </a:solidFill>
                <a:latin typeface="Arial"/>
              </a:rPr>
              <a:t>ROLY RL-6000U 投影機北京促銷價 128,000 元</a:t>
            </a:r>
            <a:r>
              <a:rPr sz="1450">
                <a:solidFill>
                  <a:srgbClr val="F5F3EC"/>
                </a:solidFill>
                <a:latin typeface="Arial"/>
              </a:rPr>
              <a:t> — ZOL投影機頻道 [連結](https://projector.zol.com.cn/1241/12413251.html)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34. </a:t>
            </a:r>
            <a:r>
              <a:rPr sz="1450" b="1">
                <a:solidFill>
                  <a:srgbClr val="FFB454"/>
                </a:solidFill>
                <a:latin typeface="Arial"/>
              </a:rPr>
              <a:t>大眼橙 R3 Ultra 高亮版北京特價促銷 2705 元</a:t>
            </a:r>
            <a:r>
              <a:rPr sz="1450">
                <a:solidFill>
                  <a:srgbClr val="F5F3EC"/>
                </a:solidFill>
                <a:latin typeface="Arial"/>
              </a:rPr>
              <a:t> — ZOL投影機頻道 [連結](https://projector.zol.com.cn/1241/12413255.html)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37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35. </a:t>
            </a:r>
            <a:r>
              <a:rPr sz="1450" b="1">
                <a:solidFill>
                  <a:srgbClr val="FFB454"/>
                </a:solidFill>
                <a:latin typeface="Arial"/>
              </a:rPr>
              <a:t>麗訊 DU9900Z 北京特價促銷 售價 65 萬元</a:t>
            </a:r>
            <a:r>
              <a:rPr sz="1450">
                <a:solidFill>
                  <a:srgbClr val="F5F3EC"/>
                </a:solidFill>
                <a:latin typeface="Arial"/>
              </a:rPr>
              <a:t> — ZOL投影機頻道 [連結](https://projector.zol.com.cn/1241/12413258.html)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36. </a:t>
            </a:r>
            <a:r>
              <a:rPr sz="1450" b="1">
                <a:solidFill>
                  <a:srgbClr val="FFB454"/>
                </a:solidFill>
                <a:latin typeface="Arial"/>
              </a:rPr>
              <a:t>麗訊 DU9055Z 北京特價 388,880 元，雙雷射工程投影機促銷</a:t>
            </a:r>
            <a:r>
              <a:rPr sz="1450">
                <a:solidFill>
                  <a:srgbClr val="F5F3EC"/>
                </a:solidFill>
                <a:latin typeface="Arial"/>
              </a:rPr>
              <a:t> — ZOL投影機頻道 [連結](https://projector.zol.com.cn/1241/12413260.html)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37. </a:t>
            </a:r>
            <a:r>
              <a:rPr sz="1450" b="1">
                <a:solidFill>
                  <a:srgbClr val="FFB454"/>
                </a:solidFill>
                <a:latin typeface="Arial"/>
              </a:rPr>
              <a:t>奧圖碼 EH412ST 投影機北京通路特惠 售價 5,999 人民幣</a:t>
            </a:r>
            <a:r>
              <a:rPr sz="1450">
                <a:solidFill>
                  <a:srgbClr val="F5F3EC"/>
                </a:solidFill>
                <a:latin typeface="Arial"/>
              </a:rPr>
              <a:t> — ZOL投影機頻道 [連結](https://projector.zol.com.cn/1241/12413264.html)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38. </a:t>
            </a:r>
            <a:r>
              <a:rPr sz="1450" b="1">
                <a:solidFill>
                  <a:srgbClr val="FFB454"/>
                </a:solidFill>
                <a:latin typeface="Arial"/>
              </a:rPr>
              <a:t>奧圖碼 REV9178 投影機北京經銷商特價促銷 售價 19,999 元</a:t>
            </a:r>
            <a:r>
              <a:rPr sz="1450">
                <a:solidFill>
                  <a:srgbClr val="F5F3EC"/>
                </a:solidFill>
                <a:latin typeface="Arial"/>
              </a:rPr>
              <a:t> — ZOL投影機頻道 [連結](https://projector.zol.com.cn/1241/12413267.html)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877824"/>
          </a:xfrm>
          <a:prstGeom prst="rect">
            <a:avLst/>
          </a:prstGeom>
          <a:noFill/>
        </p:spPr>
        <p:txBody>
          <a:bodyPr wrap="square">
            <a:spAutoFit/>
          </a:bodyPr>
          <a:lstStyle/>
          <a:p>
            <a:pPr>
              <a:lnSpc>
                <a:spcPct val="115000"/>
              </a:lnSpc>
            </a:pPr>
            <a:r>
              <a:rPr sz="1450">
                <a:solidFill>
                  <a:srgbClr val="F5F3EC"/>
                </a:solidFill>
                <a:latin typeface="Arial"/>
              </a:rPr>
              <a:t>39. </a:t>
            </a:r>
            <a:r>
              <a:rPr sz="1450" b="1">
                <a:solidFill>
                  <a:srgbClr val="FFB454"/>
                </a:solidFill>
                <a:latin typeface="Arial"/>
              </a:rPr>
              <a:t>松下 PT-XZ401C 投影機北京零售促銷 售價 14,999 元人民幣</a:t>
            </a:r>
            <a:r>
              <a:rPr sz="1450">
                <a:solidFill>
                  <a:srgbClr val="F5F3EC"/>
                </a:solidFill>
                <a:latin typeface="Arial"/>
              </a:rPr>
              <a:t> — ZOL投影機頻道 [連結](https://projector.zol.com.cn/1241/12413640.html)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38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40. </a:t>
            </a:r>
            <a:r>
              <a:rPr sz="1450" b="1">
                <a:solidFill>
                  <a:srgbClr val="FFB454"/>
                </a:solidFill>
                <a:latin typeface="Arial"/>
              </a:rPr>
              <a:t>松下 PT-X3282STC 投影機北京促銷 售價 8950 元起</a:t>
            </a:r>
            <a:r>
              <a:rPr sz="1450">
                <a:solidFill>
                  <a:srgbClr val="F5F3EC"/>
                </a:solidFill>
                <a:latin typeface="Arial"/>
              </a:rPr>
              <a:t> — ZOL投影機頻道 [連結](https://projector.zol.com.cn/1241/12413642.html)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41. </a:t>
            </a:r>
            <a:r>
              <a:rPr sz="1450" b="1">
                <a:solidFill>
                  <a:srgbClr val="FFB454"/>
                </a:solidFill>
                <a:latin typeface="Arial"/>
              </a:rPr>
              <a:t>Boxlight 寶視來 BV6H 投影機北京特價促銷 售價 59,999 元</a:t>
            </a:r>
            <a:r>
              <a:rPr sz="1450">
                <a:solidFill>
                  <a:srgbClr val="F5F3EC"/>
                </a:solidFill>
                <a:latin typeface="Arial"/>
              </a:rPr>
              <a:t> — ZOL投影機頻道 [連結](https://projector.zol.com.cn/1241/12413644.html)</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42. </a:t>
            </a:r>
            <a:r>
              <a:rPr sz="1450" b="1">
                <a:solidFill>
                  <a:srgbClr val="FFB454"/>
                </a:solidFill>
                <a:latin typeface="Arial"/>
              </a:rPr>
              <a:t>ROLY RP-L6200X 北京促銷價 21,990 元</a:t>
            </a:r>
            <a:r>
              <a:rPr sz="1450">
                <a:solidFill>
                  <a:srgbClr val="F5F3EC"/>
                </a:solidFill>
                <a:latin typeface="Arial"/>
              </a:rPr>
              <a:t> — ZOL投影機頻道 [連結](https://projector.zol.com.cn/1241/12413656.html)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43. </a:t>
            </a:r>
            <a:r>
              <a:rPr sz="1450" b="1">
                <a:solidFill>
                  <a:srgbClr val="FFB454"/>
                </a:solidFill>
                <a:latin typeface="Arial"/>
              </a:rPr>
              <a:t>ROLY RL-S600W 投影機北京促銷行情：特惠價 79,000 元人民幣</a:t>
            </a:r>
            <a:r>
              <a:rPr sz="1450">
                <a:solidFill>
                  <a:srgbClr val="F5F3EC"/>
                </a:solidFill>
                <a:latin typeface="Arial"/>
              </a:rPr>
              <a:t> — ZOL投影機頻道 [連結](https://projector.zol.com.cn/1241/12413658.html)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402336"/>
          </a:xfrm>
          <a:prstGeom prst="rect">
            <a:avLst/>
          </a:prstGeom>
          <a:noFill/>
        </p:spPr>
        <p:txBody>
          <a:bodyPr wrap="square">
            <a:spAutoFit/>
          </a:bodyPr>
          <a:lstStyle/>
          <a:p>
            <a:pPr>
              <a:lnSpc>
                <a:spcPct val="115000"/>
              </a:lnSpc>
            </a:pPr>
            <a:r>
              <a:rPr sz="1450">
                <a:solidFill>
                  <a:srgbClr val="F5F3EC"/>
                </a:solidFill>
                <a:latin typeface="Arial"/>
              </a:rPr>
              <a:t>### 供應鏈</a:t>
            </a:r>
          </a:p>
        </p:txBody>
      </p:sp>
      <p:sp>
        <p:nvSpPr>
          <p:cNvPr id="14" name="Oval 13"/>
          <p:cNvSpPr/>
          <p:nvPr/>
        </p:nvSpPr>
        <p:spPr>
          <a:xfrm>
            <a:off x="594360" y="564184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513832"/>
            <a:ext cx="10698480" cy="640080"/>
          </a:xfrm>
          <a:prstGeom prst="rect">
            <a:avLst/>
          </a:prstGeom>
          <a:noFill/>
        </p:spPr>
        <p:txBody>
          <a:bodyPr wrap="square">
            <a:spAutoFit/>
          </a:bodyPr>
          <a:lstStyle/>
          <a:p>
            <a:pPr>
              <a:lnSpc>
                <a:spcPct val="115000"/>
              </a:lnSpc>
            </a:pPr>
            <a:r>
              <a:rPr sz="1450">
                <a:solidFill>
                  <a:srgbClr val="F5F3EC"/>
                </a:solidFill>
                <a:latin typeface="Arial"/>
              </a:rPr>
              <a:t>1. </a:t>
            </a:r>
            <a:r>
              <a:rPr sz="1450" b="1">
                <a:solidFill>
                  <a:srgbClr val="FFB454"/>
                </a:solidFill>
                <a:latin typeface="Arial"/>
              </a:rPr>
              <a:t>中國移動與當貝達成戰略合作 共同推動智慧家庭生態</a:t>
            </a:r>
            <a:r>
              <a:rPr sz="1450">
                <a:solidFill>
                  <a:srgbClr val="F5F3EC"/>
                </a:solidFill>
                <a:latin typeface="Arial"/>
              </a:rPr>
              <a:t> — ZNDS投影頻道 [連結](https://news.znds.com/article/50717.html)</a:t>
            </a:r>
          </a:p>
        </p:txBody>
      </p:sp>
      <p:sp>
        <p:nvSpPr>
          <p:cNvPr id="16" name="TextBox 1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39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2. </a:t>
            </a:r>
            <a:r>
              <a:rPr sz="1450" b="1">
                <a:solidFill>
                  <a:srgbClr val="FFB454"/>
                </a:solidFill>
                <a:latin typeface="Arial"/>
              </a:rPr>
              <a:t>投影機燈泡購買指南與推薦通路</a:t>
            </a:r>
            <a:r>
              <a:rPr sz="1450">
                <a:solidFill>
                  <a:srgbClr val="F5F3EC"/>
                </a:solidFill>
                <a:latin typeface="Arial"/>
              </a:rPr>
              <a:t> — ProjectorCentral [連結](https://www.projectorcentral.com/projector-lamp.htm)</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877824"/>
          </a:xfrm>
          <a:prstGeom prst="rect">
            <a:avLst/>
          </a:prstGeom>
          <a:noFill/>
        </p:spPr>
        <p:txBody>
          <a:bodyPr wrap="square">
            <a:spAutoFit/>
          </a:bodyPr>
          <a:lstStyle/>
          <a:p>
            <a:pPr>
              <a:lnSpc>
                <a:spcPct val="115000"/>
              </a:lnSpc>
            </a:pPr>
            <a:r>
              <a:rPr sz="1450">
                <a:solidFill>
                  <a:srgbClr val="F5F3EC"/>
                </a:solidFill>
                <a:latin typeface="Arial"/>
              </a:rPr>
              <a:t>3. </a:t>
            </a:r>
            <a:r>
              <a:rPr sz="1450" b="1">
                <a:solidFill>
                  <a:srgbClr val="FFB454"/>
                </a:solidFill>
                <a:latin typeface="Arial"/>
              </a:rPr>
              <a:t>投影機維修中心推薦與指南</a:t>
            </a:r>
            <a:r>
              <a:rPr sz="1450">
                <a:solidFill>
                  <a:srgbClr val="F5F3EC"/>
                </a:solidFill>
                <a:latin typeface="Arial"/>
              </a:rPr>
              <a:t> — ProjectorCentral [連結](https://www.projectorcentral.com/repair-projectors.htm)</a:t>
            </a:r>
          </a:p>
        </p:txBody>
      </p:sp>
      <p:sp>
        <p:nvSpPr>
          <p:cNvPr id="8" name="Oval 7"/>
          <p:cNvSpPr/>
          <p:nvPr/>
        </p:nvSpPr>
        <p:spPr>
          <a:xfrm>
            <a:off x="594360" y="348386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355848"/>
            <a:ext cx="10698480" cy="877824"/>
          </a:xfrm>
          <a:prstGeom prst="rect">
            <a:avLst/>
          </a:prstGeom>
          <a:noFill/>
        </p:spPr>
        <p:txBody>
          <a:bodyPr wrap="square">
            <a:spAutoFit/>
          </a:bodyPr>
          <a:lstStyle/>
          <a:p>
            <a:pPr>
              <a:lnSpc>
                <a:spcPct val="115000"/>
              </a:lnSpc>
            </a:pPr>
            <a:r>
              <a:rPr sz="1450">
                <a:solidFill>
                  <a:srgbClr val="F5F3EC"/>
                </a:solidFill>
                <a:latin typeface="Arial"/>
              </a:rPr>
              <a:t>4. </a:t>
            </a:r>
            <a:r>
              <a:rPr sz="1450" b="1">
                <a:solidFill>
                  <a:srgbClr val="FFB454"/>
                </a:solidFill>
                <a:latin typeface="Arial"/>
              </a:rPr>
              <a:t>索尼與台積電計畫投資63億美元在日本成立影像感測器合資企業</a:t>
            </a:r>
            <a:r>
              <a:rPr sz="1450">
                <a:solidFill>
                  <a:srgbClr val="F5F3EC"/>
                </a:solidFill>
                <a:latin typeface="Arial"/>
              </a:rPr>
              <a:t> — DigiTimes [連結](https://www.digitimes.com/news/a20260810VL211/sony-tsmc-sensor-nikkei-production.html)</a:t>
            </a:r>
          </a:p>
        </p:txBody>
      </p:sp>
      <p:sp>
        <p:nvSpPr>
          <p:cNvPr id="10" name="Oval 9"/>
          <p:cNvSpPr/>
          <p:nvPr/>
        </p:nvSpPr>
        <p:spPr>
          <a:xfrm>
            <a:off x="594360" y="43616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33672"/>
            <a:ext cx="10698480" cy="877824"/>
          </a:xfrm>
          <a:prstGeom prst="rect">
            <a:avLst/>
          </a:prstGeom>
          <a:noFill/>
        </p:spPr>
        <p:txBody>
          <a:bodyPr wrap="square">
            <a:spAutoFit/>
          </a:bodyPr>
          <a:lstStyle/>
          <a:p>
            <a:pPr>
              <a:lnSpc>
                <a:spcPct val="115000"/>
              </a:lnSpc>
            </a:pPr>
            <a:r>
              <a:rPr sz="1450">
                <a:solidFill>
                  <a:srgbClr val="F5F3EC"/>
                </a:solidFill>
                <a:latin typeface="Arial"/>
              </a:rPr>
              <a:t>5. </a:t>
            </a:r>
            <a:r>
              <a:rPr sz="1450" b="1">
                <a:solidFill>
                  <a:srgbClr val="FFB454"/>
                </a:solidFill>
                <a:latin typeface="Arial"/>
              </a:rPr>
              <a:t>蘋果需求主導，台積電正式拍板與索尼影像感測器合作案</a:t>
            </a:r>
            <a:r>
              <a:rPr sz="1450">
                <a:solidFill>
                  <a:srgbClr val="F5F3EC"/>
                </a:solidFill>
                <a:latin typeface="Arial"/>
              </a:rPr>
              <a:t> — DigiTimes [連結](https://www.digitimes.com/news/a20260812PD206/tsmc-sony-capacity-apple-demand.html)</a:t>
            </a:r>
          </a:p>
        </p:txBody>
      </p:sp>
      <p:sp>
        <p:nvSpPr>
          <p:cNvPr id="12" name="Oval 11"/>
          <p:cNvSpPr/>
          <p:nvPr/>
        </p:nvSpPr>
        <p:spPr>
          <a:xfrm>
            <a:off x="594360" y="52395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111496"/>
            <a:ext cx="10698480" cy="1115568"/>
          </a:xfrm>
          <a:prstGeom prst="rect">
            <a:avLst/>
          </a:prstGeom>
          <a:noFill/>
        </p:spPr>
        <p:txBody>
          <a:bodyPr wrap="square">
            <a:spAutoFit/>
          </a:bodyPr>
          <a:lstStyle/>
          <a:p>
            <a:pPr>
              <a:lnSpc>
                <a:spcPct val="115000"/>
              </a:lnSpc>
            </a:pPr>
            <a:r>
              <a:rPr sz="1450">
                <a:solidFill>
                  <a:srgbClr val="F5F3EC"/>
                </a:solidFill>
                <a:latin typeface="Arial"/>
              </a:rPr>
              <a:t>6. </a:t>
            </a:r>
            <a:r>
              <a:rPr sz="1450" b="1">
                <a:solidFill>
                  <a:srgbClr val="FFB454"/>
                </a:solidFill>
                <a:latin typeface="Arial"/>
              </a:rPr>
              <a:t>中國唯捷光電投資7.41億美元發展磷化銦雷射晶片，進軍AI光互連領域</a:t>
            </a:r>
            <a:r>
              <a:rPr sz="1450">
                <a:solidFill>
                  <a:srgbClr val="F5F3EC"/>
                </a:solidFill>
                <a:latin typeface="Arial"/>
              </a:rPr>
              <a:t> — DigiTimes [連結](https://www.digitimes.com/news/a20260817PD215/inp-laser-chips-communications-manufacturing.html)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40 · SECTION</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附錄：本月參考來源</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877824"/>
          </a:xfrm>
          <a:prstGeom prst="rect">
            <a:avLst/>
          </a:prstGeom>
          <a:noFill/>
        </p:spPr>
        <p:txBody>
          <a:bodyPr wrap="square">
            <a:spAutoFit/>
          </a:bodyPr>
          <a:lstStyle/>
          <a:p>
            <a:pPr>
              <a:lnSpc>
                <a:spcPct val="115000"/>
              </a:lnSpc>
            </a:pPr>
            <a:r>
              <a:rPr sz="1450">
                <a:solidFill>
                  <a:srgbClr val="F5F3EC"/>
                </a:solidFill>
                <a:latin typeface="Arial"/>
              </a:rPr>
              <a:t>7. </a:t>
            </a:r>
            <a:r>
              <a:rPr sz="1450" b="1">
                <a:solidFill>
                  <a:srgbClr val="FFB454"/>
                </a:solidFill>
                <a:latin typeface="Arial"/>
              </a:rPr>
              <a:t>聯合光電發布2026年半年度報告：營收穩步增長並實現扭虧為盈</a:t>
            </a:r>
            <a:r>
              <a:rPr sz="1450">
                <a:solidFill>
                  <a:srgbClr val="F5F3EC"/>
                </a:solidFill>
                <a:latin typeface="Arial"/>
              </a:rPr>
              <a:t> — 投影時代 [連結](http://www.pjtime.com/2026/8/403351124737.shtml)</a:t>
            </a:r>
          </a:p>
        </p:txBody>
      </p:sp>
      <p:sp>
        <p:nvSpPr>
          <p:cNvPr id="6" name="Oval 5"/>
          <p:cNvSpPr/>
          <p:nvPr/>
        </p:nvSpPr>
        <p:spPr>
          <a:xfrm>
            <a:off x="594360" y="2606040"/>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478024"/>
            <a:ext cx="10698480" cy="1115568"/>
          </a:xfrm>
          <a:prstGeom prst="rect">
            <a:avLst/>
          </a:prstGeom>
          <a:noFill/>
        </p:spPr>
        <p:txBody>
          <a:bodyPr wrap="square">
            <a:spAutoFit/>
          </a:bodyPr>
          <a:lstStyle/>
          <a:p>
            <a:pPr>
              <a:lnSpc>
                <a:spcPct val="115000"/>
              </a:lnSpc>
            </a:pPr>
            <a:r>
              <a:rPr sz="1450">
                <a:solidFill>
                  <a:srgbClr val="F5F3EC"/>
                </a:solidFill>
                <a:latin typeface="Arial"/>
              </a:rPr>
              <a:t>8. </a:t>
            </a:r>
            <a:r>
              <a:rPr sz="1450" b="1">
                <a:solidFill>
                  <a:srgbClr val="FFB454"/>
                </a:solidFill>
                <a:latin typeface="Arial"/>
              </a:rPr>
              <a:t>環鴻科技旗下公司推出ELSFP雷射模組，積極拓展AI資料中心光互連市場</a:t>
            </a:r>
            <a:r>
              <a:rPr sz="1450">
                <a:solidFill>
                  <a:srgbClr val="F5F3EC"/>
                </a:solidFill>
                <a:latin typeface="Arial"/>
              </a:rPr>
              <a:t> — DigiTimes [連結](https://www.digitimes.com/news/a20260828PD226/usi-laser-data-data-center-production.html)</a:t>
            </a:r>
          </a:p>
        </p:txBody>
      </p:sp>
      <p:sp>
        <p:nvSpPr>
          <p:cNvPr id="8" name="Oval 7"/>
          <p:cNvSpPr/>
          <p:nvPr/>
        </p:nvSpPr>
        <p:spPr>
          <a:xfrm>
            <a:off x="594360" y="3721607"/>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593591"/>
            <a:ext cx="10698480" cy="402336"/>
          </a:xfrm>
          <a:prstGeom prst="rect">
            <a:avLst/>
          </a:prstGeom>
          <a:noFill/>
        </p:spPr>
        <p:txBody>
          <a:bodyPr wrap="square">
            <a:spAutoFit/>
          </a:bodyPr>
          <a:lstStyle/>
          <a:p>
            <a:pPr>
              <a:lnSpc>
                <a:spcPct val="115000"/>
              </a:lnSpc>
            </a:pPr>
            <a:r>
              <a:rPr sz="1450">
                <a:solidFill>
                  <a:srgbClr val="F5F3EC"/>
                </a:solidFill>
                <a:latin typeface="Arial"/>
              </a:rPr>
              <a:t>### 技術動態</a:t>
            </a:r>
          </a:p>
        </p:txBody>
      </p:sp>
      <p:sp>
        <p:nvSpPr>
          <p:cNvPr id="10" name="Oval 9"/>
          <p:cNvSpPr/>
          <p:nvPr/>
        </p:nvSpPr>
        <p:spPr>
          <a:xfrm>
            <a:off x="594360" y="4123944"/>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95928"/>
            <a:ext cx="10698480" cy="877824"/>
          </a:xfrm>
          <a:prstGeom prst="rect">
            <a:avLst/>
          </a:prstGeom>
          <a:noFill/>
        </p:spPr>
        <p:txBody>
          <a:bodyPr wrap="square">
            <a:spAutoFit/>
          </a:bodyPr>
          <a:lstStyle/>
          <a:p>
            <a:pPr>
              <a:lnSpc>
                <a:spcPct val="115000"/>
              </a:lnSpc>
            </a:pPr>
            <a:r>
              <a:rPr sz="1450">
                <a:solidFill>
                  <a:srgbClr val="F5F3EC"/>
                </a:solidFill>
                <a:latin typeface="Arial"/>
              </a:rPr>
              <a:t>1. </a:t>
            </a:r>
            <a:r>
              <a:rPr sz="1450" b="1">
                <a:solidFill>
                  <a:srgbClr val="FFB454"/>
                </a:solidFill>
                <a:latin typeface="Arial"/>
              </a:rPr>
              <a:t>投影機鏡頭資料庫與選配工具</a:t>
            </a:r>
            <a:r>
              <a:rPr sz="1450">
                <a:solidFill>
                  <a:srgbClr val="F5F3EC"/>
                </a:solidFill>
                <a:latin typeface="Arial"/>
              </a:rPr>
              <a:t> — ProjectorCentral [連結](https://www.projectorcentral.com/projector-lenses.htm)</a:t>
            </a:r>
          </a:p>
        </p:txBody>
      </p:sp>
      <p:sp>
        <p:nvSpPr>
          <p:cNvPr id="12" name="Oval 11"/>
          <p:cNvSpPr/>
          <p:nvPr/>
        </p:nvSpPr>
        <p:spPr>
          <a:xfrm>
            <a:off x="594360" y="500176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873752"/>
            <a:ext cx="10698480" cy="877824"/>
          </a:xfrm>
          <a:prstGeom prst="rect">
            <a:avLst/>
          </a:prstGeom>
          <a:noFill/>
        </p:spPr>
        <p:txBody>
          <a:bodyPr wrap="square">
            <a:spAutoFit/>
          </a:bodyPr>
          <a:lstStyle/>
          <a:p>
            <a:pPr>
              <a:lnSpc>
                <a:spcPct val="115000"/>
              </a:lnSpc>
            </a:pPr>
            <a:r>
              <a:rPr sz="1450">
                <a:solidFill>
                  <a:srgbClr val="F5F3EC"/>
                </a:solidFill>
                <a:latin typeface="Arial"/>
              </a:rPr>
              <a:t>2. </a:t>
            </a:r>
            <a:r>
              <a:rPr sz="1450" b="1">
                <a:solidFill>
                  <a:srgbClr val="FFB454"/>
                </a:solidFill>
                <a:latin typeface="Arial"/>
              </a:rPr>
              <a:t>Lightmatter 針對 AI 銅纜瓶頸推出光學互連藍圖</a:t>
            </a:r>
            <a:r>
              <a:rPr sz="1450">
                <a:solidFill>
                  <a:srgbClr val="F5F3EC"/>
                </a:solidFill>
                <a:latin typeface="Arial"/>
              </a:rPr>
              <a:t> — DigiTimes [連結](https://www.digitimes.com/news/a20260817PD218/copper-data-siph-cpo-photonics.html)</a:t>
            </a:r>
          </a:p>
        </p:txBody>
      </p:sp>
      <p:sp>
        <p:nvSpPr>
          <p:cNvPr id="14" name="TextBox 13"/>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961120" y="3200400"/>
            <a:ext cx="5486400" cy="5486400"/>
          </a:xfrm>
          <a:prstGeom prst="ellipse">
            <a:avLst/>
          </a:prstGeom>
          <a:solidFill>
            <a:srgbClr val="4C7E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0"/>
            <a:ext cx="9144000" cy="822960"/>
          </a:xfrm>
          <a:prstGeom prst="rect">
            <a:avLst/>
          </a:prstGeom>
          <a:noFill/>
        </p:spPr>
        <p:txBody>
          <a:bodyPr wrap="square" anchor="t">
            <a:spAutoFit/>
          </a:bodyPr>
          <a:lstStyle/>
          <a:p>
            <a:pPr algn="l"/>
            <a:r>
              <a:rPr sz="3000" b="1">
                <a:solidFill>
                  <a:srgbClr val="F5F3EC"/>
                </a:solidFill>
                <a:latin typeface="Arial"/>
              </a:rPr>
              <a:t>投影機情報站</a:t>
            </a:r>
          </a:p>
        </p:txBody>
      </p:sp>
      <p:sp>
        <p:nvSpPr>
          <p:cNvPr id="4" name="TextBox 3"/>
          <p:cNvSpPr txBox="1"/>
          <p:nvPr/>
        </p:nvSpPr>
        <p:spPr>
          <a:xfrm>
            <a:off x="731520" y="3611880"/>
            <a:ext cx="9144000" cy="457200"/>
          </a:xfrm>
          <a:prstGeom prst="rect">
            <a:avLst/>
          </a:prstGeom>
          <a:noFill/>
        </p:spPr>
        <p:txBody>
          <a:bodyPr wrap="square" anchor="t">
            <a:spAutoFit/>
          </a:bodyPr>
          <a:lstStyle/>
          <a:p>
            <a:pPr algn="l"/>
            <a:r>
              <a:rPr sz="1400" b="0">
                <a:solidFill>
                  <a:srgbClr val="9096A1"/>
                </a:solidFill>
                <a:latin typeface="Arial"/>
              </a:rPr>
              <a:t>由本站爬蟲每日追蹤產業動態，AI 自動摘要與分類</a:t>
            </a:r>
          </a:p>
        </p:txBody>
      </p:sp>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