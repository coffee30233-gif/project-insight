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5F3EC"/>
                </a:solidFill>
                <a:latin typeface="Arial"/>
              </a:rPr>
              <a:t>2026上半年全球投影機市場區域與技術出貨同比增減率 (%)</a:t>
            </a:r>
          </a:p>
        </c:rich>
      </c:tx>
      <c:layout/>
      <c:overlay val="0"/>
    </c:title>
    <c:autoTitleDeleted val="0"/>
    <c:plotArea>
      <c:barChart>
        <c:barDir val="col"/>
        <c:grouping val="clustered"/>
        <c:ser>
          <c:idx val="0"/>
          <c:order val="0"/>
          <c:tx>
            <c:strRef>
              <c:f>Sheet1!$B$1</c:f>
              <c:strCache>
                <c:ptCount val="1"/>
                <c:pt idx="0">
                  <c:v>同比增減率</c:v>
                </c:pt>
              </c:strCache>
            </c:strRef>
          </c:tx>
          <c:spPr>
            <a:solidFill>
              <a:srgbClr val="4C7EFF"/>
            </a:solidFill>
          </c:spPr>
          <c:cat>
            <c:strRef>
              <c:f>Sheet1!$A$2:$A$5</c:f>
              <c:strCache>
                <c:ptCount val="4"/>
                <c:pt idx="0">
                  <c:v>中國大陸市場</c:v>
                </c:pt>
                <c:pt idx="1">
                  <c:v>海外市場</c:v>
                </c:pt>
                <c:pt idx="2">
                  <c:v>全球整體出貨</c:v>
                </c:pt>
                <c:pt idx="3">
                  <c:v>雷射光源出貨</c:v>
                </c:pt>
              </c:strCache>
            </c:strRef>
          </c:cat>
          <c:val>
            <c:numRef>
              <c:f>Sheet1!$B$2:$B$5</c:f>
              <c:numCache>
                <c:formatCode>General</c:formatCode>
                <c:ptCount val="4"/>
                <c:pt idx="0">
                  <c:v>-16.8</c:v>
                </c:pt>
                <c:pt idx="1">
                  <c:v>-1.3</c:v>
                </c:pt>
                <c:pt idx="2">
                  <c:v>-5.3</c:v>
                </c:pt>
                <c:pt idx="3">
                  <c:v>14.9</c:v>
                </c:pt>
              </c:numCache>
            </c:numRef>
          </c:val>
        </c:ser>
        <c:dLbls>
          <c:txPr>
            <a:bodyPr/>
            <a:lstStyle/>
            <a:p>
              <a:pPr>
                <a:defRPr sz="1000">
                  <a:solidFill>
                    <a:srgbClr val="F5F3EC"/>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low"/>
        <c:spPr>
          <a:ln>
            <a:solidFill>
              <a:srgbClr val="2A2E38"/>
            </a:solidFill>
          </a:ln>
        </c:spPr>
        <c:txPr>
          <a:bodyPr/>
          <a:lstStyle/>
          <a:p>
            <a:pPr>
              <a:defRPr sz="1100">
                <a:solidFill>
                  <a:srgbClr val="9096A1"/>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2A2E38"/>
              </a:solidFill>
            </a:ln>
          </c:spPr>
        </c:majorGridlines>
        <c:majorTickMark val="out"/>
        <c:minorTickMark val="none"/>
        <c:tickLblPos val="nextTo"/>
        <c:spPr>
          <a:ln>
            <a:solidFill>
              <a:srgbClr val="2A2E38"/>
            </a:solidFill>
          </a:ln>
        </c:spPr>
        <c:txPr>
          <a:bodyPr/>
          <a:lstStyle/>
          <a:p>
            <a:pPr>
              <a:defRPr sz="1000">
                <a:solidFill>
                  <a:srgbClr val="9096A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5F3EC"/>
                </a:solidFill>
                <a:latin typeface="Arial"/>
              </a:rPr>
              <a:t>2026上半年全球投影機市場技術與光源市占/滲透率 (%)</a:t>
            </a:r>
          </a:p>
        </c:rich>
      </c:tx>
      <c:layout/>
      <c:overlay val="0"/>
    </c:title>
    <c:autoTitleDeleted val="0"/>
    <c:plotArea>
      <c:barChart>
        <c:barDir val="col"/>
        <c:grouping val="clustered"/>
        <c:ser>
          <c:idx val="0"/>
          <c:order val="0"/>
          <c:tx>
            <c:strRef>
              <c:f>Sheet1!$B$1</c:f>
              <c:strCache>
                <c:ptCount val="1"/>
                <c:pt idx="0">
                  <c:v>占比 (%)</c:v>
                </c:pt>
              </c:strCache>
            </c:strRef>
          </c:tx>
          <c:spPr>
            <a:solidFill>
              <a:srgbClr val="4C7EFF"/>
            </a:solidFill>
          </c:spPr>
          <c:cat>
            <c:strRef>
              <c:f>Sheet1!$A$2:$A$3</c:f>
              <c:strCache>
                <c:ptCount val="2"/>
                <c:pt idx="0">
                  <c:v>1LCD顯示技術市占率</c:v>
                </c:pt>
                <c:pt idx="1">
                  <c:v>雷射光源滲透率</c:v>
                </c:pt>
              </c:strCache>
            </c:strRef>
          </c:cat>
          <c:val>
            <c:numRef>
              <c:f>Sheet1!$B$2:$B$3</c:f>
              <c:numCache>
                <c:formatCode>General</c:formatCode>
                <c:ptCount val="2"/>
                <c:pt idx="0">
                  <c:v>70.0</c:v>
                </c:pt>
                <c:pt idx="1">
                  <c:v>11.7</c:v>
                </c:pt>
              </c:numCache>
            </c:numRef>
          </c:val>
        </c:ser>
        <c:dLbls>
          <c:txPr>
            <a:bodyPr/>
            <a:lstStyle/>
            <a:p>
              <a:pPr>
                <a:defRPr sz="1000">
                  <a:solidFill>
                    <a:srgbClr val="F5F3EC"/>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low"/>
        <c:spPr>
          <a:ln>
            <a:solidFill>
              <a:srgbClr val="2A2E38"/>
            </a:solidFill>
          </a:ln>
        </c:spPr>
        <c:txPr>
          <a:bodyPr/>
          <a:lstStyle/>
          <a:p>
            <a:pPr>
              <a:defRPr sz="1100">
                <a:solidFill>
                  <a:srgbClr val="9096A1"/>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2A2E38"/>
              </a:solidFill>
            </a:ln>
          </c:spPr>
        </c:majorGridlines>
        <c:majorTickMark val="out"/>
        <c:minorTickMark val="none"/>
        <c:tickLblPos val="nextTo"/>
        <c:spPr>
          <a:ln>
            <a:solidFill>
              <a:srgbClr val="2A2E38"/>
            </a:solidFill>
          </a:ln>
        </c:spPr>
        <c:txPr>
          <a:bodyPr/>
          <a:lstStyle/>
          <a:p>
            <a:pPr>
              <a:defRPr sz="1000">
                <a:solidFill>
                  <a:srgbClr val="9096A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 年 9 月 投影機產業月報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一、本月摘要</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591056"/>
          </a:xfrm>
          <a:prstGeom prst="rect">
            <a:avLst/>
          </a:prstGeom>
          <a:noFill/>
        </p:spPr>
        <p:txBody>
          <a:bodyPr wrap="square">
            <a:spAutoFit/>
          </a:bodyPr>
          <a:lstStyle/>
          <a:p>
            <a:pPr>
              <a:lnSpc>
                <a:spcPct val="115000"/>
              </a:lnSpc>
            </a:pPr>
            <a:r>
              <a:rPr sz="1450">
                <a:solidFill>
                  <a:srgbClr val="F5F3EC"/>
                </a:solidFill>
                <a:latin typeface="Arial"/>
              </a:rPr>
              <a:t>2026年上半年全球投影機市場出現總量收縮但結構升級的趨勢，中國大陸市場顯著回調拖累整體表現，但雷射光源出貨逆勢成長。本月適逢 IFA 2026 與 CEDIA 2026 兩大展會，4K 120Hz、RGB三色雷射以及高階影音處理晶片（如 Sony XR 晶片）成為旗艦家庭劇院新品的核心標配。同時，1LCD 顯示技術在供應鏈推進下邁向 LTPS 高刷新率與全封閉光機時代。在供應鏈方面，矽光子與光學互連技術快速發展，產業焦點由下游封測轉向雷射級基板與晶圓代工設備交期等上游瓶頸。</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graphicFrame>
        <p:nvGraphicFramePr>
          <p:cNvPr id="4" name="Chart 3"/>
          <p:cNvGraphicFramePr>
            <a:graphicFrameLocks noGrp="1"/>
          </p:cNvGraphicFramePr>
          <p:nvPr/>
        </p:nvGraphicFramePr>
        <p:xfrm>
          <a:off x="731520" y="155448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graphicFrame>
        <p:nvGraphicFramePr>
          <p:cNvPr id="4" name="Chart 3"/>
          <p:cNvGraphicFramePr>
            <a:graphicFrameLocks noGrp="1"/>
          </p:cNvGraphicFramePr>
          <p:nvPr/>
        </p:nvGraphicFramePr>
        <p:xfrm>
          <a:off x="731520" y="155448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sp>
        <p:nvSpPr>
          <p:cNvPr id="4" name="Rounded Rectangle 3"/>
          <p:cNvSpPr/>
          <p:nvPr/>
        </p:nvSpPr>
        <p:spPr>
          <a:xfrm>
            <a:off x="548640" y="1600200"/>
            <a:ext cx="5432907"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5030571" cy="457200"/>
          </a:xfrm>
          <a:prstGeom prst="rect">
            <a:avLst/>
          </a:prstGeom>
          <a:noFill/>
        </p:spPr>
        <p:txBody>
          <a:bodyPr wrap="square" anchor="t">
            <a:spAutoFit/>
          </a:bodyPr>
          <a:lstStyle/>
          <a:p>
            <a:pPr algn="l"/>
            <a:r>
              <a:rPr sz="2000" b="1">
                <a:solidFill>
                  <a:srgbClr val="4C7EFF"/>
                </a:solidFill>
                <a:latin typeface="Arial"/>
              </a:rPr>
              <a:t>DISCIE市場數據</a:t>
            </a:r>
          </a:p>
        </p:txBody>
      </p:sp>
      <p:sp>
        <p:nvSpPr>
          <p:cNvPr id="6" name="TextBox 5"/>
          <p:cNvSpPr txBox="1"/>
          <p:nvPr/>
        </p:nvSpPr>
        <p:spPr>
          <a:xfrm>
            <a:off x="749808" y="2258568"/>
            <a:ext cx="5030571" cy="3931920"/>
          </a:xfrm>
          <a:prstGeom prst="rect">
            <a:avLst/>
          </a:prstGeom>
          <a:noFill/>
        </p:spPr>
        <p:txBody>
          <a:bodyPr wrap="square">
            <a:normAutofit/>
          </a:bodyPr>
          <a:lstStyle/>
          <a:p>
            <a:pPr>
              <a:lnSpc>
                <a:spcPct val="120000"/>
              </a:lnSpc>
            </a:pPr>
            <a:r>
              <a:rPr sz="1550">
                <a:solidFill>
                  <a:srgbClr val="F5F3EC"/>
                </a:solidFill>
                <a:latin typeface="Arial"/>
              </a:rPr>
              <a:t>2026年上半年全球投影機總出貨量為1044.3萬台（同比下降5.3%），其中中國大陸市場衰退16.8%，海外市場僅微降1.3%；技術路線上1LCD以七成市占居首，DLP衰退最深，而雷射光源出貨量逆勢增長14.9%且滲透率達11.7%（投影時代）。</a:t>
            </a:r>
          </a:p>
        </p:txBody>
      </p:sp>
      <p:sp>
        <p:nvSpPr>
          <p:cNvPr id="7" name="Rounded Rectangle 6"/>
          <p:cNvSpPr/>
          <p:nvPr/>
        </p:nvSpPr>
        <p:spPr>
          <a:xfrm>
            <a:off x="6210147" y="1600200"/>
            <a:ext cx="5432907"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1315" y="1764792"/>
            <a:ext cx="5030571" cy="457200"/>
          </a:xfrm>
          <a:prstGeom prst="rect">
            <a:avLst/>
          </a:prstGeom>
          <a:noFill/>
        </p:spPr>
        <p:txBody>
          <a:bodyPr wrap="square" anchor="t">
            <a:spAutoFit/>
          </a:bodyPr>
          <a:lstStyle/>
          <a:p>
            <a:pPr algn="l"/>
            <a:r>
              <a:rPr sz="2000" b="1">
                <a:solidFill>
                  <a:srgbClr val="FFB454"/>
                </a:solidFill>
                <a:latin typeface="Arial"/>
              </a:rPr>
              <a:t>極米科技</a:t>
            </a:r>
          </a:p>
        </p:txBody>
      </p:sp>
      <p:sp>
        <p:nvSpPr>
          <p:cNvPr id="9" name="TextBox 8"/>
          <p:cNvSpPr txBox="1"/>
          <p:nvPr/>
        </p:nvSpPr>
        <p:spPr>
          <a:xfrm>
            <a:off x="6411315" y="2258568"/>
            <a:ext cx="5030571" cy="3931920"/>
          </a:xfrm>
          <a:prstGeom prst="rect">
            <a:avLst/>
          </a:prstGeom>
          <a:noFill/>
        </p:spPr>
        <p:txBody>
          <a:bodyPr wrap="square">
            <a:normAutofit/>
          </a:bodyPr>
          <a:lstStyle/>
          <a:p>
            <a:pPr>
              <a:lnSpc>
                <a:spcPct val="120000"/>
              </a:lnSpc>
            </a:pPr>
            <a:r>
              <a:rPr sz="1550">
                <a:solidFill>
                  <a:srgbClr val="F5F3EC"/>
                </a:solidFill>
                <a:latin typeface="Arial"/>
              </a:rPr>
              <a:t>70台投影設備於成都雙年展連續196天達成零故障運行，獲官方致函肯定，顯示消費級品牌正積極以高穩定性搶攻B端文化展演與商業顯示市場（投影時代）。</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a:t>
            </a:r>
          </a:p>
        </p:txBody>
      </p:sp>
      <p:graphicFrame>
        <p:nvGraphicFramePr>
          <p:cNvPr id="4" name="Table 3"/>
          <p:cNvGraphicFramePr>
            <a:graphicFrameLocks noGrp="1"/>
          </p:cNvGraphicFramePr>
          <p:nvPr/>
        </p:nvGraphicFramePr>
        <p:xfrm>
          <a:off x="548640" y="1691640"/>
          <a:ext cx="11094415" cy="3017520"/>
        </p:xfrm>
        <a:graphic>
          <a:graphicData uri="http://schemas.openxmlformats.org/drawingml/2006/table">
            <a:tbl>
              <a:tblPr bandRow="1">
                <a:tableStyleId>{5C22544A-7EE6-4342-B048-85BDC9FD1C3A}</a:tableStyleId>
              </a:tblPr>
              <a:tblGrid>
                <a:gridCol w="2773603"/>
                <a:gridCol w="2773603"/>
                <a:gridCol w="2773603"/>
                <a:gridCol w="2773606"/>
              </a:tblGrid>
              <a:tr h="502920">
                <a:tc>
                  <a:txBody>
                    <a:bodyPr/>
                    <a:lstStyle/>
                    <a:p>
                      <a:r>
                        <a:rPr sz="1300" b="1">
                          <a:solidFill>
                            <a:srgbClr val="FFB454"/>
                          </a:solidFill>
                          <a:latin typeface="Arial"/>
                        </a:rPr>
                        <a:t>型號</a:t>
                      </a:r>
                    </a:p>
                  </a:txBody>
                  <a:tcPr marL="91440" marR="91440" anchor="ctr">
                    <a:solidFill>
                      <a:srgbClr val="23262F"/>
                    </a:solidFill>
                  </a:tcPr>
                </a:tc>
                <a:tc>
                  <a:txBody>
                    <a:bodyPr/>
                    <a:lstStyle/>
                    <a:p>
                      <a:r>
                        <a:rPr sz="1300" b="1">
                          <a:solidFill>
                            <a:srgbClr val="FFB454"/>
                          </a:solidFill>
                          <a:latin typeface="Arial"/>
                        </a:rPr>
                        <a:t>光源/顯示技術</a:t>
                      </a:r>
                    </a:p>
                  </a:txBody>
                  <a:tcPr marL="91440" marR="91440" anchor="ctr">
                    <a:solidFill>
                      <a:srgbClr val="23262F"/>
                    </a:solidFill>
                  </a:tcPr>
                </a:tc>
                <a:tc>
                  <a:txBody>
                    <a:bodyPr/>
                    <a:lstStyle/>
                    <a:p>
                      <a:r>
                        <a:rPr sz="1300" b="1">
                          <a:solidFill>
                            <a:srgbClr val="FFB454"/>
                          </a:solidFill>
                          <a:latin typeface="Arial"/>
                        </a:rPr>
                        <a:t>解析度/亮度</a:t>
                      </a:r>
                    </a:p>
                  </a:txBody>
                  <a:tcPr marL="91440" marR="91440" anchor="ctr">
                    <a:solidFill>
                      <a:srgbClr val="23262F"/>
                    </a:solidFill>
                  </a:tcPr>
                </a:tc>
                <a:tc>
                  <a:txBody>
                    <a:bodyPr/>
                    <a:lstStyle/>
                    <a:p>
                      <a:r>
                        <a:rPr sz="1300" b="1">
                          <a:solidFill>
                            <a:srgbClr val="FFB454"/>
                          </a:solidFill>
                          <a:latin typeface="Arial"/>
                        </a:rPr>
                        <a:t>預估或促銷售價</a:t>
                      </a:r>
                    </a:p>
                  </a:txBody>
                  <a:tcPr marL="91440" marR="91440" anchor="ctr">
                    <a:solidFill>
                      <a:srgbClr val="23262F"/>
                    </a:solidFill>
                  </a:tcPr>
                </a:tc>
              </a:tr>
              <a:tr h="502920">
                <a:tc>
                  <a:txBody>
                    <a:bodyPr/>
                    <a:lstStyle/>
                    <a:p>
                      <a:r>
                        <a:rPr sz="1200" b="0">
                          <a:solidFill>
                            <a:srgbClr val="F5F3EC"/>
                          </a:solidFill>
                          <a:latin typeface="Arial"/>
                        </a:rPr>
                        <a:t>明基 W4200</a:t>
                      </a:r>
                    </a:p>
                  </a:txBody>
                  <a:tcPr marL="91440" marR="91440" anchor="ctr">
                    <a:solidFill>
                      <a:srgbClr val="1C1F26"/>
                    </a:solidFill>
                  </a:tcPr>
                </a:tc>
                <a:tc>
                  <a:txBody>
                    <a:bodyPr/>
                    <a:lstStyle/>
                    <a:p>
                      <a:r>
                        <a:rPr sz="1200" b="0">
                          <a:solidFill>
                            <a:srgbClr val="F5F3EC"/>
                          </a:solidFill>
                          <a:latin typeface="Arial"/>
                        </a:rPr>
                        <a:t>RGB三色雷射</a:t>
                      </a:r>
                    </a:p>
                  </a:txBody>
                  <a:tcPr marL="91440" marR="91440" anchor="ctr">
                    <a:solidFill>
                      <a:srgbClr val="1C1F26"/>
                    </a:solidFill>
                  </a:tcPr>
                </a:tc>
                <a:tc>
                  <a:txBody>
                    <a:bodyPr/>
                    <a:lstStyle/>
                    <a:p>
                      <a:r>
                        <a:rPr sz="1200" b="0">
                          <a:solidFill>
                            <a:srgbClr val="F5F3EC"/>
                          </a:solidFill>
                          <a:latin typeface="Arial"/>
                        </a:rPr>
                        <a:t>4K / 3200流明</a:t>
                      </a:r>
                    </a:p>
                  </a:txBody>
                  <a:tcPr marL="91440" marR="91440" anchor="ctr">
                    <a:solidFill>
                      <a:srgbClr val="1C1F26"/>
                    </a:solidFill>
                  </a:tcPr>
                </a:tc>
                <a:tc>
                  <a:txBody>
                    <a:bodyPr/>
                    <a:lstStyle/>
                    <a:p>
                      <a:r>
                        <a:rPr sz="1200" b="0">
                          <a:solidFill>
                            <a:srgbClr val="F5F3EC"/>
                          </a:solidFill>
                          <a:latin typeface="Arial"/>
                        </a:rPr>
                        <a:t>約4000歐元</a:t>
                      </a:r>
                    </a:p>
                  </a:txBody>
                  <a:tcPr marL="91440" marR="91440" anchor="ctr">
                    <a:solidFill>
                      <a:srgbClr val="1C1F26"/>
                    </a:solidFill>
                  </a:tcPr>
                </a:tc>
              </a:tr>
              <a:tr h="502920">
                <a:tc>
                  <a:txBody>
                    <a:bodyPr/>
                    <a:lstStyle/>
                    <a:p>
                      <a:r>
                        <a:rPr sz="1200" b="0">
                          <a:solidFill>
                            <a:srgbClr val="F5F3EC"/>
                          </a:solidFill>
                          <a:latin typeface="Arial"/>
                        </a:rPr>
                        <a:t>大眼橙 C5 Pro</a:t>
                      </a:r>
                    </a:p>
                  </a:txBody>
                  <a:tcPr marL="91440" marR="91440" anchor="ctr">
                    <a:solidFill>
                      <a:srgbClr val="23262F"/>
                    </a:solidFill>
                  </a:tcPr>
                </a:tc>
                <a:tc>
                  <a:txBody>
                    <a:bodyPr/>
                    <a:lstStyle/>
                    <a:p>
                      <a:r>
                        <a:rPr sz="1200" b="0">
                          <a:solidFill>
                            <a:srgbClr val="F5F3EC"/>
                          </a:solidFill>
                          <a:latin typeface="Arial"/>
                        </a:rPr>
                        <a:t>沙姆全屏光學</a:t>
                      </a:r>
                    </a:p>
                  </a:txBody>
                  <a:tcPr marL="91440" marR="91440" anchor="ctr">
                    <a:solidFill>
                      <a:srgbClr val="23262F"/>
                    </a:solidFill>
                  </a:tcPr>
                </a:tc>
                <a:tc>
                  <a:txBody>
                    <a:bodyPr/>
                    <a:lstStyle/>
                    <a:p>
                      <a:r>
                        <a:rPr sz="1200" b="0">
                          <a:solidFill>
                            <a:srgbClr val="F5F3EC"/>
                          </a:solidFill>
                          <a:latin typeface="Arial"/>
                        </a:rPr>
                        <a:t>1080P / 600CVIA</a:t>
                      </a:r>
                    </a:p>
                  </a:txBody>
                  <a:tcPr marL="91440" marR="91440" anchor="ctr">
                    <a:solidFill>
                      <a:srgbClr val="23262F"/>
                    </a:solidFill>
                  </a:tcPr>
                </a:tc>
                <a:tc>
                  <a:txBody>
                    <a:bodyPr/>
                    <a:lstStyle/>
                    <a:p>
                      <a:r>
                        <a:rPr sz="1200" b="0">
                          <a:solidFill>
                            <a:srgbClr val="F5F3EC"/>
                          </a:solidFill>
                          <a:latin typeface="Arial"/>
                        </a:rPr>
                        <a:t>1099元人民幣</a:t>
                      </a:r>
                    </a:p>
                  </a:txBody>
                  <a:tcPr marL="91440" marR="91440" anchor="ctr">
                    <a:solidFill>
                      <a:srgbClr val="23262F"/>
                    </a:solidFill>
                  </a:tcPr>
                </a:tc>
              </a:tr>
              <a:tr h="502920">
                <a:tc>
                  <a:txBody>
                    <a:bodyPr/>
                    <a:lstStyle/>
                    <a:p>
                      <a:r>
                        <a:rPr sz="1200" b="0">
                          <a:solidFill>
                            <a:srgbClr val="F5F3EC"/>
                          </a:solidFill>
                          <a:latin typeface="Arial"/>
                        </a:rPr>
                        <a:t>騰訊極光 F5</a:t>
                      </a:r>
                    </a:p>
                  </a:txBody>
                  <a:tcPr marL="91440" marR="91440" anchor="ctr">
                    <a:solidFill>
                      <a:srgbClr val="1C1F26"/>
                    </a:solidFill>
                  </a:tcPr>
                </a:tc>
                <a:tc>
                  <a:txBody>
                    <a:bodyPr/>
                    <a:lstStyle/>
                    <a:p>
                      <a:r>
                        <a:rPr sz="1200" b="0">
                          <a:solidFill>
                            <a:srgbClr val="F5F3EC"/>
                          </a:solidFill>
                          <a:latin typeface="Arial"/>
                        </a:rPr>
                        <a:t>全封閉光機</a:t>
                      </a:r>
                    </a:p>
                  </a:txBody>
                  <a:tcPr marL="91440" marR="91440" anchor="ctr">
                    <a:solidFill>
                      <a:srgbClr val="1C1F26"/>
                    </a:solidFill>
                  </a:tcPr>
                </a:tc>
                <a:tc>
                  <a:txBody>
                    <a:bodyPr/>
                    <a:lstStyle/>
                    <a:p>
                      <a:r>
                        <a:rPr sz="1200" b="0">
                          <a:solidFill>
                            <a:srgbClr val="F5F3EC"/>
                          </a:solidFill>
                          <a:latin typeface="Arial"/>
                        </a:rPr>
                        <a:t>1080P / 345CVIA</a:t>
                      </a:r>
                    </a:p>
                  </a:txBody>
                  <a:tcPr marL="91440" marR="91440" anchor="ctr">
                    <a:solidFill>
                      <a:srgbClr val="1C1F26"/>
                    </a:solidFill>
                  </a:tcPr>
                </a:tc>
                <a:tc>
                  <a:txBody>
                    <a:bodyPr/>
                    <a:lstStyle/>
                    <a:p>
                      <a:r>
                        <a:rPr sz="1200" b="0">
                          <a:solidFill>
                            <a:srgbClr val="F5F3EC"/>
                          </a:solidFill>
                          <a:latin typeface="Arial"/>
                        </a:rPr>
                        <a:t>822元人民幣</a:t>
                      </a:r>
                    </a:p>
                  </a:txBody>
                  <a:tcPr marL="91440" marR="91440" anchor="ctr">
                    <a:solidFill>
                      <a:srgbClr val="1C1F26"/>
                    </a:solidFill>
                  </a:tcPr>
                </a:tc>
              </a:tr>
              <a:tr h="502920">
                <a:tc>
                  <a:txBody>
                    <a:bodyPr/>
                    <a:lstStyle/>
                    <a:p>
                      <a:r>
                        <a:rPr sz="1200" b="0">
                          <a:solidFill>
                            <a:srgbClr val="F5F3EC"/>
                          </a:solidFill>
                          <a:latin typeface="Arial"/>
                        </a:rPr>
                        <a:t>堅果 MIGO</a:t>
                      </a:r>
                    </a:p>
                  </a:txBody>
                  <a:tcPr marL="91440" marR="91440" anchor="ctr">
                    <a:solidFill>
                      <a:srgbClr val="23262F"/>
                    </a:solidFill>
                  </a:tcPr>
                </a:tc>
                <a:tc>
                  <a:txBody>
                    <a:bodyPr/>
                    <a:lstStyle/>
                    <a:p>
                      <a:r>
                        <a:rPr sz="1200" b="0">
                          <a:solidFill>
                            <a:srgbClr val="F5F3EC"/>
                          </a:solidFill>
                          <a:latin typeface="Arial"/>
                        </a:rPr>
                        <a:t>DLP</a:t>
                      </a:r>
                    </a:p>
                  </a:txBody>
                  <a:tcPr marL="91440" marR="91440" anchor="ctr">
                    <a:solidFill>
                      <a:srgbClr val="23262F"/>
                    </a:solidFill>
                  </a:tcPr>
                </a:tc>
                <a:tc>
                  <a:txBody>
                    <a:bodyPr/>
                    <a:lstStyle/>
                    <a:p>
                      <a:r>
                        <a:rPr sz="1200" b="0">
                          <a:solidFill>
                            <a:srgbClr val="F5F3EC"/>
                          </a:solidFill>
                          <a:latin typeface="Arial"/>
                        </a:rPr>
                        <a:t>1080P / 750CVIA</a:t>
                      </a:r>
                    </a:p>
                  </a:txBody>
                  <a:tcPr marL="91440" marR="91440" anchor="ctr">
                    <a:solidFill>
                      <a:srgbClr val="23262F"/>
                    </a:solidFill>
                  </a:tcPr>
                </a:tc>
                <a:tc>
                  <a:txBody>
                    <a:bodyPr/>
                    <a:lstStyle/>
                    <a:p>
                      <a:r>
                        <a:rPr sz="1200" b="0">
                          <a:solidFill>
                            <a:srgbClr val="F5F3EC"/>
                          </a:solidFill>
                          <a:latin typeface="Arial"/>
                        </a:rPr>
                        <a:t>1599.3元人民幣</a:t>
                      </a:r>
                    </a:p>
                  </a:txBody>
                  <a:tcPr marL="91440" marR="91440" anchor="ctr">
                    <a:solidFill>
                      <a:srgbClr val="23262F"/>
                    </a:solidFill>
                  </a:tcPr>
                </a:tc>
              </a:tr>
              <a:tr h="502920">
                <a:tc>
                  <a:txBody>
                    <a:bodyPr/>
                    <a:lstStyle/>
                    <a:p>
                      <a:r>
                        <a:rPr sz="1200" b="0">
                          <a:solidFill>
                            <a:srgbClr val="F5F3EC"/>
                          </a:solidFill>
                          <a:latin typeface="Arial"/>
                        </a:rPr>
                        <a:t>soundcore Nebula X1S</a:t>
                      </a:r>
                    </a:p>
                  </a:txBody>
                  <a:tcPr marL="91440" marR="91440" anchor="ctr">
                    <a:solidFill>
                      <a:srgbClr val="1C1F26"/>
                    </a:solidFill>
                  </a:tcPr>
                </a:tc>
                <a:tc>
                  <a:txBody>
                    <a:bodyPr/>
                    <a:lstStyle/>
                    <a:p>
                      <a:r>
                        <a:rPr sz="1200" b="0">
                          <a:solidFill>
                            <a:srgbClr val="F5F3EC"/>
                          </a:solidFill>
                          <a:latin typeface="Arial"/>
                        </a:rPr>
                        <a:t>RGB雷射</a:t>
                      </a:r>
                    </a:p>
                  </a:txBody>
                  <a:tcPr marL="91440" marR="91440" anchor="ctr">
                    <a:solidFill>
                      <a:srgbClr val="1C1F26"/>
                    </a:solidFill>
                  </a:tcPr>
                </a:tc>
                <a:tc>
                  <a:txBody>
                    <a:bodyPr/>
                    <a:lstStyle/>
                    <a:p>
                      <a:r>
                        <a:rPr sz="1200" b="0">
                          <a:solidFill>
                            <a:srgbClr val="F5F3EC"/>
                          </a:solidFill>
                          <a:latin typeface="Arial"/>
                        </a:rPr>
                        <a:t>4K / 6000流明</a:t>
                      </a:r>
                    </a:p>
                  </a:txBody>
                  <a:tcPr marL="91440" marR="91440" anchor="ctr">
                    <a:solidFill>
                      <a:srgbClr val="1C1F26"/>
                    </a:solidFill>
                  </a:tcPr>
                </a:tc>
                <a:tc>
                  <a:txBody>
                    <a:bodyPr/>
                    <a:lstStyle/>
                    <a:p>
                      <a:r>
                        <a:rPr sz="1200" b="0">
                          <a:solidFill>
                            <a:srgbClr val="F5F3EC"/>
                          </a:solidFill>
                          <a:latin typeface="Arial"/>
                        </a:rPr>
                        <a:t>2499美元起</a:t>
                      </a:r>
                    </a:p>
                  </a:txBody>
                  <a:tcPr marL="91440" marR="91440" anchor="ctr">
                    <a:solidFill>
                      <a:srgbClr val="1C1F26"/>
                    </a:solidFill>
                  </a:tcPr>
                </a:tc>
              </a:tr>
            </a:tbl>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07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三、新品與品牌動態（1/2）</a:t>
            </a:r>
          </a:p>
        </p:txBody>
      </p:sp>
      <p:sp>
        <p:nvSpPr>
          <p:cNvPr id="4" name="Rounded Rectangle 3"/>
          <p:cNvSpPr/>
          <p:nvPr/>
        </p:nvSpPr>
        <p:spPr>
          <a:xfrm>
            <a:off x="548640" y="1600200"/>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600" b="1">
                <a:solidFill>
                  <a:srgbClr val="4C7EFF"/>
                </a:solidFill>
                <a:latin typeface="Arial"/>
              </a:rPr>
              <a:t>極米科技</a:t>
            </a:r>
          </a:p>
        </p:txBody>
      </p:sp>
      <p:sp>
        <p:nvSpPr>
          <p:cNvPr id="6" name="TextBox 5"/>
          <p:cNvSpPr txBox="1"/>
          <p:nvPr/>
        </p:nvSpPr>
        <p:spPr>
          <a:xfrm>
            <a:off x="749808" y="2258568"/>
            <a:ext cx="3143402" cy="1440180"/>
          </a:xfrm>
          <a:prstGeom prst="rect">
            <a:avLst/>
          </a:prstGeom>
          <a:noFill/>
        </p:spPr>
        <p:txBody>
          <a:bodyPr wrap="square">
            <a:normAutofit/>
          </a:bodyPr>
          <a:lstStyle/>
          <a:p>
            <a:pPr>
              <a:lnSpc>
                <a:spcPct val="120000"/>
              </a:lnSpc>
            </a:pPr>
            <a:r>
              <a:rPr sz="1000">
                <a:solidFill>
                  <a:srgbClr val="F5F3EC"/>
                </a:solidFill>
                <a:latin typeface="Arial"/>
              </a:rPr>
              <a:t>於IFA與CEDIA展出AURA 3系列4K 120Hz RGB三色雷射超短焦新品及TITAN Noir系列，並發表12000至25000流明的昆侖純三色雷射工程機，同時結盟AWALL推出XWALL子品牌進入美國高端客製化安裝市場（投影時代、XGIMI官方、ProjectorCentral）。</a:t>
            </a:r>
          </a:p>
        </p:txBody>
      </p:sp>
      <p:sp>
        <p:nvSpPr>
          <p:cNvPr id="7" name="Rounded Rectangle 6"/>
          <p:cNvSpPr/>
          <p:nvPr/>
        </p:nvSpPr>
        <p:spPr>
          <a:xfrm>
            <a:off x="4322978" y="1600200"/>
            <a:ext cx="3545738" cy="226314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600" b="1">
                <a:solidFill>
                  <a:srgbClr val="FFB454"/>
                </a:solidFill>
                <a:latin typeface="Arial"/>
              </a:rPr>
              <a:t>愛普生</a:t>
            </a:r>
          </a:p>
        </p:txBody>
      </p:sp>
      <p:sp>
        <p:nvSpPr>
          <p:cNvPr id="9" name="TextBox 8"/>
          <p:cNvSpPr txBox="1"/>
          <p:nvPr/>
        </p:nvSpPr>
        <p:spPr>
          <a:xfrm>
            <a:off x="4524146" y="2258568"/>
            <a:ext cx="3143402" cy="1440180"/>
          </a:xfrm>
          <a:prstGeom prst="rect">
            <a:avLst/>
          </a:prstGeom>
          <a:noFill/>
        </p:spPr>
        <p:txBody>
          <a:bodyPr wrap="square">
            <a:normAutofit/>
          </a:bodyPr>
          <a:lstStyle/>
          <a:p>
            <a:pPr>
              <a:lnSpc>
                <a:spcPct val="120000"/>
              </a:lnSpc>
            </a:pPr>
            <a:r>
              <a:rPr sz="1000">
                <a:solidFill>
                  <a:srgbClr val="F5F3EC"/>
                </a:solidFill>
                <a:latin typeface="Arial"/>
              </a:rPr>
              <a:t>發表品牌首款一體式dvLED顯示器拓展大型商用市場，並推出全新Home Cinema三晶片3LCD雷射系列與清亮全彩護眼系列家用投影機（AV Network、Epson官方、投影時代）。</a:t>
            </a:r>
          </a:p>
        </p:txBody>
      </p:sp>
      <p:sp>
        <p:nvSpPr>
          <p:cNvPr id="10" name="Rounded Rectangle 9"/>
          <p:cNvSpPr/>
          <p:nvPr/>
        </p:nvSpPr>
        <p:spPr>
          <a:xfrm>
            <a:off x="8097316" y="1600200"/>
            <a:ext cx="3545738" cy="226314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600" b="1">
                <a:solidFill>
                  <a:srgbClr val="8B7FD6"/>
                </a:solidFill>
                <a:latin typeface="Arial"/>
              </a:rPr>
              <a:t>索尼</a:t>
            </a:r>
          </a:p>
        </p:txBody>
      </p:sp>
      <p:sp>
        <p:nvSpPr>
          <p:cNvPr id="12" name="TextBox 11"/>
          <p:cNvSpPr txBox="1"/>
          <p:nvPr/>
        </p:nvSpPr>
        <p:spPr>
          <a:xfrm>
            <a:off x="8298484" y="2258568"/>
            <a:ext cx="3143402" cy="1440180"/>
          </a:xfrm>
          <a:prstGeom prst="rect">
            <a:avLst/>
          </a:prstGeom>
          <a:noFill/>
        </p:spPr>
        <p:txBody>
          <a:bodyPr wrap="square">
            <a:normAutofit/>
          </a:bodyPr>
          <a:lstStyle/>
          <a:p>
            <a:pPr>
              <a:lnSpc>
                <a:spcPct val="120000"/>
              </a:lnSpc>
            </a:pPr>
            <a:r>
              <a:rPr sz="1000">
                <a:solidFill>
                  <a:srgbClr val="F5F3EC"/>
                </a:solidFill>
                <a:latin typeface="Arial"/>
              </a:rPr>
              <a:t>於CEDIA 2026發表全面導入XR處理器的Bravia Projector 7（XW5100ES）及Projector 8/9系列高端家用劇院投影機（ProjectorCentral）。</a:t>
            </a:r>
          </a:p>
        </p:txBody>
      </p:sp>
      <p:sp>
        <p:nvSpPr>
          <p:cNvPr id="13" name="Rounded Rectangle 12"/>
          <p:cNvSpPr/>
          <p:nvPr/>
        </p:nvSpPr>
        <p:spPr>
          <a:xfrm>
            <a:off x="548640" y="4091939"/>
            <a:ext cx="3545738" cy="2263140"/>
          </a:xfrm>
          <a:prstGeom prst="roundRect">
            <a:avLst>
              <a:gd name="adj" fmla="val 6000"/>
            </a:avLst>
          </a:prstGeom>
          <a:solidFill>
            <a:srgbClr val="23262F"/>
          </a:solidFill>
          <a:ln w="12700">
            <a:solidFill>
              <a:srgbClr val="6FC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256531"/>
            <a:ext cx="3143402" cy="457200"/>
          </a:xfrm>
          <a:prstGeom prst="rect">
            <a:avLst/>
          </a:prstGeom>
          <a:noFill/>
        </p:spPr>
        <p:txBody>
          <a:bodyPr wrap="square" anchor="t">
            <a:spAutoFit/>
          </a:bodyPr>
          <a:lstStyle/>
          <a:p>
            <a:pPr algn="l"/>
            <a:r>
              <a:rPr sz="1600" b="1">
                <a:solidFill>
                  <a:srgbClr val="6FCF97"/>
                </a:solidFill>
                <a:latin typeface="Arial"/>
              </a:rPr>
              <a:t>大眼橙</a:t>
            </a:r>
          </a:p>
        </p:txBody>
      </p:sp>
      <p:sp>
        <p:nvSpPr>
          <p:cNvPr id="15" name="TextBox 14"/>
          <p:cNvSpPr txBox="1"/>
          <p:nvPr/>
        </p:nvSpPr>
        <p:spPr>
          <a:xfrm>
            <a:off x="749808" y="4750307"/>
            <a:ext cx="3143402" cy="1440180"/>
          </a:xfrm>
          <a:prstGeom prst="rect">
            <a:avLst/>
          </a:prstGeom>
          <a:noFill/>
        </p:spPr>
        <p:txBody>
          <a:bodyPr wrap="square">
            <a:normAutofit/>
          </a:bodyPr>
          <a:lstStyle/>
          <a:p>
            <a:pPr>
              <a:lnSpc>
                <a:spcPct val="120000"/>
              </a:lnSpc>
            </a:pPr>
            <a:r>
              <a:rPr sz="1000">
                <a:solidFill>
                  <a:srgbClr val="F5F3EC"/>
                </a:solidFill>
                <a:latin typeface="Arial"/>
              </a:rPr>
              <a:t>攜手TCL華星發表搭載客製化面板的1LCD新品，首度將LTPS原生120Hz刷新率與MEMC導入1LCD投影，配合全封閉光機使暗場對比達20000:1（投影時代）。</a:t>
            </a:r>
          </a:p>
        </p:txBody>
      </p:sp>
      <p:sp>
        <p:nvSpPr>
          <p:cNvPr id="16" name="Rounded Rectangle 15"/>
          <p:cNvSpPr/>
          <p:nvPr/>
        </p:nvSpPr>
        <p:spPr>
          <a:xfrm>
            <a:off x="4322978" y="4091939"/>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4146" y="4256531"/>
            <a:ext cx="3143402" cy="457200"/>
          </a:xfrm>
          <a:prstGeom prst="rect">
            <a:avLst/>
          </a:prstGeom>
          <a:noFill/>
        </p:spPr>
        <p:txBody>
          <a:bodyPr wrap="square" anchor="t">
            <a:spAutoFit/>
          </a:bodyPr>
          <a:lstStyle/>
          <a:p>
            <a:pPr algn="l"/>
            <a:r>
              <a:rPr sz="1600" b="1">
                <a:solidFill>
                  <a:srgbClr val="4C7EFF"/>
                </a:solidFill>
                <a:latin typeface="Arial"/>
              </a:rPr>
              <a:t>明基</a:t>
            </a:r>
          </a:p>
        </p:txBody>
      </p:sp>
      <p:sp>
        <p:nvSpPr>
          <p:cNvPr id="18" name="TextBox 17"/>
          <p:cNvSpPr txBox="1"/>
          <p:nvPr/>
        </p:nvSpPr>
        <p:spPr>
          <a:xfrm>
            <a:off x="4524146" y="4750307"/>
            <a:ext cx="3143402" cy="1440180"/>
          </a:xfrm>
          <a:prstGeom prst="rect">
            <a:avLst/>
          </a:prstGeom>
          <a:noFill/>
        </p:spPr>
        <p:txBody>
          <a:bodyPr wrap="square">
            <a:normAutofit/>
          </a:bodyPr>
          <a:lstStyle/>
          <a:p>
            <a:pPr>
              <a:lnSpc>
                <a:spcPct val="120000"/>
              </a:lnSpc>
            </a:pPr>
            <a:r>
              <a:rPr sz="1000">
                <a:solidFill>
                  <a:srgbClr val="F5F3EC"/>
                </a:solidFill>
                <a:latin typeface="Arial"/>
              </a:rPr>
              <a:t>推出旗艦家庭影院投影機W4200，採用三色RGB雷射與全玻璃電動鏡頭，搭載聯發科MT9681晶片並支援杜比視界與IMAX Enhanced（投影時代）。</a:t>
            </a:r>
          </a:p>
        </p:txBody>
      </p:sp>
      <p:sp>
        <p:nvSpPr>
          <p:cNvPr id="19" name="Rounded Rectangle 18"/>
          <p:cNvSpPr/>
          <p:nvPr/>
        </p:nvSpPr>
        <p:spPr>
          <a:xfrm>
            <a:off x="8097316" y="4091939"/>
            <a:ext cx="3545738" cy="226314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8484" y="4256531"/>
            <a:ext cx="3143402" cy="457200"/>
          </a:xfrm>
          <a:prstGeom prst="rect">
            <a:avLst/>
          </a:prstGeom>
          <a:noFill/>
        </p:spPr>
        <p:txBody>
          <a:bodyPr wrap="square" anchor="t">
            <a:spAutoFit/>
          </a:bodyPr>
          <a:lstStyle/>
          <a:p>
            <a:pPr algn="l"/>
            <a:r>
              <a:rPr sz="1600" b="1">
                <a:solidFill>
                  <a:srgbClr val="FFB454"/>
                </a:solidFill>
                <a:latin typeface="Arial"/>
              </a:rPr>
              <a:t>科視Christie</a:t>
            </a:r>
          </a:p>
        </p:txBody>
      </p:sp>
      <p:sp>
        <p:nvSpPr>
          <p:cNvPr id="21" name="TextBox 20"/>
          <p:cNvSpPr txBox="1"/>
          <p:nvPr/>
        </p:nvSpPr>
        <p:spPr>
          <a:xfrm>
            <a:off x="8298484" y="4750307"/>
            <a:ext cx="3143402" cy="1440180"/>
          </a:xfrm>
          <a:prstGeom prst="rect">
            <a:avLst/>
          </a:prstGeom>
          <a:noFill/>
        </p:spPr>
        <p:txBody>
          <a:bodyPr wrap="square">
            <a:normAutofit/>
          </a:bodyPr>
          <a:lstStyle/>
          <a:p>
            <a:pPr>
              <a:lnSpc>
                <a:spcPct val="120000"/>
              </a:lnSpc>
            </a:pPr>
            <a:r>
              <a:rPr sz="1000">
                <a:solidFill>
                  <a:srgbClr val="F5F3EC"/>
                </a:solidFill>
                <a:latin typeface="Arial"/>
              </a:rPr>
              <a:t>升級上海300平米演示室，展示Eclipse G3純雷射系統，並於InfoComm India及CEDIA展出Korus系列1DLP 4K雷射工程投影機（投影時代、ProjectorCentral）。</a:t>
            </a:r>
          </a:p>
        </p:txBody>
      </p:sp>
      <p:sp>
        <p:nvSpPr>
          <p:cNvPr id="22" name="TextBox 2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08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三、新品與品牌動態（2/2）</a:t>
            </a:r>
          </a:p>
        </p:txBody>
      </p:sp>
      <p:sp>
        <p:nvSpPr>
          <p:cNvPr id="4" name="Rounded Rectangle 3"/>
          <p:cNvSpPr/>
          <p:nvPr/>
        </p:nvSpPr>
        <p:spPr>
          <a:xfrm>
            <a:off x="548640" y="1600200"/>
            <a:ext cx="5432907"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5030571" cy="457200"/>
          </a:xfrm>
          <a:prstGeom prst="rect">
            <a:avLst/>
          </a:prstGeom>
          <a:noFill/>
        </p:spPr>
        <p:txBody>
          <a:bodyPr wrap="square" anchor="t">
            <a:spAutoFit/>
          </a:bodyPr>
          <a:lstStyle/>
          <a:p>
            <a:pPr algn="l"/>
            <a:r>
              <a:rPr sz="2000" b="1">
                <a:solidFill>
                  <a:srgbClr val="4C7EFF"/>
                </a:solidFill>
                <a:latin typeface="Arial"/>
              </a:rPr>
              <a:t>AWOL Vision</a:t>
            </a:r>
          </a:p>
        </p:txBody>
      </p:sp>
      <p:sp>
        <p:nvSpPr>
          <p:cNvPr id="6" name="TextBox 5"/>
          <p:cNvSpPr txBox="1"/>
          <p:nvPr/>
        </p:nvSpPr>
        <p:spPr>
          <a:xfrm>
            <a:off x="749808" y="2258568"/>
            <a:ext cx="5030571" cy="3931920"/>
          </a:xfrm>
          <a:prstGeom prst="rect">
            <a:avLst/>
          </a:prstGeom>
          <a:noFill/>
        </p:spPr>
        <p:txBody>
          <a:bodyPr wrap="square">
            <a:normAutofit/>
          </a:bodyPr>
          <a:lstStyle/>
          <a:p>
            <a:pPr>
              <a:lnSpc>
                <a:spcPct val="120000"/>
              </a:lnSpc>
            </a:pPr>
            <a:r>
              <a:rPr sz="1550">
                <a:solidFill>
                  <a:srgbClr val="F5F3EC"/>
                </a:solidFill>
                <a:latin typeface="Arial"/>
              </a:rPr>
              <a:t>發表旗艦超短焦 LuxVision 及 True 4K 120Hz 三雷射超短焦機型（投影時代、ProjectorCentral）。</a:t>
            </a:r>
          </a:p>
        </p:txBody>
      </p:sp>
      <p:sp>
        <p:nvSpPr>
          <p:cNvPr id="7" name="Rounded Rectangle 6"/>
          <p:cNvSpPr/>
          <p:nvPr/>
        </p:nvSpPr>
        <p:spPr>
          <a:xfrm>
            <a:off x="6210147" y="1600200"/>
            <a:ext cx="5432907"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1315" y="1764792"/>
            <a:ext cx="5030571" cy="457200"/>
          </a:xfrm>
          <a:prstGeom prst="rect">
            <a:avLst/>
          </a:prstGeom>
          <a:noFill/>
        </p:spPr>
        <p:txBody>
          <a:bodyPr wrap="square" anchor="t">
            <a:spAutoFit/>
          </a:bodyPr>
          <a:lstStyle/>
          <a:p>
            <a:pPr algn="l"/>
            <a:r>
              <a:rPr sz="2000" b="1">
                <a:solidFill>
                  <a:srgbClr val="FFB454"/>
                </a:solidFill>
                <a:latin typeface="Arial"/>
              </a:rPr>
              <a:t>視美樂與索諾克</a:t>
            </a:r>
          </a:p>
        </p:txBody>
      </p:sp>
      <p:sp>
        <p:nvSpPr>
          <p:cNvPr id="9" name="TextBox 8"/>
          <p:cNvSpPr txBox="1"/>
          <p:nvPr/>
        </p:nvSpPr>
        <p:spPr>
          <a:xfrm>
            <a:off x="6411315" y="2258568"/>
            <a:ext cx="5030571" cy="3931920"/>
          </a:xfrm>
          <a:prstGeom prst="rect">
            <a:avLst/>
          </a:prstGeom>
          <a:noFill/>
        </p:spPr>
        <p:txBody>
          <a:bodyPr wrap="square">
            <a:normAutofit/>
          </a:bodyPr>
          <a:lstStyle/>
          <a:p>
            <a:pPr>
              <a:lnSpc>
                <a:spcPct val="120000"/>
              </a:lnSpc>
            </a:pPr>
            <a:r>
              <a:rPr sz="1550">
                <a:solidFill>
                  <a:srgbClr val="F5F3EC"/>
                </a:solidFill>
                <a:latin typeface="Arial"/>
              </a:rPr>
              <a:t>視美樂發表全新L系列工程投影機；索諾克則展出喜馬拉雅與天山系列，並以領航系列雷射工程機導入多個博物館與文博沉浸式展廳（投影時代）。</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09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四、技術動態</a:t>
            </a:r>
          </a:p>
        </p:txBody>
      </p:sp>
      <p:sp>
        <p:nvSpPr>
          <p:cNvPr id="4" name="Rounded Rectangle 3"/>
          <p:cNvSpPr/>
          <p:nvPr/>
        </p:nvSpPr>
        <p:spPr>
          <a:xfrm>
            <a:off x="548640" y="1600200"/>
            <a:ext cx="2602153"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2199817" cy="457200"/>
          </a:xfrm>
          <a:prstGeom prst="rect">
            <a:avLst/>
          </a:prstGeom>
          <a:noFill/>
        </p:spPr>
        <p:txBody>
          <a:bodyPr wrap="square" anchor="t">
            <a:spAutoFit/>
          </a:bodyPr>
          <a:lstStyle/>
          <a:p>
            <a:pPr algn="l"/>
            <a:r>
              <a:rPr sz="1700" b="1">
                <a:solidFill>
                  <a:srgbClr val="4C7EFF"/>
                </a:solidFill>
                <a:latin typeface="Arial"/>
              </a:rPr>
              <a:t>海信JUOS系統</a:t>
            </a:r>
          </a:p>
        </p:txBody>
      </p:sp>
      <p:sp>
        <p:nvSpPr>
          <p:cNvPr id="6" name="TextBox 5"/>
          <p:cNvSpPr txBox="1"/>
          <p:nvPr/>
        </p:nvSpPr>
        <p:spPr>
          <a:xfrm>
            <a:off x="749808" y="2258568"/>
            <a:ext cx="2199817" cy="3931920"/>
          </a:xfrm>
          <a:prstGeom prst="rect">
            <a:avLst/>
          </a:prstGeom>
          <a:noFill/>
        </p:spPr>
        <p:txBody>
          <a:bodyPr wrap="square">
            <a:normAutofit/>
          </a:bodyPr>
          <a:lstStyle/>
          <a:p>
            <a:pPr>
              <a:lnSpc>
                <a:spcPct val="120000"/>
              </a:lnSpc>
            </a:pPr>
            <a:r>
              <a:rPr sz="1350">
                <a:solidFill>
                  <a:srgbClr val="F5F3EC"/>
                </a:solidFill>
                <a:latin typeface="Arial"/>
              </a:rPr>
              <a:t>發表家庭智慧作業系統JUOS，搭載星海大模型與四大原生引擎，原生適配智慧投影機與家電設備（ZNDS投影頻道）。</a:t>
            </a:r>
          </a:p>
        </p:txBody>
      </p:sp>
      <p:sp>
        <p:nvSpPr>
          <p:cNvPr id="7" name="Rounded Rectangle 6"/>
          <p:cNvSpPr/>
          <p:nvPr/>
        </p:nvSpPr>
        <p:spPr>
          <a:xfrm>
            <a:off x="3379393" y="1600200"/>
            <a:ext cx="2602153"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0561" y="1764792"/>
            <a:ext cx="2199817" cy="457200"/>
          </a:xfrm>
          <a:prstGeom prst="rect">
            <a:avLst/>
          </a:prstGeom>
          <a:noFill/>
        </p:spPr>
        <p:txBody>
          <a:bodyPr wrap="square" anchor="t">
            <a:spAutoFit/>
          </a:bodyPr>
          <a:lstStyle/>
          <a:p>
            <a:pPr algn="l"/>
            <a:r>
              <a:rPr sz="1700" b="1">
                <a:solidFill>
                  <a:srgbClr val="FFB454"/>
                </a:solidFill>
                <a:latin typeface="Arial"/>
              </a:rPr>
              <a:t>madVR Labs madAssist</a:t>
            </a:r>
          </a:p>
        </p:txBody>
      </p:sp>
      <p:sp>
        <p:nvSpPr>
          <p:cNvPr id="9" name="TextBox 8"/>
          <p:cNvSpPr txBox="1"/>
          <p:nvPr/>
        </p:nvSpPr>
        <p:spPr>
          <a:xfrm>
            <a:off x="3580561" y="2258568"/>
            <a:ext cx="2199817" cy="3931920"/>
          </a:xfrm>
          <a:prstGeom prst="rect">
            <a:avLst/>
          </a:prstGeom>
          <a:noFill/>
        </p:spPr>
        <p:txBody>
          <a:bodyPr wrap="square">
            <a:normAutofit/>
          </a:bodyPr>
          <a:lstStyle/>
          <a:p>
            <a:pPr>
              <a:lnSpc>
                <a:spcPct val="120000"/>
              </a:lnSpc>
            </a:pPr>
            <a:r>
              <a:rPr sz="1350">
                <a:solidFill>
                  <a:srgbClr val="F5F3EC"/>
                </a:solidFill>
                <a:latin typeface="Arial"/>
              </a:rPr>
              <a:t>於CEDIA展出專利AI技術madAssist，可自動分析、解答並直接設定Envy視訊處理器，提升劇院影像調校效率（ProjectorCentral）。</a:t>
            </a:r>
          </a:p>
        </p:txBody>
      </p:sp>
      <p:sp>
        <p:nvSpPr>
          <p:cNvPr id="10" name="Rounded Rectangle 9"/>
          <p:cNvSpPr/>
          <p:nvPr/>
        </p:nvSpPr>
        <p:spPr>
          <a:xfrm>
            <a:off x="6210147" y="1600200"/>
            <a:ext cx="2602153"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1315" y="1764792"/>
            <a:ext cx="2199817" cy="457200"/>
          </a:xfrm>
          <a:prstGeom prst="rect">
            <a:avLst/>
          </a:prstGeom>
          <a:noFill/>
        </p:spPr>
        <p:txBody>
          <a:bodyPr wrap="square" anchor="t">
            <a:spAutoFit/>
          </a:bodyPr>
          <a:lstStyle/>
          <a:p>
            <a:pPr algn="l"/>
            <a:r>
              <a:rPr sz="1700" b="1">
                <a:solidFill>
                  <a:srgbClr val="8B7FD6"/>
                </a:solidFill>
                <a:latin typeface="Arial"/>
              </a:rPr>
              <a:t>光學互連與MicroLED</a:t>
            </a:r>
          </a:p>
        </p:txBody>
      </p:sp>
      <p:sp>
        <p:nvSpPr>
          <p:cNvPr id="12" name="TextBox 11"/>
          <p:cNvSpPr txBox="1"/>
          <p:nvPr/>
        </p:nvSpPr>
        <p:spPr>
          <a:xfrm>
            <a:off x="6411315" y="2258568"/>
            <a:ext cx="2199817" cy="3931920"/>
          </a:xfrm>
          <a:prstGeom prst="rect">
            <a:avLst/>
          </a:prstGeom>
          <a:noFill/>
        </p:spPr>
        <p:txBody>
          <a:bodyPr wrap="square">
            <a:normAutofit/>
          </a:bodyPr>
          <a:lstStyle/>
          <a:p>
            <a:pPr>
              <a:lnSpc>
                <a:spcPct val="120000"/>
              </a:lnSpc>
            </a:pPr>
            <a:r>
              <a:rPr sz="1350">
                <a:solidFill>
                  <a:srgbClr val="F5F3EC"/>
                </a:solidFill>
                <a:latin typeface="Arial"/>
              </a:rPr>
              <a:t>華創新光預估MicroLED光學互連將於3至5年內導入資料中心，鴻騰精密亦加速光學互連布局以因應AI高頻寬傳輸需求（DigiTimes）。</a:t>
            </a:r>
          </a:p>
        </p:txBody>
      </p:sp>
      <p:sp>
        <p:nvSpPr>
          <p:cNvPr id="13" name="Rounded Rectangle 12"/>
          <p:cNvSpPr/>
          <p:nvPr/>
        </p:nvSpPr>
        <p:spPr>
          <a:xfrm>
            <a:off x="9040901" y="1600200"/>
            <a:ext cx="2602153" cy="4754880"/>
          </a:xfrm>
          <a:prstGeom prst="roundRect">
            <a:avLst>
              <a:gd name="adj" fmla="val 6000"/>
            </a:avLst>
          </a:prstGeom>
          <a:solidFill>
            <a:srgbClr val="23262F"/>
          </a:solidFill>
          <a:ln w="12700">
            <a:solidFill>
              <a:srgbClr val="6FC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42069" y="1764792"/>
            <a:ext cx="2199817" cy="457200"/>
          </a:xfrm>
          <a:prstGeom prst="rect">
            <a:avLst/>
          </a:prstGeom>
          <a:noFill/>
        </p:spPr>
        <p:txBody>
          <a:bodyPr wrap="square" anchor="t">
            <a:spAutoFit/>
          </a:bodyPr>
          <a:lstStyle/>
          <a:p>
            <a:pPr algn="l"/>
            <a:r>
              <a:rPr sz="1700" b="1">
                <a:solidFill>
                  <a:srgbClr val="6FCF97"/>
                </a:solidFill>
                <a:latin typeface="Arial"/>
              </a:rPr>
              <a:t>密封光機與顯示品質</a:t>
            </a:r>
          </a:p>
        </p:txBody>
      </p:sp>
      <p:sp>
        <p:nvSpPr>
          <p:cNvPr id="15" name="TextBox 14"/>
          <p:cNvSpPr txBox="1"/>
          <p:nvPr/>
        </p:nvSpPr>
        <p:spPr>
          <a:xfrm>
            <a:off x="9242069" y="2258568"/>
            <a:ext cx="2199817" cy="3931920"/>
          </a:xfrm>
          <a:prstGeom prst="rect">
            <a:avLst/>
          </a:prstGeom>
          <a:noFill/>
        </p:spPr>
        <p:txBody>
          <a:bodyPr wrap="square">
            <a:normAutofit/>
          </a:bodyPr>
          <a:lstStyle/>
          <a:p>
            <a:pPr>
              <a:lnSpc>
                <a:spcPct val="120000"/>
              </a:lnSpc>
            </a:pPr>
            <a:r>
              <a:rPr sz="1350">
                <a:solidFill>
                  <a:srgbClr val="F5F3EC"/>
                </a:solidFill>
                <a:latin typeface="Arial"/>
              </a:rPr>
              <a:t>峰米於CSPC論壇強調雷射顯示為家用終極方案並推動千元級普及，當貝則說明密封式光機設計對阻絕灰塵黑斑及提升光學元件壽命的重要性（投影時代、當貝Dangbei官方）。</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10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五、供應鏈觀察</a:t>
            </a:r>
          </a:p>
        </p:txBody>
      </p:sp>
      <p:sp>
        <p:nvSpPr>
          <p:cNvPr id="4" name="Rounded Rectangle 3"/>
          <p:cNvSpPr/>
          <p:nvPr/>
        </p:nvSpPr>
        <p:spPr>
          <a:xfrm>
            <a:off x="548640" y="1600200"/>
            <a:ext cx="3545738"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800" b="1">
                <a:solidFill>
                  <a:srgbClr val="4C7EFF"/>
                </a:solidFill>
                <a:latin typeface="Arial"/>
              </a:rPr>
              <a:t>矽光子與光學模組基板</a:t>
            </a:r>
          </a:p>
        </p:txBody>
      </p:sp>
      <p:sp>
        <p:nvSpPr>
          <p:cNvPr id="6" name="TextBox 5"/>
          <p:cNvSpPr txBox="1"/>
          <p:nvPr/>
        </p:nvSpPr>
        <p:spPr>
          <a:xfrm>
            <a:off x="749808" y="2258568"/>
            <a:ext cx="3143402" cy="3931920"/>
          </a:xfrm>
          <a:prstGeom prst="rect">
            <a:avLst/>
          </a:prstGeom>
          <a:noFill/>
        </p:spPr>
        <p:txBody>
          <a:bodyPr wrap="square">
            <a:normAutofit/>
          </a:bodyPr>
          <a:lstStyle/>
          <a:p>
            <a:pPr>
              <a:lnSpc>
                <a:spcPct val="120000"/>
              </a:lnSpc>
            </a:pPr>
            <a:r>
              <a:rPr sz="1400">
                <a:solidFill>
                  <a:srgbClr val="F5F3EC"/>
                </a:solidFill>
                <a:latin typeface="Arial"/>
              </a:rPr>
              <a:t>矽光子技術發展帶動光學模組產業鏈結構改變，生產瓶頸已從下游元件製造端向上游雷射級基板（如InP基板）供應轉移（DigiTimes）。</a:t>
            </a:r>
          </a:p>
        </p:txBody>
      </p:sp>
      <p:sp>
        <p:nvSpPr>
          <p:cNvPr id="7" name="Rounded Rectangle 6"/>
          <p:cNvSpPr/>
          <p:nvPr/>
        </p:nvSpPr>
        <p:spPr>
          <a:xfrm>
            <a:off x="4322978" y="1600200"/>
            <a:ext cx="3545738"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800" b="1">
                <a:solidFill>
                  <a:srgbClr val="FFB454"/>
                </a:solidFill>
                <a:latin typeface="Arial"/>
              </a:rPr>
              <a:t>晶圓代工與設備交期</a:t>
            </a:r>
          </a:p>
        </p:txBody>
      </p:sp>
      <p:sp>
        <p:nvSpPr>
          <p:cNvPr id="9" name="TextBox 8"/>
          <p:cNvSpPr txBox="1"/>
          <p:nvPr/>
        </p:nvSpPr>
        <p:spPr>
          <a:xfrm>
            <a:off x="4524146" y="2258568"/>
            <a:ext cx="3143402" cy="3931920"/>
          </a:xfrm>
          <a:prstGeom prst="rect">
            <a:avLst/>
          </a:prstGeom>
          <a:noFill/>
        </p:spPr>
        <p:txBody>
          <a:bodyPr wrap="square">
            <a:normAutofit/>
          </a:bodyPr>
          <a:lstStyle/>
          <a:p>
            <a:pPr>
              <a:lnSpc>
                <a:spcPct val="120000"/>
              </a:lnSpc>
            </a:pPr>
            <a:r>
              <a:rPr sz="1400">
                <a:solidFill>
                  <a:srgbClr val="F5F3EC"/>
                </a:solidFill>
                <a:latin typeface="Arial"/>
              </a:rPr>
              <a:t>格羅方德新加坡廠產能利用率攀升至九成以上，但在積極擴充矽光子產能時，面臨設備交期拉長等供應鏈瓶頸（DigiTimes）。</a:t>
            </a:r>
          </a:p>
        </p:txBody>
      </p:sp>
      <p:sp>
        <p:nvSpPr>
          <p:cNvPr id="10" name="Rounded Rectangle 9"/>
          <p:cNvSpPr/>
          <p:nvPr/>
        </p:nvSpPr>
        <p:spPr>
          <a:xfrm>
            <a:off x="8097316" y="1600200"/>
            <a:ext cx="3545738"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800" b="1">
                <a:solidFill>
                  <a:srgbClr val="8B7FD6"/>
                </a:solidFill>
                <a:latin typeface="Arial"/>
              </a:rPr>
              <a:t>先進封測與資本布局</a:t>
            </a:r>
          </a:p>
        </p:txBody>
      </p:sp>
      <p:sp>
        <p:nvSpPr>
          <p:cNvPr id="12" name="TextBox 11"/>
          <p:cNvSpPr txBox="1"/>
          <p:nvPr/>
        </p:nvSpPr>
        <p:spPr>
          <a:xfrm>
            <a:off x="8298484" y="2258568"/>
            <a:ext cx="3143402" cy="3931920"/>
          </a:xfrm>
          <a:prstGeom prst="rect">
            <a:avLst/>
          </a:prstGeom>
          <a:noFill/>
        </p:spPr>
        <p:txBody>
          <a:bodyPr wrap="square">
            <a:normAutofit/>
          </a:bodyPr>
          <a:lstStyle/>
          <a:p>
            <a:pPr>
              <a:lnSpc>
                <a:spcPct val="120000"/>
              </a:lnSpc>
            </a:pPr>
            <a:r>
              <a:rPr sz="1400">
                <a:solidFill>
                  <a:srgbClr val="F5F3EC"/>
                </a:solidFill>
                <a:latin typeface="Arial"/>
              </a:rPr>
              <a:t>ficonTEC攜手Hermes Testing突破共封裝光學（CPO）測試瓶頸，SK海力士創投部門亦將投資延伸至光學互連領域（DigiTimes）。</a:t>
            </a:r>
          </a:p>
        </p:txBody>
      </p:sp>
      <p:sp>
        <p:nvSpPr>
          <p:cNvPr id="13" name="TextBox 12"/>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11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六、本月關注品牌／技術關鍵字</a:t>
            </a:r>
          </a:p>
        </p:txBody>
      </p:sp>
      <p:sp>
        <p:nvSpPr>
          <p:cNvPr id="4" name="Rounded Rectangle 3"/>
          <p:cNvSpPr/>
          <p:nvPr/>
        </p:nvSpPr>
        <p:spPr>
          <a:xfrm>
            <a:off x="548640" y="1600200"/>
            <a:ext cx="5432907"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5030571" cy="457200"/>
          </a:xfrm>
          <a:prstGeom prst="rect">
            <a:avLst/>
          </a:prstGeom>
          <a:noFill/>
        </p:spPr>
        <p:txBody>
          <a:bodyPr wrap="square" anchor="t">
            <a:spAutoFit/>
          </a:bodyPr>
          <a:lstStyle/>
          <a:p>
            <a:pPr algn="l"/>
            <a:r>
              <a:rPr sz="2000" b="1">
                <a:solidFill>
                  <a:srgbClr val="4C7EFF"/>
                </a:solidFill>
                <a:latin typeface="Arial"/>
              </a:rPr>
              <a:t>重點品牌</a:t>
            </a:r>
          </a:p>
        </p:txBody>
      </p:sp>
      <p:sp>
        <p:nvSpPr>
          <p:cNvPr id="6" name="TextBox 5"/>
          <p:cNvSpPr txBox="1"/>
          <p:nvPr/>
        </p:nvSpPr>
        <p:spPr>
          <a:xfrm>
            <a:off x="749808" y="2258568"/>
            <a:ext cx="5030571" cy="3931920"/>
          </a:xfrm>
          <a:prstGeom prst="rect">
            <a:avLst/>
          </a:prstGeom>
          <a:noFill/>
        </p:spPr>
        <p:txBody>
          <a:bodyPr wrap="square">
            <a:normAutofit/>
          </a:bodyPr>
          <a:lstStyle/>
          <a:p>
            <a:pPr>
              <a:lnSpc>
                <a:spcPct val="120000"/>
              </a:lnSpc>
            </a:pPr>
            <a:r>
              <a:rPr sz="1550">
                <a:solidFill>
                  <a:srgbClr val="F5F3EC"/>
                </a:solidFill>
                <a:latin typeface="Arial"/>
              </a:rPr>
              <a:t>極米 (XGIMI)、愛普生 (Epson)、索尼 (Sony)、明基 (BenQ)、當貝 (Dangbei)、大眼橙 (Formovie/Orange)、科視 (Christie)、索諾克 (Sonnoc)、格羅方德 (GlobalFoundries)。</a:t>
            </a:r>
          </a:p>
        </p:txBody>
      </p:sp>
      <p:sp>
        <p:nvSpPr>
          <p:cNvPr id="7" name="Rounded Rectangle 6"/>
          <p:cNvSpPr/>
          <p:nvPr/>
        </p:nvSpPr>
        <p:spPr>
          <a:xfrm>
            <a:off x="6210147" y="1600200"/>
            <a:ext cx="5432907"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1315" y="1764792"/>
            <a:ext cx="5030571" cy="457200"/>
          </a:xfrm>
          <a:prstGeom prst="rect">
            <a:avLst/>
          </a:prstGeom>
          <a:noFill/>
        </p:spPr>
        <p:txBody>
          <a:bodyPr wrap="square" anchor="t">
            <a:spAutoFit/>
          </a:bodyPr>
          <a:lstStyle/>
          <a:p>
            <a:pPr algn="l"/>
            <a:r>
              <a:rPr sz="2000" b="1">
                <a:solidFill>
                  <a:srgbClr val="FFB454"/>
                </a:solidFill>
                <a:latin typeface="Arial"/>
              </a:rPr>
              <a:t>核心技術</a:t>
            </a:r>
          </a:p>
        </p:txBody>
      </p:sp>
      <p:sp>
        <p:nvSpPr>
          <p:cNvPr id="9" name="TextBox 8"/>
          <p:cNvSpPr txBox="1"/>
          <p:nvPr/>
        </p:nvSpPr>
        <p:spPr>
          <a:xfrm>
            <a:off x="6411315" y="2258568"/>
            <a:ext cx="5030571" cy="3931920"/>
          </a:xfrm>
          <a:prstGeom prst="rect">
            <a:avLst/>
          </a:prstGeom>
          <a:noFill/>
        </p:spPr>
        <p:txBody>
          <a:bodyPr wrap="square">
            <a:normAutofit/>
          </a:bodyPr>
          <a:lstStyle/>
          <a:p>
            <a:pPr>
              <a:lnSpc>
                <a:spcPct val="120000"/>
              </a:lnSpc>
            </a:pPr>
            <a:r>
              <a:rPr sz="1550">
                <a:solidFill>
                  <a:srgbClr val="F5F3EC"/>
                </a:solidFill>
                <a:latin typeface="Arial"/>
              </a:rPr>
              <a:t>4K 120Hz、RGB三色雷射、1LCD (LTPS/全封閉光機)、超短焦 (UST)、矽光子 (Silicon Photonics)、CPO光學互連、XR處理器、AIOS (JUOS/madAssist)。</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12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a:t>
            </a:r>
          </a:p>
        </p:txBody>
      </p:sp>
      <p:sp>
        <p:nvSpPr>
          <p:cNvPr id="4" name="TextBox 3"/>
          <p:cNvSpPr txBox="1"/>
          <p:nvPr/>
        </p:nvSpPr>
        <p:spPr>
          <a:xfrm>
            <a:off x="548640" y="2194560"/>
            <a:ext cx="10515600" cy="548640"/>
          </a:xfrm>
          <a:prstGeom prst="rect">
            <a:avLst/>
          </a:prstGeom>
          <a:noFill/>
        </p:spPr>
        <p:txBody>
          <a:bodyPr wrap="square" anchor="t">
            <a:spAutoFit/>
          </a:bodyPr>
          <a:lstStyle/>
          <a:p>
            <a:pPr algn="l"/>
            <a:r>
              <a:rPr sz="2000" b="1">
                <a:solidFill>
                  <a:srgbClr val="F5F3EC"/>
                </a:solidFill>
                <a:latin typeface="Arial"/>
              </a:rPr>
              <a:t>共 178 項</a:t>
            </a:r>
          </a:p>
        </p:txBody>
      </p:sp>
      <p:sp>
        <p:nvSpPr>
          <p:cNvPr id="5" name="TextBox 4"/>
          <p:cNvSpPr txBox="1"/>
          <p:nvPr/>
        </p:nvSpPr>
        <p:spPr>
          <a:xfrm>
            <a:off x="548640" y="2834640"/>
            <a:ext cx="10515600" cy="731520"/>
          </a:xfrm>
          <a:prstGeom prst="rect">
            <a:avLst/>
          </a:prstGeom>
          <a:noFill/>
        </p:spPr>
        <p:txBody>
          <a:bodyPr wrap="square" anchor="t">
            <a:spAutoFit/>
          </a:bodyPr>
          <a:lstStyle/>
          <a:p>
            <a:pPr algn="l"/>
            <a:r>
              <a:rPr sz="1400" b="0">
                <a:solidFill>
                  <a:srgbClr val="9096A1"/>
                </a:solidFill>
                <a:latin typeface="Arial"/>
              </a:rPr>
              <a:t>完整清單與連結請見網站上的文字版報告</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