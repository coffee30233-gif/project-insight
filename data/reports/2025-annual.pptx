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F5F3EC"/>
                </a:solidFill>
                <a:latin typeface="Arial"/>
              </a:rPr>
              <a:t>2025年上半年全球與中國市場成長率（%）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年增率</c:v>
                </c:pt>
              </c:strCache>
            </c:strRef>
          </c:tx>
          <c:spPr>
            <a:solidFill>
              <a:srgbClr val="4C7EFF"/>
            </a:solidFill>
          </c:spPr>
          <c:cat>
            <c:strRef>
              <c:f>Sheet1!$A$2:$A$6</c:f>
              <c:strCache>
                <c:ptCount val="5"/>
                <c:pt idx="0">
                  <c:v>全球出貨量</c:v>
                </c:pt>
                <c:pt idx="1">
                  <c:v>全球銷售額</c:v>
                </c:pt>
                <c:pt idx="2">
                  <c:v>中國整體出貨量</c:v>
                </c:pt>
                <c:pt idx="3">
                  <c:v>中國線上銷量</c:v>
                </c:pt>
                <c:pt idx="4">
                  <c:v>中國線上銷售額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-4.2</c:v>
                </c:pt>
                <c:pt idx="1">
                  <c:v>-8.6</c:v>
                </c:pt>
                <c:pt idx="2">
                  <c:v>-13.5</c:v>
                </c:pt>
                <c:pt idx="3">
                  <c:v>-8.1</c:v>
                </c:pt>
                <c:pt idx="4">
                  <c:v>-5.3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solidFill>
                    <a:srgbClr val="F5F3E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2A2E38"/>
            </a:solidFill>
          </a:ln>
        </c:spPr>
        <c:txPr>
          <a:bodyPr/>
          <a:lstStyle/>
          <a:p>
            <a:pPr>
              <a:defRPr sz="1100">
                <a:solidFill>
                  <a:srgbClr val="9096A1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A2E3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A2E38"/>
            </a:solidFill>
          </a:ln>
        </c:spPr>
        <c:txPr>
          <a:bodyPr/>
          <a:lstStyle/>
          <a:p>
            <a:pPr>
              <a:defRPr sz="1000">
                <a:solidFill>
                  <a:srgbClr val="9096A1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F5F3EC"/>
                </a:solidFill>
                <a:latin typeface="Arial"/>
              </a:rPr>
              <a:t>2025年上半年中國線上智能投影高階規格滲透率（%）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滲透率</c:v>
                </c:pt>
              </c:strCache>
            </c:strRef>
          </c:tx>
          <c:spPr>
            <a:solidFill>
              <a:srgbClr val="4C7EFF"/>
            </a:solidFill>
          </c:spPr>
          <c:cat>
            <c:strRef>
              <c:f>Sheet1!$A$2:$A$6</c:f>
              <c:strCache>
                <c:ptCount val="5"/>
                <c:pt idx="0">
                  <c:v>變焦功能</c:v>
                </c:pt>
                <c:pt idx="1">
                  <c:v>大尺寸75吋以上</c:v>
                </c:pt>
                <c:pt idx="2">
                  <c:v>雷射光源</c:v>
                </c:pt>
                <c:pt idx="3">
                  <c:v>4K解析度</c:v>
                </c:pt>
                <c:pt idx="4">
                  <c:v>AI大模型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23.4</c:v>
                </c:pt>
                <c:pt idx="1">
                  <c:v>21.9</c:v>
                </c:pt>
                <c:pt idx="2">
                  <c:v>14.3</c:v>
                </c:pt>
                <c:pt idx="3">
                  <c:v>11.1</c:v>
                </c:pt>
                <c:pt idx="4">
                  <c:v>6.6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solidFill>
                    <a:srgbClr val="F5F3E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2A2E38"/>
            </a:solidFill>
          </a:ln>
        </c:spPr>
        <c:txPr>
          <a:bodyPr/>
          <a:lstStyle/>
          <a:p>
            <a:pPr>
              <a:defRPr sz="1100">
                <a:solidFill>
                  <a:srgbClr val="9096A1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A2E3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A2E38"/>
            </a:solidFill>
          </a:ln>
        </c:spPr>
        <c:txPr>
          <a:bodyPr/>
          <a:lstStyle/>
          <a:p>
            <a:pPr>
              <a:defRPr sz="1000">
                <a:solidFill>
                  <a:srgbClr val="9096A1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F5F3EC"/>
                </a:solidFill>
                <a:latin typeface="Arial"/>
              </a:rPr>
              <a:t>2025年第三季中國智能投影線上市場技術路線份額（%）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市場份額</c:v>
                </c:pt>
              </c:strCache>
            </c:strRef>
          </c:tx>
          <c:spPr>
            <a:solidFill>
              <a:srgbClr val="4C7EFF"/>
            </a:solidFill>
          </c:spPr>
          <c:cat>
            <c:strRef>
              <c:f>Sheet1!$A$2:$A$3</c:f>
              <c:strCache>
                <c:ptCount val="2"/>
                <c:pt idx="0">
                  <c:v>1LCD技術</c:v>
                </c:pt>
                <c:pt idx="1">
                  <c:v>DLP技術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71.7</c:v>
                </c:pt>
                <c:pt idx="1">
                  <c:v>27.3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solidFill>
                    <a:srgbClr val="F5F3E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2A2E38"/>
            </a:solidFill>
          </a:ln>
        </c:spPr>
        <c:txPr>
          <a:bodyPr/>
          <a:lstStyle/>
          <a:p>
            <a:pPr>
              <a:defRPr sz="1100">
                <a:solidFill>
                  <a:srgbClr val="9096A1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A2E3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A2E38"/>
            </a:solidFill>
          </a:ln>
        </c:spPr>
        <c:txPr>
          <a:bodyPr/>
          <a:lstStyle/>
          <a:p>
            <a:pPr>
              <a:defRPr sz="1000">
                <a:solidFill>
                  <a:srgbClr val="9096A1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F5F3EC"/>
                </a:solidFill>
                <a:latin typeface="Arial"/>
              </a:rPr>
              <a:t>2025年重點新品官方發售價格比較（美元）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官方售價</c:v>
                </c:pt>
              </c:strCache>
            </c:strRef>
          </c:tx>
          <c:spPr>
            <a:solidFill>
              <a:srgbClr val="4C7EFF"/>
            </a:solidFill>
          </c:spPr>
          <c:cat>
            <c:strRef>
              <c:f>Sheet1!$A$2:$A$4</c:f>
              <c:strCache>
                <c:ptCount val="3"/>
                <c:pt idx="0">
                  <c:v>JVC DLA-NZ700</c:v>
                </c:pt>
                <c:pt idx="1">
                  <c:v>Anker Nebula X1</c:v>
                </c:pt>
                <c:pt idx="2">
                  <c:v>Anker Nebula P1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9999.95</c:v>
                </c:pt>
                <c:pt idx="1">
                  <c:v>2999.0</c:v>
                </c:pt>
                <c:pt idx="2">
                  <c:v>799.0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solidFill>
                    <a:srgbClr val="F5F3E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2A2E38"/>
            </a:solidFill>
          </a:ln>
        </c:spPr>
        <c:txPr>
          <a:bodyPr/>
          <a:lstStyle/>
          <a:p>
            <a:pPr>
              <a:defRPr sz="1100">
                <a:solidFill>
                  <a:srgbClr val="9096A1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A2E3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A2E38"/>
            </a:solidFill>
          </a:ln>
        </c:spPr>
        <c:txPr>
          <a:bodyPr/>
          <a:lstStyle/>
          <a:p>
            <a:pPr>
              <a:defRPr sz="1000">
                <a:solidFill>
                  <a:srgbClr val="9096A1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03920" y="-2194560"/>
            <a:ext cx="6400800" cy="6400800"/>
          </a:xfrm>
          <a:prstGeom prst="ellipse">
            <a:avLst/>
          </a:prstGeom>
          <a:solidFill>
            <a:srgbClr val="4C7E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377440" y="4206240"/>
            <a:ext cx="5486400" cy="5486400"/>
          </a:xfrm>
          <a:prstGeom prst="ellipse">
            <a:avLst/>
          </a:prstGeom>
          <a:solidFill>
            <a:srgbClr val="FFB45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B454"/>
                </a:solidFill>
                <a:latin typeface="Arial"/>
              </a:rPr>
              <a:t>投影機情報站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241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5F3EC"/>
                </a:solidFill>
                <a:latin typeface="Arial"/>
              </a:rPr>
              <a:t>2025 年度 投影機產業回顧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096A1"/>
                </a:solidFill>
                <a:latin typeface="Arial"/>
              </a:rPr>
              <a:t>投影機產業報告 · 自動產生簡報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02 · SECTION　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一、年度摘要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2066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2025 年全球與中國投影機市場整體面臨需求放緩與銷售承壓，上半年全球出貨量與銷售額雙雙下滑，中國市場則受前一季政策透支影響表現疲弱（4月、8月、9月）。儘管大盤規模收縮，高階技術規格如三色雷射、4K 解析度與光學變焦的市場滲透率仍持續逆勢提升（8月）。產品形態展現高度整合趨勢，包含結合電動抗光幕、高規格聲霸與微雲台設計，同時散熱技術開始邁向液冷時代（1月、4月、9月、12月）。品牌策略方面，極米積極從消費級擴展至專業商用市場，海信與 BenQ 則分別在旗艦雷射電視與沉浸式娛樂場域發力（9月、12月）。第三季 DLP 技術在價格下修帶動下，市占率迎來顯著反彈（10月）。然而年末供應鏈受 DDR4 停產價格飆升及被動元件漲價影響，預估將為 2026 年新品定價與規格帶來顯著成本壓力（12月）。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03 · SECTION　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二、市場數據年度回顧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554480"/>
          <a:ext cx="106984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04 · SECTION　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二、市場數據年度回顧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554480"/>
          <a:ext cx="106984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05 · SECTION　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二、市場數據年度回顧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554480"/>
          <a:ext cx="106984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06 · SECTION　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二、市場數據年度回顧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全球投影機市場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2025 年上半年全球出貨量降至 900.3 萬台（同比下降 4.2%），總銷售額為 40.5 億美元（同比下降 8.6%）（9月）。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4146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中國整體投影市場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146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2025 年第一季銷量約 143 萬台同比持平，上半年整體出貨量降至 285.0 萬台（同比大幅減少 13.5%），在全球市場的出貨占比由過往 35.1% 下滑至 31.7%（4月、9月）。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8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B7FD6"/>
                </a:solidFill>
                <a:latin typeface="Arial"/>
              </a:rPr>
              <a:t>中國線上智能投影市場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8484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2025 上半年銷量為 171.7 萬台（同比下降 8.1%），銷售額為 27.4 億元人民幣（同比下降 5.3%）；第三季銷售額持續承壓，同比年減 11.5%（8月、10月）。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6FC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6FCF97"/>
                </a:solidFill>
                <a:latin typeface="Arial"/>
              </a:rPr>
              <a:t>DLP 與 1LCD 技術陣營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2025 年第三季 DLP 技術產品均價下降近 300 元人民幣至 3445 元，帶動線上份額回升至 27.3%（同比成長 5.0 個百分點），且 Top 4 品牌（極米、堅果、當貝、Vidda）合計份額超過 94%；1LCD 線上份額則下滑至 71.7%（10月）。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4146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高階規格滲透率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146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2025 年上半年中國線上市場中，變焦功能（23.4%）、75 吋以上大尺寸（21.9%）、雷射光源（14.3%）、4K 解析度（11.1%）及 AI 大模型（6.6%）均呈持續提升趨勢（8月）。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07 · SECTION　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三、技術演進年度觀察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7282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年初 CES 2025 展會聚焦 RGB 三色雷射、ALPD 5.0 Pro 與 LED+雷射混合光源，超短焦投射比縮至 0.18:1 並結合觸控互動與聲霸抗光幕多合一形態（1月）。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236829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4 月 Anker 發表 Nebula X1，首度導入液冷散熱系統結合三色雷射光源，解決高亮度下的散熱瓶頸（4月）。</a:t>
            </a:r>
          </a:p>
        </p:txBody>
      </p:sp>
      <p:sp>
        <p:nvSpPr>
          <p:cNvPr id="8" name="Oval 7"/>
          <p:cNvSpPr/>
          <p:nvPr/>
        </p:nvSpPr>
        <p:spPr>
          <a:xfrm>
            <a:off x="594360" y="300837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80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8 月 JVC 發表 DLA-NZ700，透過機構設計優化將原生 4K D-ILA 機身體積大幅縮減 35%（8月）。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64845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9 月產品邁向大型影音整合與多系統支援，如 Nebula X1 Pro 導入 7.1.4 環繞聲霸與彈簧懸浮隔震，Aurzen 推出全球首款 Roku OS 投影機（9月）。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428853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1605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10 月硬體規格與應用場景深化，包含 BenQ 導入 HDMI 2.1 超低延遲電競規格，以及 Anker Nebula P1 首創磁吸可拆式喇叭（10月）。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928616"/>
            <a:ext cx="100584" cy="100584"/>
          </a:xfrm>
          <a:prstGeom prst="ellipse">
            <a:avLst/>
          </a:prstGeom>
          <a:solidFill>
            <a:srgbClr val="4C7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800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50">
                <a:solidFill>
                  <a:srgbClr val="F5F3EC"/>
                </a:solidFill>
                <a:latin typeface="Arial"/>
              </a:rPr>
              <a:t>12 月海信預告 XR10 旗艦雷射電視，結合全密封液冷散熱、6000 ANSI 流明與四鏡頭加雙 ToF 自動校正技術（12月）。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08 · SECTION　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四、新品與品牌年度盤點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1554480"/>
          <a:ext cx="106984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09 · SECTION　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四、新品與品牌年度盤點（1/2）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極米（XGIMI）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年初展示 Aura 2 三合一概念機，9 月發表最高 5700 ISO 流明的 Horizon 20 系列及首款商用機 TITAN，展現從消費級擴展至專業商用市場的戰略（1月、9月）。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4146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Anker（Nebula）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146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全年展現極強創新力，4 月推液冷散熱 Nebula X1，9 月推 72.4 磅重低音旗艦 X1 Pro，10 月推出搭載磁吸可拆喇叭的可攜式 P1（4月、9月、10月）。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8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B7FD6"/>
                </a:solidFill>
                <a:latin typeface="Arial"/>
              </a:rPr>
              <a:t>堅果（JMGO）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8484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將原先僅在中國銷售的三色雷射 N1S 4K 及系列產品正式宣布擴大至全球市場銷售（1月）。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6FC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6FCF97"/>
                </a:solidFill>
                <a:latin typeface="Arial"/>
              </a:rPr>
              <a:t>BenQ（明基）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10 月推出支援 HDMI 2.1 超低延遲的 TK705i 系列電競 4K 投影機，12 月於 IAAPA Expo 推出萬美元以下沉浸式場域專用 4K 投影機 BR9708（10月、12月）。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4146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海信（Hisense）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146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年末預告 CES 2026 旗艦雷射電視 XR10，主打 6000 ANSI 流明、純 RGB 三色雷射與全密封液冷散熱（12月）。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316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8484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JVC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8484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8 月推出體積縮減 35% 的原生 4K D-ILA 旗艦 DLA-NZ700，11 月在劇院市場持續以 LX-NZ30 主打高性價比策略（8月、11月）。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10 · SECTION　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四、新品與品牌年度盤點（2/2）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432907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503057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4C7EFF"/>
                </a:solidFill>
                <a:latin typeface="Arial"/>
              </a:rPr>
              <a:t>Sony（索尼）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5030571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550">
                <a:solidFill>
                  <a:srgbClr val="F5F3EC"/>
                </a:solidFill>
                <a:latin typeface="Arial"/>
              </a:rPr>
              <a:t>以 VPL-XW5000ES 及 SXRD 面板技術，搭配 24 分貝低噪音鎖定完全遮光的高端專用影音室（11月）。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1600200"/>
            <a:ext cx="5432907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1315" y="1764792"/>
            <a:ext cx="503057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B454"/>
                </a:solidFill>
                <a:latin typeface="Arial"/>
              </a:rPr>
              <a:t>Aurzen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1315" y="2258568"/>
            <a:ext cx="5030571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550">
                <a:solidFill>
                  <a:srgbClr val="F5F3EC"/>
                </a:solidFill>
                <a:latin typeface="Arial"/>
              </a:rPr>
              <a:t>9 月展出 ZIP 模組化口袋機種，並開賣全球首款 Roku OS 投影機 D1R Cube 及 Google TV 系統的 D1 Max（9月）。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11 · SECTION　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五、供應鏈年度觀察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45738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C7EFF"/>
                </a:solidFill>
                <a:latin typeface="Arial"/>
              </a:rPr>
              <a:t>關鍵記憶體停產漲價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3143402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F5F3EC"/>
                </a:solidFill>
                <a:latin typeface="Arial"/>
              </a:rPr>
              <a:t>三星與 SK 海力士自 2025 年 4 月起全面停止生產 DDR4 並轉向 DDR5 與 HBM 產能，導致 DDR4 現貨價格快速飆升並反超 DDR5，顯著拉高投影機物料成本（12月）。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00200"/>
            <a:ext cx="3545738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4146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B454"/>
                </a:solidFill>
                <a:latin typeface="Arial"/>
              </a:rPr>
              <a:t>被動元件與零組件成本上揚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146" y="2258568"/>
            <a:ext cx="3143402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F5F3EC"/>
                </a:solidFill>
                <a:latin typeface="Arial"/>
              </a:rPr>
              <a:t>電源被動元件採購成本同比上漲約 28%，加上鏡頭與顯示晶片佔 BOM 成本極高，預期將逼使 2026 年新品面臨調漲售價或縮減規格的壓力（12月）。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600200"/>
            <a:ext cx="3545738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8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8B7FD6"/>
                </a:solidFill>
                <a:latin typeface="Arial"/>
              </a:rPr>
              <a:t>資料缺失區間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8484" y="2258568"/>
            <a:ext cx="3143402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F5F3EC"/>
                </a:solidFill>
                <a:latin typeface="Arial"/>
              </a:rPr>
              <a:t>2 月、3 月、5 月、6 月與 7 月無供應鏈相關月報資料（2月、3月、5月、6月、7月）。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12 · SECTION　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六、年度關鍵轉折點（Timeline）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1 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CES 2025 展會確立超短焦（UST）與生活風格投影機為全年產品創新主軸（1月）。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4146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4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146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Anker 發表 Nebula X1，開啟投影機導入液冷散熱技術之先河（4月）。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8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B7FD6"/>
                </a:solidFill>
                <a:latin typeface="Arial"/>
              </a:rPr>
              <a:t>8 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8484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上半年數據揭露全球與中國市場銷量承壓下滑，但雷射與 4K 等高階規格滲透率持續逆勢上升（8月）。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6FC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6FCF97"/>
                </a:solidFill>
                <a:latin typeface="Arial"/>
              </a:rPr>
              <a:t>9 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極米發表 TITAN 宣告跨足專業商用市場；IFA 2025 展示高規格影音整合與模組化趨勢（9月）。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4146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10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146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DLP 技術降價策略奏效，第三季在中國線上市場份額回升至 27.3%（10月）。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316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8484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12 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8484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記憶體 DDR4 停產與被動元件成本大漲，預警 2026 年產業價格與規格將面臨轉折壓力（12月）。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13 · SECTION　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七、明年關注重點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2602153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219981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4C7EFF"/>
                </a:solidFill>
                <a:latin typeface="Arial"/>
              </a:rPr>
              <a:t>2026 年新品價格與規格調整壓力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2199817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50">
                <a:solidFill>
                  <a:srgbClr val="F5F3EC"/>
                </a:solidFill>
                <a:latin typeface="Arial"/>
              </a:rPr>
              <a:t>因 DDR4 價格暴漲及被動元件成本上漲 28%，需持續追蹤品牌廠如何平衡售價調漲與規格縮減（12月）。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600200"/>
            <a:ext cx="2602153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80561" y="1764792"/>
            <a:ext cx="219981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B454"/>
                </a:solidFill>
                <a:latin typeface="Arial"/>
              </a:rPr>
              <a:t>液冷散熱技術普及度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80561" y="2258568"/>
            <a:ext cx="2199817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50">
                <a:solidFill>
                  <a:srgbClr val="F5F3EC"/>
                </a:solidFill>
                <a:latin typeface="Arial"/>
              </a:rPr>
              <a:t>從 Anker Nebula X1 到海信旗艦雷射電視 XR10，液冷散熱能否進一步下放至中階高流明機種值得觀察（4月、12月）。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1600200"/>
            <a:ext cx="2602153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8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1315" y="1764792"/>
            <a:ext cx="219981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8B7FD6"/>
                </a:solidFill>
                <a:latin typeface="Arial"/>
              </a:rPr>
              <a:t>消費級品牌在商用及沉浸式娛樂場域的拓展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1315" y="2258568"/>
            <a:ext cx="2199817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50">
                <a:solidFill>
                  <a:srgbClr val="F5F3EC"/>
                </a:solidFill>
                <a:latin typeface="Arial"/>
              </a:rPr>
              <a:t>極米推出 TITAN 跨足商用、BenQ 發表 BR9708 切入沉浸場域，顯示非家用市場正成為新藍海（9月、12月）。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40901" y="1600200"/>
            <a:ext cx="2602153" cy="475488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6FC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42069" y="1764792"/>
            <a:ext cx="219981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FCF97"/>
                </a:solidFill>
                <a:latin typeface="Arial"/>
              </a:rPr>
              <a:t>DLP 降價策略與市場份額消長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42069" y="2258568"/>
            <a:ext cx="2199817" cy="3931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50">
                <a:solidFill>
                  <a:srgbClr val="F5F3EC"/>
                </a:solidFill>
                <a:latin typeface="Arial"/>
              </a:rPr>
              <a:t>DLP 憑藉均價調降重拾市占，後續與 1LCD 陣營在中低階市場的份額角力仍是關注焦點（10月）。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14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八、附錄：各月月報索引（1/2）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1 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有月報資料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4146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2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146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該月資料缺失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8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B7FD6"/>
                </a:solidFill>
                <a:latin typeface="Arial"/>
              </a:rPr>
              <a:t>3 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8484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該月資料缺失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6FC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6FCF97"/>
                </a:solidFill>
                <a:latin typeface="Arial"/>
              </a:rPr>
              <a:t>4 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有月報資料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4146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5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146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該月資料缺失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316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8484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6 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8484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該月資料缺失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FB454"/>
                </a:solidFill>
                <a:latin typeface="Arial"/>
              </a:rPr>
              <a:t>15 ·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0972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5F3EC"/>
                </a:solidFill>
                <a:latin typeface="Arial"/>
              </a:rPr>
              <a:t>八、附錄：各月月報索引（2/2）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7 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該月資料缺失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4146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146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有月報資料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600200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8B7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98484" y="1764792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B7FD6"/>
                </a:solidFill>
                <a:latin typeface="Arial"/>
              </a:rPr>
              <a:t>9 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98484" y="2258568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有月報資料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6FC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6FCF97"/>
                </a:solidFill>
                <a:latin typeface="Arial"/>
              </a:rPr>
              <a:t>10 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有月報資料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4C7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4146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4C7EFF"/>
                </a:solidFill>
                <a:latin typeface="Arial"/>
              </a:rPr>
              <a:t>11 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146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有月報資料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7316" y="4091939"/>
            <a:ext cx="3545738" cy="2263140"/>
          </a:xfrm>
          <a:prstGeom prst="roundRect">
            <a:avLst>
              <a:gd name="adj" fmla="val 6000"/>
            </a:avLst>
          </a:prstGeom>
          <a:solidFill>
            <a:srgbClr val="23262F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8484" y="4256531"/>
            <a:ext cx="314340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Arial"/>
              </a:rPr>
              <a:t>12 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8484" y="4750307"/>
            <a:ext cx="3143402" cy="14401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F5F3EC"/>
                </a:solidFill>
                <a:latin typeface="Arial"/>
              </a:rPr>
              <a:t>有月報資料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3200400"/>
            <a:ext cx="5486400" cy="5486400"/>
          </a:xfrm>
          <a:prstGeom prst="ellipse">
            <a:avLst/>
          </a:prstGeom>
          <a:solidFill>
            <a:srgbClr val="4C7E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9144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5F3EC"/>
                </a:solidFill>
                <a:latin typeface="Arial"/>
              </a:rPr>
              <a:t>投影機情報站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118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096A1"/>
                </a:solidFill>
                <a:latin typeface="Arial"/>
              </a:rPr>
              <a:t>由本站爬蟲每日追蹤產業動態，AI 自動摘要與分類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096A1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