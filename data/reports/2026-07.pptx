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 年 7 月 投影機產業月報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一、本月摘要</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a:solidFill>
                  <a:srgbClr val="F5F3EC"/>
                </a:solidFill>
                <a:latin typeface="Arial"/>
              </a:rPr>
              <a:t>本月投影機市場呈現「高階雷射化、應用利基化、入門便攜化」三大趨勢。中高階市場由三色雷射與超短焦（UST）技術主導，並進一步向電競低延遲與高爾夫模擬等利基運動市場滲透；入門級市場則主打便攜性與雲台靈活投影，但低價機種的對焦機構耐用度與輸入延遲仍是消費者痛點。此外，隨著夏日季節來臨，平價戶外投影與相關配件的選購討論熱度顯著提升。</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本月雖無宏觀的整體出貨量或市佔率數據，但從社群與評測通路中反映出強烈的預算導向消費需求與價格分歧：</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877824"/>
          </a:xfrm>
          <a:prstGeom prst="rect">
            <a:avLst/>
          </a:prstGeom>
          <a:noFill/>
        </p:spPr>
        <p:txBody>
          <a:bodyPr wrap="square">
            <a:spAutoFit/>
          </a:bodyPr>
          <a:lstStyle/>
          <a:p>
            <a:pPr>
              <a:lnSpc>
                <a:spcPct val="115000"/>
              </a:lnSpc>
            </a:pPr>
            <a:r>
              <a:rPr sz="1450" b="1">
                <a:solidFill>
                  <a:srgbClr val="FFB454"/>
                </a:solidFill>
                <a:latin typeface="Arial"/>
              </a:rPr>
              <a:t>戶外投影預算帶</a:t>
            </a:r>
            <a:r>
              <a:rPr sz="1450">
                <a:solidFill>
                  <a:srgbClr val="F5F3EC"/>
                </a:solidFill>
                <a:latin typeface="Arial"/>
              </a:rPr>
              <a:t>：消費者對於「戶外電影夜」的預算敏感度高，美國市場熱烈討論 250 美元以下的平價便攜投影機（Reddit r/projectors）。評測網站亦針對預算有限的族群推出平價高亮度戶外投影機與投影幕推薦指南（ProjectorReviews）。</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1115568"/>
          </a:xfrm>
          <a:prstGeom prst="rect">
            <a:avLst/>
          </a:prstGeom>
          <a:noFill/>
        </p:spPr>
        <p:txBody>
          <a:bodyPr wrap="square">
            <a:spAutoFit/>
          </a:bodyPr>
          <a:lstStyle/>
          <a:p>
            <a:pPr>
              <a:lnSpc>
                <a:spcPct val="115000"/>
              </a:lnSpc>
            </a:pPr>
            <a:r>
              <a:rPr sz="1450" b="1">
                <a:solidFill>
                  <a:srgbClr val="FFB454"/>
                </a:solidFill>
                <a:latin typeface="Arial"/>
              </a:rPr>
              <a:t>超短焦（UST）價格帶分歧</a:t>
            </a:r>
            <a:r>
              <a:rPr sz="1450">
                <a:solidFill>
                  <a:srgbClr val="F5F3EC"/>
                </a:solidFill>
                <a:latin typeface="Arial"/>
              </a:rPr>
              <a:t>：在商用與家庭娛樂的 UST 選擇上，消費者在 1,800 美元預算內考慮 AWOL LTV-3000 Pro，而性能更受推崇的海信（Hisense）PX3 價格則高出近一倍，顯示中高階 UST 市場存在明顯的價格與定位鴻溝（Reddit r/projectors）。</a:t>
            </a:r>
          </a:p>
        </p:txBody>
      </p:sp>
      <p:sp>
        <p:nvSpPr>
          <p:cNvPr id="10" name="Oval 9"/>
          <p:cNvSpPr/>
          <p:nvPr/>
        </p:nvSpPr>
        <p:spPr>
          <a:xfrm>
            <a:off x="594360" y="436168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33672"/>
            <a:ext cx="10698480" cy="877824"/>
          </a:xfrm>
          <a:prstGeom prst="rect">
            <a:avLst/>
          </a:prstGeom>
          <a:noFill/>
        </p:spPr>
        <p:txBody>
          <a:bodyPr wrap="square">
            <a:spAutoFit/>
          </a:bodyPr>
          <a:lstStyle/>
          <a:p>
            <a:pPr>
              <a:lnSpc>
                <a:spcPct val="115000"/>
              </a:lnSpc>
            </a:pPr>
            <a:r>
              <a:rPr sz="1450" b="1">
                <a:solidFill>
                  <a:srgbClr val="FFB454"/>
                </a:solidFill>
                <a:latin typeface="Arial"/>
              </a:rPr>
              <a:t>入門級 DLP 價格定位</a:t>
            </a:r>
            <a:r>
              <a:rPr sz="1450">
                <a:solidFill>
                  <a:srgbClr val="F5F3EC"/>
                </a:solidFill>
                <a:latin typeface="Arial"/>
              </a:rPr>
              <a:t>：如 Optoma PH31 等採用 3LED DLP 技術的 1080p 機種，以 299 美元的超值性價比切入市場，但伴隨 51ms 的高輸入延遲與 5W 單聲道音效等規格妥協（Reddit r/projectors）。</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b="1">
                <a:solidFill>
                  <a:srgbClr val="FFB454"/>
                </a:solidFill>
                <a:latin typeface="Arial"/>
              </a:rPr>
              <a:t>BenQ（明基）</a:t>
            </a:r>
            <a:r>
              <a:rPr sz="1450">
                <a:solidFill>
                  <a:srgbClr val="F5F3EC"/>
                </a:solidFill>
                <a:latin typeface="Arial"/>
              </a:rPr>
              <a:t>：本月動作頻繁，全面佈局電競、高爾夫模擬與大型商用市場。推出 X3000i 4K 電競投影機（主打低輸入延遲）；針對室內高爾夫模擬推出 LK936ST 4K 雷射投影機與 Ace (AH700ST) 雷射投影機；並針對大型場館推出 BlueCore 雷射系列 LU9750（8,500 流明）與 LU9800（10,000 流明）（ProjectorReviews）。</a:t>
            </a:r>
          </a:p>
        </p:txBody>
      </p:sp>
      <p:sp>
        <p:nvSpPr>
          <p:cNvPr id="6" name="Oval 5"/>
          <p:cNvSpPr/>
          <p:nvPr/>
        </p:nvSpPr>
        <p:spPr>
          <a:xfrm>
            <a:off x="594360" y="30815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53512"/>
            <a:ext cx="10698480" cy="1115568"/>
          </a:xfrm>
          <a:prstGeom prst="rect">
            <a:avLst/>
          </a:prstGeom>
          <a:noFill/>
        </p:spPr>
        <p:txBody>
          <a:bodyPr wrap="square">
            <a:spAutoFit/>
          </a:bodyPr>
          <a:lstStyle/>
          <a:p>
            <a:pPr>
              <a:lnSpc>
                <a:spcPct val="115000"/>
              </a:lnSpc>
            </a:pPr>
            <a:r>
              <a:rPr sz="1450" b="1">
                <a:solidFill>
                  <a:srgbClr val="FFB454"/>
                </a:solidFill>
                <a:latin typeface="Arial"/>
              </a:rPr>
              <a:t>Hisense（海信）</a:t>
            </a:r>
            <a:r>
              <a:rPr sz="1450">
                <a:solidFill>
                  <a:srgbClr val="F5F3EC"/>
                </a:solidFill>
                <a:latin typeface="Arial"/>
              </a:rPr>
              <a:t>：持續擴大雷射電視與三色雷射佈局。發表 L5G 系列 4K 智慧雷射電視系統（提供 100 吋與 120 吋兩種規格）；並推出 XR10 三色雷射投影機（6,000 流明、彈性投射比）與 PX4-PRO 4K UST 雷射投影機（3,500 流明、支援 IMAX-Enhanced）（ProjectorReviews）。</a:t>
            </a:r>
          </a:p>
        </p:txBody>
      </p:sp>
      <p:sp>
        <p:nvSpPr>
          <p:cNvPr id="8" name="Oval 7"/>
          <p:cNvSpPr/>
          <p:nvPr/>
        </p:nvSpPr>
        <p:spPr>
          <a:xfrm>
            <a:off x="594360" y="41970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69080"/>
            <a:ext cx="10698480" cy="640080"/>
          </a:xfrm>
          <a:prstGeom prst="rect">
            <a:avLst/>
          </a:prstGeom>
          <a:noFill/>
        </p:spPr>
        <p:txBody>
          <a:bodyPr wrap="square">
            <a:spAutoFit/>
          </a:bodyPr>
          <a:lstStyle/>
          <a:p>
            <a:pPr>
              <a:lnSpc>
                <a:spcPct val="115000"/>
              </a:lnSpc>
            </a:pPr>
            <a:r>
              <a:rPr sz="1450" b="1">
                <a:solidFill>
                  <a:srgbClr val="FFB454"/>
                </a:solidFill>
                <a:latin typeface="Arial"/>
              </a:rPr>
              <a:t>AWOL Vision</a:t>
            </a:r>
            <a:r>
              <a:rPr sz="1450">
                <a:solidFill>
                  <a:srgbClr val="F5F3EC"/>
                </a:solidFill>
                <a:latin typeface="Arial"/>
              </a:rPr>
              <a:t>：發表全新 Aetherion 系列三色雷射 UST 投影機，具備 4K 解析度，並特別針對遊戲優化，支援低延遲與可變更新率（ProjectorReviews）。</a:t>
            </a:r>
          </a:p>
        </p:txBody>
      </p:sp>
      <p:sp>
        <p:nvSpPr>
          <p:cNvPr id="10" name="Oval 9"/>
          <p:cNvSpPr/>
          <p:nvPr/>
        </p:nvSpPr>
        <p:spPr>
          <a:xfrm>
            <a:off x="594360" y="48371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09160"/>
            <a:ext cx="10698480" cy="640080"/>
          </a:xfrm>
          <a:prstGeom prst="rect">
            <a:avLst/>
          </a:prstGeom>
          <a:noFill/>
        </p:spPr>
        <p:txBody>
          <a:bodyPr wrap="square">
            <a:spAutoFit/>
          </a:bodyPr>
          <a:lstStyle/>
          <a:p>
            <a:pPr>
              <a:lnSpc>
                <a:spcPct val="115000"/>
              </a:lnSpc>
            </a:pPr>
            <a:r>
              <a:rPr sz="1450" b="1">
                <a:solidFill>
                  <a:srgbClr val="FFB454"/>
                </a:solidFill>
                <a:latin typeface="Arial"/>
              </a:rPr>
              <a:t>Epson（愛普生）</a:t>
            </a:r>
            <a:r>
              <a:rPr sz="1450">
                <a:solidFill>
                  <a:srgbClr val="F5F3EC"/>
                </a:solidFill>
                <a:latin typeface="Arial"/>
              </a:rPr>
              <a:t>：推出 QS100 4K PRO-UHD 超短焦雷射投影機，專為客製化家庭劇院整合設計（ProjectorReviews）。</a:t>
            </a:r>
          </a:p>
        </p:txBody>
      </p:sp>
      <p:sp>
        <p:nvSpPr>
          <p:cNvPr id="12" name="Oval 11"/>
          <p:cNvSpPr/>
          <p:nvPr/>
        </p:nvSpPr>
        <p:spPr>
          <a:xfrm>
            <a:off x="594360" y="547725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698480" cy="640080"/>
          </a:xfrm>
          <a:prstGeom prst="rect">
            <a:avLst/>
          </a:prstGeom>
          <a:noFill/>
        </p:spPr>
        <p:txBody>
          <a:bodyPr wrap="square">
            <a:spAutoFit/>
          </a:bodyPr>
          <a:lstStyle/>
          <a:p>
            <a:pPr>
              <a:lnSpc>
                <a:spcPct val="115000"/>
              </a:lnSpc>
            </a:pPr>
            <a:r>
              <a:rPr sz="1450" b="1">
                <a:solidFill>
                  <a:srgbClr val="FFB454"/>
                </a:solidFill>
                <a:latin typeface="Arial"/>
              </a:rPr>
              <a:t>Formovie</a:t>
            </a:r>
            <a:r>
              <a:rPr sz="1450">
                <a:solidFill>
                  <a:srgbClr val="F5F3EC"/>
                </a:solidFill>
                <a:latin typeface="Arial"/>
              </a:rPr>
              <a:t>：推出 Theater Premium 4K 雷射電視，主打 4K 畫質、沉浸式音效與智慧功能（ProjectorReviews）。</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b="1">
                <a:solidFill>
                  <a:srgbClr val="FFB454"/>
                </a:solidFill>
                <a:latin typeface="Arial"/>
              </a:rPr>
              <a:t>Dangbei（當貝）</a:t>
            </a:r>
            <a:r>
              <a:rPr sz="1450">
                <a:solidFill>
                  <a:srgbClr val="F5F3EC"/>
                </a:solidFill>
                <a:latin typeface="Arial"/>
              </a:rPr>
              <a:t>：推出 N3 Max 家用投影機，具備 1,000 ISO 流明、原生 1080p、Netflix 授權，並配備 180 度旋轉雲台支援天花板投影（ProjectorCentral）。</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640080"/>
          </a:xfrm>
          <a:prstGeom prst="rect">
            <a:avLst/>
          </a:prstGeom>
          <a:noFill/>
        </p:spPr>
        <p:txBody>
          <a:bodyPr wrap="square">
            <a:spAutoFit/>
          </a:bodyPr>
          <a:lstStyle/>
          <a:p>
            <a:pPr>
              <a:lnSpc>
                <a:spcPct val="115000"/>
              </a:lnSpc>
            </a:pPr>
            <a:r>
              <a:rPr sz="1450" b="1">
                <a:solidFill>
                  <a:srgbClr val="FFB454"/>
                </a:solidFill>
                <a:latin typeface="Arial"/>
              </a:rPr>
              <a:t>LG</a:t>
            </a:r>
            <a:r>
              <a:rPr sz="1450">
                <a:solidFill>
                  <a:srgbClr val="F5F3EC"/>
                </a:solidFill>
                <a:latin typeface="Arial"/>
              </a:rPr>
              <a:t>：針對教育、企業與政府部門推出三款 ProBeam 系列商用投影機，涵蓋 4K UHD 高畫質規格至可攜式旅行機種（ProjectorReviews）。</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b="1">
                <a:solidFill>
                  <a:srgbClr val="FFB454"/>
                </a:solidFill>
                <a:latin typeface="Arial"/>
              </a:rPr>
              <a:t>Anker</a:t>
            </a:r>
            <a:r>
              <a:rPr sz="1450">
                <a:solidFill>
                  <a:srgbClr val="F5F3EC"/>
                </a:solidFill>
                <a:latin typeface="Arial"/>
              </a:rPr>
              <a:t>：旗下品牌 Nebula 推出 Cosmos 4K 便攜式投影機，主打行動投影的高性價比（ProjectorReviews）。</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877824"/>
          </a:xfrm>
          <a:prstGeom prst="rect">
            <a:avLst/>
          </a:prstGeom>
          <a:noFill/>
        </p:spPr>
        <p:txBody>
          <a:bodyPr wrap="square">
            <a:spAutoFit/>
          </a:bodyPr>
          <a:lstStyle/>
          <a:p>
            <a:pPr>
              <a:lnSpc>
                <a:spcPct val="115000"/>
              </a:lnSpc>
            </a:pPr>
            <a:r>
              <a:rPr sz="1450" b="1">
                <a:solidFill>
                  <a:srgbClr val="FFB454"/>
                </a:solidFill>
                <a:latin typeface="Arial"/>
              </a:rPr>
              <a:t>非投影機品牌動態（Sony）</a:t>
            </a:r>
            <a:r>
              <a:rPr sz="1450">
                <a:solidFill>
                  <a:srgbClr val="F5F3EC"/>
                </a:solidFill>
                <a:latin typeface="Arial"/>
              </a:rPr>
              <a:t>：索尼電子在社群推廣黑膠唱機，因先前宣佈 2028 年起停產 PS5 實體遊戲光碟全面轉向數位版，引發 PlayStation 玩家抗議其對實體媒介的雙重標準（IT之家）。</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四、技術動態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b="1">
                <a:solidFill>
                  <a:srgbClr val="FFB454"/>
                </a:solidFill>
                <a:latin typeface="Arial"/>
              </a:rPr>
              <a:t>光源與顯示技術分化</a:t>
            </a:r>
            <a:r>
              <a:rPr sz="1450">
                <a:solidFill>
                  <a:srgbClr val="F5F3EC"/>
                </a:solidFill>
                <a:latin typeface="Arial"/>
              </a:rPr>
              <a:t>：中高階市場加速向「三色雷射（Tri-Laser）」與「雷射電視」靠攏，如海信、Formovie、AWOL Vision 與 Epson 均推出 4K 雷射新品（ProjectorReviews）。入門級則以 3LED DLP（如 Optoma PH31，實測 1033 ANSI 流明）與 LED 光源為主（Reddit r/projectors、ProjectorCentral）。</a:t>
            </a:r>
          </a:p>
        </p:txBody>
      </p:sp>
      <p:sp>
        <p:nvSpPr>
          <p:cNvPr id="6" name="Oval 5"/>
          <p:cNvSpPr/>
          <p:nvPr/>
        </p:nvSpPr>
        <p:spPr>
          <a:xfrm>
            <a:off x="594360" y="30815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53512"/>
            <a:ext cx="10698480" cy="1115568"/>
          </a:xfrm>
          <a:prstGeom prst="rect">
            <a:avLst/>
          </a:prstGeom>
          <a:noFill/>
        </p:spPr>
        <p:txBody>
          <a:bodyPr wrap="square">
            <a:spAutoFit/>
          </a:bodyPr>
          <a:lstStyle/>
          <a:p>
            <a:pPr>
              <a:lnSpc>
                <a:spcPct val="115000"/>
              </a:lnSpc>
            </a:pPr>
            <a:r>
              <a:rPr sz="1450" b="1">
                <a:solidFill>
                  <a:srgbClr val="FFB454"/>
                </a:solidFill>
                <a:latin typeface="Arial"/>
              </a:rPr>
              <a:t>電競與低延遲技術</a:t>
            </a:r>
            <a:r>
              <a:rPr sz="1450">
                <a:solidFill>
                  <a:srgbClr val="F5F3EC"/>
                </a:solidFill>
                <a:latin typeface="Arial"/>
              </a:rPr>
              <a:t>：低延遲與可變更新率（VRR）正成為家用與 UST 投影機的新標配。AWOL Vision Aetherion 系列與 BenQ X3000i 均以此為賣點（ProjectorReviews）。相對地，傳統入門機種（如 Optoma PH31 達 51ms 延遲）已被社群指出不適合電競（Reddit r/projectors）。</a:t>
            </a:r>
          </a:p>
        </p:txBody>
      </p:sp>
      <p:sp>
        <p:nvSpPr>
          <p:cNvPr id="8" name="Oval 7"/>
          <p:cNvSpPr/>
          <p:nvPr/>
        </p:nvSpPr>
        <p:spPr>
          <a:xfrm>
            <a:off x="594360" y="41970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69080"/>
            <a:ext cx="10698480" cy="1115568"/>
          </a:xfrm>
          <a:prstGeom prst="rect">
            <a:avLst/>
          </a:prstGeom>
          <a:noFill/>
        </p:spPr>
        <p:txBody>
          <a:bodyPr wrap="square">
            <a:spAutoFit/>
          </a:bodyPr>
          <a:lstStyle/>
          <a:p>
            <a:pPr>
              <a:lnSpc>
                <a:spcPct val="115000"/>
              </a:lnSpc>
            </a:pPr>
            <a:r>
              <a:rPr sz="1450" b="1">
                <a:solidFill>
                  <a:srgbClr val="FFB454"/>
                </a:solidFill>
                <a:latin typeface="Arial"/>
              </a:rPr>
              <a:t>自動化校正與雲台設計</a:t>
            </a:r>
            <a:r>
              <a:rPr sz="1450">
                <a:solidFill>
                  <a:srgbClr val="F5F3EC"/>
                </a:solidFill>
                <a:latin typeface="Arial"/>
              </a:rPr>
              <a:t>：當貝 N3 Max 引入 180 度旋轉雲台與自動畫面校正，解決牆面到天花板的投影痛點（ProjectorCentral）。然而，低階便攜投影機（如 ALINORE）的電子對焦與自動梯形校正系統在移動後易發生故障，導致畫面模糊且無法手動旋轉變焦調整，反映出低階自動化機構的穩定性隱憂（Reddit r/projectors）。</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07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五、供應鏈觀察</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本月 CEDIA Expo 2021 展會回顧揭示了高端家庭劇院與影音整合供應鏈的緊密協作：</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1115568"/>
          </a:xfrm>
          <a:prstGeom prst="rect">
            <a:avLst/>
          </a:prstGeom>
          <a:noFill/>
        </p:spPr>
        <p:txBody>
          <a:bodyPr wrap="square">
            <a:spAutoFit/>
          </a:bodyPr>
          <a:lstStyle/>
          <a:p>
            <a:pPr>
              <a:lnSpc>
                <a:spcPct val="115000"/>
              </a:lnSpc>
            </a:pPr>
            <a:r>
              <a:rPr sz="1450" b="1">
                <a:solidFill>
                  <a:srgbClr val="FFB454"/>
                </a:solidFill>
                <a:latin typeface="Arial"/>
              </a:rPr>
              <a:t>投影幕與光學配件</a:t>
            </a:r>
            <a:r>
              <a:rPr sz="1450">
                <a:solidFill>
                  <a:srgbClr val="F5F3EC"/>
                </a:solidFill>
                <a:latin typeface="Arial"/>
              </a:rPr>
              <a:t>：EPV Projection Screens (Elite Screens)、Severtson Screens、Screen Innovations 與 Draper 等主流投影幕廠商，持續針對雷射電視與超短焦投影優化抗光與反射技術（ProjectorReviews）。</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1115568"/>
          </a:xfrm>
          <a:prstGeom prst="rect">
            <a:avLst/>
          </a:prstGeom>
          <a:noFill/>
        </p:spPr>
        <p:txBody>
          <a:bodyPr wrap="square">
            <a:spAutoFit/>
          </a:bodyPr>
          <a:lstStyle/>
          <a:p>
            <a:pPr>
              <a:lnSpc>
                <a:spcPct val="115000"/>
              </a:lnSpc>
            </a:pPr>
            <a:r>
              <a:rPr sz="1450" b="1">
                <a:solidFill>
                  <a:srgbClr val="FFB454"/>
                </a:solidFill>
                <a:latin typeface="Arial"/>
              </a:rPr>
              <a:t>影音傳輸與播放系統</a:t>
            </a:r>
            <a:r>
              <a:rPr sz="1450">
                <a:solidFill>
                  <a:srgbClr val="F5F3EC"/>
                </a:solidFill>
                <a:latin typeface="Arial"/>
              </a:rPr>
              <a:t>：高端播放系統商 Kaleidescape 與音響品牌 Meyer Sound 展開合作；AVPro Edge、Metra AV、GDC Technology、Straight Wire 與 AIM Electronics 等供應商則持續升級影音傳輸解決方案與配件，以支撐 4K 及高頻寬訊號的穩定傳輸（ProjectorReviews）。</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08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六、本月關注品牌／技術關鍵字</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b="1">
                <a:solidFill>
                  <a:srgbClr val="FFB454"/>
                </a:solidFill>
                <a:latin typeface="Arial"/>
              </a:rPr>
              <a:t>品牌</a:t>
            </a:r>
            <a:r>
              <a:rPr sz="1450">
                <a:solidFill>
                  <a:srgbClr val="F5F3EC"/>
                </a:solidFill>
                <a:latin typeface="Arial"/>
              </a:rPr>
              <a:t>：BenQ、Hisense、AWOL Vision、Epson、Dangbei、LG、Anker Nebula、Optoma。</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877824"/>
          </a:xfrm>
          <a:prstGeom prst="rect">
            <a:avLst/>
          </a:prstGeom>
          <a:noFill/>
        </p:spPr>
        <p:txBody>
          <a:bodyPr wrap="square">
            <a:spAutoFit/>
          </a:bodyPr>
          <a:lstStyle/>
          <a:p>
            <a:pPr>
              <a:lnSpc>
                <a:spcPct val="115000"/>
              </a:lnSpc>
            </a:pPr>
            <a:r>
              <a:rPr sz="1450" b="1">
                <a:solidFill>
                  <a:srgbClr val="FFB454"/>
                </a:solidFill>
                <a:latin typeface="Arial"/>
              </a:rPr>
              <a:t>技術關鍵字</a:t>
            </a:r>
            <a:r>
              <a:rPr sz="1450">
                <a:solidFill>
                  <a:srgbClr val="F5F3EC"/>
                </a:solidFill>
                <a:latin typeface="Arial"/>
              </a:rPr>
              <a:t>：三色雷射（Tri-Laser）、超短焦（UST）、低輸入延遲（Low Input Lag）、可變更新率（VRR）、高爾夫模擬（Golf Simulation）、雲台投影、電子對焦。</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09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 新品發布</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1115568"/>
          </a:xfrm>
          <a:prstGeom prst="rect">
            <a:avLst/>
          </a:prstGeom>
          <a:noFill/>
        </p:spPr>
        <p:txBody>
          <a:bodyPr wrap="square">
            <a:spAutoFit/>
          </a:bodyPr>
          <a:lstStyle/>
          <a:p>
            <a:pPr>
              <a:lnSpc>
                <a:spcPct val="115000"/>
              </a:lnSpc>
            </a:pPr>
            <a:r>
              <a:rPr sz="1450" b="1">
                <a:solidFill>
                  <a:srgbClr val="FFB454"/>
                </a:solidFill>
                <a:latin typeface="Arial"/>
              </a:rPr>
              <a:t>當貝 Dangbei N3 Max 投影機發表：具備 1,000 ISO 流明與 180 度雲台彈性投影</a:t>
            </a:r>
            <a:r>
              <a:rPr sz="1450">
                <a:solidFill>
                  <a:srgbClr val="F5F3EC"/>
                </a:solidFill>
                <a:latin typeface="Arial"/>
              </a:rPr>
              <a:t> | ProjectorCentral | [連結](https://www.projectorcentral.com/dangbei-n3-max-projector-wall-ceiling.htm)</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b="1">
                <a:solidFill>
                  <a:srgbClr val="FFB454"/>
                </a:solidFill>
                <a:latin typeface="Arial"/>
              </a:rPr>
              <a:t>索尼推廣黑膠唱機遭PS5玩家抗議，實體遊戲片停產政策引發雙標質疑</a:t>
            </a:r>
            <a:r>
              <a:rPr sz="1450">
                <a:solidFill>
                  <a:srgbClr val="F5F3EC"/>
                </a:solidFill>
                <a:latin typeface="Arial"/>
              </a:rPr>
              <a:t> | IT之家 | [連結](https://www.ithome.com/0/981/822.htm)</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1115568"/>
          </a:xfrm>
          <a:prstGeom prst="rect">
            <a:avLst/>
          </a:prstGeom>
          <a:noFill/>
        </p:spPr>
        <p:txBody>
          <a:bodyPr wrap="square">
            <a:spAutoFit/>
          </a:bodyPr>
          <a:lstStyle/>
          <a:p>
            <a:pPr>
              <a:lnSpc>
                <a:spcPct val="115000"/>
              </a:lnSpc>
            </a:pPr>
            <a:r>
              <a:rPr sz="1450" b="1">
                <a:solidFill>
                  <a:srgbClr val="FFB454"/>
                </a:solidFill>
                <a:latin typeface="Arial"/>
              </a:rPr>
              <a:t>AWOL LTV-3000 Pro 或同等價位超短焦投影機選擇諮詢</a:t>
            </a:r>
            <a:r>
              <a:rPr sz="1450">
                <a:solidFill>
                  <a:srgbClr val="F5F3EC"/>
                </a:solidFill>
                <a:latin typeface="Arial"/>
              </a:rPr>
              <a:t> | Reddit r/projectors | [連結](https://www.reddit.com/r/projectors/comments/1v7rzy1/lvt3000_pro_or_similar_cost_options/)</a:t>
            </a:r>
          </a:p>
        </p:txBody>
      </p:sp>
      <p:sp>
        <p:nvSpPr>
          <p:cNvPr id="12" name="Oval 11"/>
          <p:cNvSpPr/>
          <p:nvPr/>
        </p:nvSpPr>
        <p:spPr>
          <a:xfrm>
            <a:off x="594360" y="500176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73752"/>
            <a:ext cx="10698480" cy="1115568"/>
          </a:xfrm>
          <a:prstGeom prst="rect">
            <a:avLst/>
          </a:prstGeom>
          <a:noFill/>
        </p:spPr>
        <p:txBody>
          <a:bodyPr wrap="square">
            <a:spAutoFit/>
          </a:bodyPr>
          <a:lstStyle/>
          <a:p>
            <a:pPr>
              <a:lnSpc>
                <a:spcPct val="115000"/>
              </a:lnSpc>
            </a:pPr>
            <a:r>
              <a:rPr sz="1450" b="1">
                <a:solidFill>
                  <a:srgbClr val="FFB454"/>
                </a:solidFill>
                <a:latin typeface="Arial"/>
              </a:rPr>
              <a:t>LG 推出三款針對商用市場的全新 ProBeam 投影機</a:t>
            </a:r>
            <a:r>
              <a:rPr sz="1450">
                <a:solidFill>
                  <a:srgbClr val="F5F3EC"/>
                </a:solidFill>
                <a:latin typeface="Arial"/>
              </a:rPr>
              <a:t> | ProjectorReviews | [連結](https://www.projectorreviews.com/3-new-lg-probeam-projectors-for-the-commercial-market/)</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10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b="1">
                <a:solidFill>
                  <a:srgbClr val="FFB454"/>
                </a:solidFill>
                <a:latin typeface="Arial"/>
              </a:rPr>
              <a:t>Anker Nebula Cosmos 4K 便攜式投影機評測</a:t>
            </a:r>
            <a:r>
              <a:rPr sz="1450">
                <a:solidFill>
                  <a:srgbClr val="F5F3EC"/>
                </a:solidFill>
                <a:latin typeface="Arial"/>
              </a:rPr>
              <a:t> | ProjectorReviews | [連結](https://www.projectorreviews.com/anker-nebula-cosmos-4k-portable-projector/)</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1115568"/>
          </a:xfrm>
          <a:prstGeom prst="rect">
            <a:avLst/>
          </a:prstGeom>
          <a:noFill/>
        </p:spPr>
        <p:txBody>
          <a:bodyPr wrap="square">
            <a:spAutoFit/>
          </a:bodyPr>
          <a:lstStyle/>
          <a:p>
            <a:pPr>
              <a:lnSpc>
                <a:spcPct val="115000"/>
              </a:lnSpc>
            </a:pPr>
            <a:r>
              <a:rPr sz="1450" b="1">
                <a:solidFill>
                  <a:srgbClr val="FFB454"/>
                </a:solidFill>
                <a:latin typeface="Arial"/>
              </a:rPr>
              <a:t>AWOL Vision 推出 Aetherion 系列三色雷射超短焦投影機</a:t>
            </a:r>
            <a:r>
              <a:rPr sz="1450">
                <a:solidFill>
                  <a:srgbClr val="F5F3EC"/>
                </a:solidFill>
                <a:latin typeface="Arial"/>
              </a:rPr>
              <a:t> | ProjectorReviews | [連結](https://www.projectorreviews.com/awol-vision-debuts-aetherion-series-tri-laser-ust-projectors/)</a:t>
            </a:r>
          </a:p>
        </p:txBody>
      </p:sp>
      <p:sp>
        <p:nvSpPr>
          <p:cNvPr id="8" name="Oval 7"/>
          <p:cNvSpPr/>
          <p:nvPr/>
        </p:nvSpPr>
        <p:spPr>
          <a:xfrm>
            <a:off x="594360" y="3721607"/>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593591"/>
            <a:ext cx="10698480" cy="1115568"/>
          </a:xfrm>
          <a:prstGeom prst="rect">
            <a:avLst/>
          </a:prstGeom>
          <a:noFill/>
        </p:spPr>
        <p:txBody>
          <a:bodyPr wrap="square">
            <a:spAutoFit/>
          </a:bodyPr>
          <a:lstStyle/>
          <a:p>
            <a:pPr>
              <a:lnSpc>
                <a:spcPct val="115000"/>
              </a:lnSpc>
            </a:pPr>
            <a:r>
              <a:rPr sz="1450" b="1">
                <a:solidFill>
                  <a:srgbClr val="FFB454"/>
                </a:solidFill>
                <a:latin typeface="Arial"/>
              </a:rPr>
              <a:t>BenQ 發表 X3000i 4K 電競投影機</a:t>
            </a:r>
            <a:r>
              <a:rPr sz="1450">
                <a:solidFill>
                  <a:srgbClr val="F5F3EC"/>
                </a:solidFill>
                <a:latin typeface="Arial"/>
              </a:rPr>
              <a:t> | ProjectorReviews | [連結](https://www.projectorreviews.com/benq-announces-x3000i-4k-low-input-lag-gaming-and-entertainment-projector/)</a:t>
            </a:r>
          </a:p>
        </p:txBody>
      </p:sp>
      <p:sp>
        <p:nvSpPr>
          <p:cNvPr id="10" name="Oval 9"/>
          <p:cNvSpPr/>
          <p:nvPr/>
        </p:nvSpPr>
        <p:spPr>
          <a:xfrm>
            <a:off x="594360" y="4837175"/>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09159"/>
            <a:ext cx="10698480" cy="1353312"/>
          </a:xfrm>
          <a:prstGeom prst="rect">
            <a:avLst/>
          </a:prstGeom>
          <a:noFill/>
        </p:spPr>
        <p:txBody>
          <a:bodyPr wrap="square">
            <a:spAutoFit/>
          </a:bodyPr>
          <a:lstStyle/>
          <a:p>
            <a:pPr>
              <a:lnSpc>
                <a:spcPct val="115000"/>
              </a:lnSpc>
            </a:pPr>
            <a:r>
              <a:rPr sz="1450" b="1">
                <a:solidFill>
                  <a:srgbClr val="FFB454"/>
                </a:solidFill>
                <a:latin typeface="Arial"/>
              </a:rPr>
              <a:t>BenQ 推出 8500 流明 LU9750 與 10,000 流明 LU9800 大型場館雷射投影機</a:t>
            </a:r>
            <a:r>
              <a:rPr sz="1450">
                <a:solidFill>
                  <a:srgbClr val="F5F3EC"/>
                </a:solidFill>
                <a:latin typeface="Arial"/>
              </a:rPr>
              <a:t> | ProjectorReviews | [連結](https://www.projectorreviews.com/benq-debuts-the-8500-lumen-lu9750-and-10000-lumen-lu9800-large-venue-laser-projectors/)</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11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b="1">
                <a:solidFill>
                  <a:srgbClr val="FFB454"/>
                </a:solidFill>
                <a:latin typeface="Arial"/>
              </a:rPr>
              <a:t>BenQ 推出 LK936ST 4K 顛覆性高爾夫模擬專用投影機</a:t>
            </a:r>
            <a:r>
              <a:rPr sz="1450">
                <a:solidFill>
                  <a:srgbClr val="F5F3EC"/>
                </a:solidFill>
                <a:latin typeface="Arial"/>
              </a:rPr>
              <a:t> | ProjectorReviews | [連結](https://www.projectorreviews.com/benq-introduces-lk936st-4k-game-changing-golf-simulation-projector/)</a:t>
            </a:r>
          </a:p>
        </p:txBody>
      </p:sp>
      <p:sp>
        <p:nvSpPr>
          <p:cNvPr id="6" name="Oval 5"/>
          <p:cNvSpPr/>
          <p:nvPr/>
        </p:nvSpPr>
        <p:spPr>
          <a:xfrm>
            <a:off x="594360" y="2843784"/>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15768"/>
            <a:ext cx="10698480" cy="1115568"/>
          </a:xfrm>
          <a:prstGeom prst="rect">
            <a:avLst/>
          </a:prstGeom>
          <a:noFill/>
        </p:spPr>
        <p:txBody>
          <a:bodyPr wrap="square">
            <a:spAutoFit/>
          </a:bodyPr>
          <a:lstStyle/>
          <a:p>
            <a:pPr>
              <a:lnSpc>
                <a:spcPct val="115000"/>
              </a:lnSpc>
            </a:pPr>
            <a:r>
              <a:rPr sz="1450" b="1">
                <a:solidFill>
                  <a:srgbClr val="FFB454"/>
                </a:solidFill>
                <a:latin typeface="Arial"/>
              </a:rPr>
              <a:t>BenQ 推出 Ace (AH700ST) 雷射高爾夫模擬投影機</a:t>
            </a:r>
            <a:r>
              <a:rPr sz="1450">
                <a:solidFill>
                  <a:srgbClr val="F5F3EC"/>
                </a:solidFill>
                <a:latin typeface="Arial"/>
              </a:rPr>
              <a:t> | ProjectorReviews | [連結](https://www.projectorreviews.com/benq-introduces-the-ace-ah700st-laser-golf-simulator-projector/)</a:t>
            </a:r>
          </a:p>
        </p:txBody>
      </p:sp>
      <p:sp>
        <p:nvSpPr>
          <p:cNvPr id="8" name="Oval 7"/>
          <p:cNvSpPr/>
          <p:nvPr/>
        </p:nvSpPr>
        <p:spPr>
          <a:xfrm>
            <a:off x="594360" y="3959351"/>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31335"/>
            <a:ext cx="10698480" cy="877824"/>
          </a:xfrm>
          <a:prstGeom prst="rect">
            <a:avLst/>
          </a:prstGeom>
          <a:noFill/>
        </p:spPr>
        <p:txBody>
          <a:bodyPr wrap="square">
            <a:spAutoFit/>
          </a:bodyPr>
          <a:lstStyle/>
          <a:p>
            <a:pPr>
              <a:lnSpc>
                <a:spcPct val="115000"/>
              </a:lnSpc>
            </a:pPr>
            <a:r>
              <a:rPr sz="1450" b="1">
                <a:solidFill>
                  <a:srgbClr val="FFB454"/>
                </a:solidFill>
                <a:latin typeface="Arial"/>
              </a:rPr>
              <a:t>2026年最佳戶外投影幕推薦 - Projector Reviews</a:t>
            </a:r>
            <a:r>
              <a:rPr sz="1450">
                <a:solidFill>
                  <a:srgbClr val="F5F3EC"/>
                </a:solidFill>
                <a:latin typeface="Arial"/>
              </a:rPr>
              <a:t> | ProjectorReviews | [連結](https://www.projectorreviews.com/best-outdoor-projection-screens/)</a:t>
            </a:r>
          </a:p>
        </p:txBody>
      </p:sp>
      <p:sp>
        <p:nvSpPr>
          <p:cNvPr id="10" name="Oval 9"/>
          <p:cNvSpPr/>
          <p:nvPr/>
        </p:nvSpPr>
        <p:spPr>
          <a:xfrm>
            <a:off x="594360" y="4837175"/>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09159"/>
            <a:ext cx="10698480" cy="877824"/>
          </a:xfrm>
          <a:prstGeom prst="rect">
            <a:avLst/>
          </a:prstGeom>
          <a:noFill/>
        </p:spPr>
        <p:txBody>
          <a:bodyPr wrap="square">
            <a:spAutoFit/>
          </a:bodyPr>
          <a:lstStyle/>
          <a:p>
            <a:pPr>
              <a:lnSpc>
                <a:spcPct val="115000"/>
              </a:lnSpc>
            </a:pPr>
            <a:r>
              <a:rPr sz="1450" b="1">
                <a:solidFill>
                  <a:srgbClr val="FFB454"/>
                </a:solidFill>
                <a:latin typeface="Arial"/>
              </a:rPr>
              <a:t>最佳高亮度平價戶外投影機推薦 - Projector Reviews</a:t>
            </a:r>
            <a:r>
              <a:rPr sz="1450">
                <a:solidFill>
                  <a:srgbClr val="F5F3EC"/>
                </a:solidFill>
                <a:latin typeface="Arial"/>
              </a:rPr>
              <a:t> | ProjectorReviews | [連結](https://www.projectorreviews.com/budget-friendly-outdoor-projectors/)</a:t>
            </a:r>
          </a:p>
        </p:txBody>
      </p:sp>
      <p:sp>
        <p:nvSpPr>
          <p:cNvPr id="12" name="TextBox 1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b="1">
                <a:solidFill>
                  <a:srgbClr val="FFB454"/>
                </a:solidFill>
                <a:latin typeface="Arial"/>
              </a:rPr>
              <a:t>CEDIA Expo 2021 首日回顧：Kaleidescape、AVPro Edge 與 EPV 投影幕</a:t>
            </a:r>
            <a:r>
              <a:rPr sz="1450">
                <a:solidFill>
                  <a:srgbClr val="F5F3EC"/>
                </a:solidFill>
                <a:latin typeface="Arial"/>
              </a:rPr>
              <a:t> | ProjectorReviews | [連結](https://www.projectorreviews.com/cedia-expo-2021-day-one-recap-kaleidescape-avproedge-and-elite-screens/)</a:t>
            </a:r>
          </a:p>
        </p:txBody>
      </p:sp>
      <p:sp>
        <p:nvSpPr>
          <p:cNvPr id="6" name="Oval 5"/>
          <p:cNvSpPr/>
          <p:nvPr/>
        </p:nvSpPr>
        <p:spPr>
          <a:xfrm>
            <a:off x="594360" y="30815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53512"/>
            <a:ext cx="10698480" cy="1353312"/>
          </a:xfrm>
          <a:prstGeom prst="rect">
            <a:avLst/>
          </a:prstGeom>
          <a:noFill/>
        </p:spPr>
        <p:txBody>
          <a:bodyPr wrap="square">
            <a:spAutoFit/>
          </a:bodyPr>
          <a:lstStyle/>
          <a:p>
            <a:pPr>
              <a:lnSpc>
                <a:spcPct val="115000"/>
              </a:lnSpc>
            </a:pPr>
            <a:r>
              <a:rPr sz="1450" b="1">
                <a:solidFill>
                  <a:srgbClr val="FFB454"/>
                </a:solidFill>
                <a:latin typeface="Arial"/>
              </a:rPr>
              <a:t>CEDIA EXPO 2021 第三天回顧：Draper、Straight Wire 與 AIM Electronics</a:t>
            </a:r>
            <a:r>
              <a:rPr sz="1450">
                <a:solidFill>
                  <a:srgbClr val="F5F3EC"/>
                </a:solidFill>
                <a:latin typeface="Arial"/>
              </a:rPr>
              <a:t> | ProjectorReviews | [連結](https://www.projectorreviews.com/cedia-expo-2021-day-three-recap-draper-straight-wire-and-aim-electronics/)</a:t>
            </a:r>
          </a:p>
        </p:txBody>
      </p:sp>
      <p:sp>
        <p:nvSpPr>
          <p:cNvPr id="8" name="Oval 7"/>
          <p:cNvSpPr/>
          <p:nvPr/>
        </p:nvSpPr>
        <p:spPr>
          <a:xfrm>
            <a:off x="594360" y="44348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306824"/>
            <a:ext cx="10698480" cy="1828800"/>
          </a:xfrm>
          <a:prstGeom prst="rect">
            <a:avLst/>
          </a:prstGeom>
          <a:noFill/>
        </p:spPr>
        <p:txBody>
          <a:bodyPr wrap="square">
            <a:spAutoFit/>
          </a:bodyPr>
          <a:lstStyle/>
          <a:p>
            <a:pPr>
              <a:lnSpc>
                <a:spcPct val="115000"/>
              </a:lnSpc>
            </a:pPr>
            <a:r>
              <a:rPr sz="1450" b="1">
                <a:solidFill>
                  <a:srgbClr val="FFB454"/>
                </a:solidFill>
                <a:latin typeface="Arial"/>
              </a:rPr>
              <a:t>CEDIA EXPO 2021 第二天回顧：Metra AV、GDC Technology、Severtson 投影幕、Kaleidescape 與 Meyer Sound 合作及 Screen Innovations</a:t>
            </a:r>
            <a:r>
              <a:rPr sz="1450">
                <a:solidFill>
                  <a:srgbClr val="F5F3EC"/>
                </a:solidFill>
                <a:latin typeface="Arial"/>
              </a:rPr>
              <a:t> | ProjectorReviews | [連結](https://www.projectorreviews.com/cedia-expo-2021-day-two-recap-metra-av-gdc-technology-severtson-screens-kaleidescape-partnership-with-meyer-audio-and-screen-innovations/)</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13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b="1">
                <a:solidFill>
                  <a:srgbClr val="FFB454"/>
                </a:solidFill>
                <a:latin typeface="Arial"/>
              </a:rPr>
              <a:t>Epson 推出 QS100 4K PRO-UHD 超短焦雷射投影機，專為客製化家庭劇院整合設計</a:t>
            </a:r>
            <a:r>
              <a:rPr sz="1450">
                <a:solidFill>
                  <a:srgbClr val="F5F3EC"/>
                </a:solidFill>
                <a:latin typeface="Arial"/>
              </a:rPr>
              <a:t> | ProjectorReviews | [連結](https://www.projectorreviews.com/epson-introduces-the-qs100-4k-pro-uhd-ultra-short-throw-laser-projector-designed-for-custom-home-integration/)</a:t>
            </a:r>
          </a:p>
        </p:txBody>
      </p:sp>
      <p:sp>
        <p:nvSpPr>
          <p:cNvPr id="6" name="Oval 5"/>
          <p:cNvSpPr/>
          <p:nvPr/>
        </p:nvSpPr>
        <p:spPr>
          <a:xfrm>
            <a:off x="594360" y="308152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53512"/>
            <a:ext cx="10698480" cy="1115568"/>
          </a:xfrm>
          <a:prstGeom prst="rect">
            <a:avLst/>
          </a:prstGeom>
          <a:noFill/>
        </p:spPr>
        <p:txBody>
          <a:bodyPr wrap="square">
            <a:spAutoFit/>
          </a:bodyPr>
          <a:lstStyle/>
          <a:p>
            <a:pPr>
              <a:lnSpc>
                <a:spcPct val="115000"/>
              </a:lnSpc>
            </a:pPr>
            <a:r>
              <a:rPr sz="1450" b="1">
                <a:solidFill>
                  <a:srgbClr val="FFB454"/>
                </a:solidFill>
                <a:latin typeface="Arial"/>
              </a:rPr>
              <a:t>Formovie 推出 Theater Premium 4K 雷射電視</a:t>
            </a:r>
            <a:r>
              <a:rPr sz="1450">
                <a:solidFill>
                  <a:srgbClr val="F5F3EC"/>
                </a:solidFill>
                <a:latin typeface="Arial"/>
              </a:rPr>
              <a:t> | ProjectorReviews | [連結](https://www.projectorreviews.com/formovie-introduces-the-theater-premium-4k-laser-tv/)</a:t>
            </a:r>
          </a:p>
        </p:txBody>
      </p:sp>
      <p:sp>
        <p:nvSpPr>
          <p:cNvPr id="8" name="Oval 7"/>
          <p:cNvSpPr/>
          <p:nvPr/>
        </p:nvSpPr>
        <p:spPr>
          <a:xfrm>
            <a:off x="594360" y="41970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69080"/>
            <a:ext cx="10698480" cy="1115568"/>
          </a:xfrm>
          <a:prstGeom prst="rect">
            <a:avLst/>
          </a:prstGeom>
          <a:noFill/>
        </p:spPr>
        <p:txBody>
          <a:bodyPr wrap="square">
            <a:spAutoFit/>
          </a:bodyPr>
          <a:lstStyle/>
          <a:p>
            <a:pPr>
              <a:lnSpc>
                <a:spcPct val="115000"/>
              </a:lnSpc>
            </a:pPr>
            <a:r>
              <a:rPr sz="1450" b="1">
                <a:solidFill>
                  <a:srgbClr val="FFB454"/>
                </a:solidFill>
                <a:latin typeface="Arial"/>
              </a:rPr>
              <a:t>海信發表全新 100 吋與 120 吋 L5G 4K 智慧雷射電視系統</a:t>
            </a:r>
            <a:r>
              <a:rPr sz="1450">
                <a:solidFill>
                  <a:srgbClr val="F5F3EC"/>
                </a:solidFill>
                <a:latin typeface="Arial"/>
              </a:rPr>
              <a:t> | ProjectorReviews | [連結](https://www.projectorreviews.com/hisense-announces-new-120-and-100-l5g-4k-smart-laser-tv-systems/)</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14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b="1">
                <a:solidFill>
                  <a:srgbClr val="FFB454"/>
                </a:solidFill>
                <a:latin typeface="Arial"/>
              </a:rPr>
              <a:t>海信擴展三色雷射投影機產品線，推出 XR10 與 PX4-PRO</a:t>
            </a:r>
            <a:r>
              <a:rPr sz="1450">
                <a:solidFill>
                  <a:srgbClr val="F5F3EC"/>
                </a:solidFill>
                <a:latin typeface="Arial"/>
              </a:rPr>
              <a:t> | ProjectorReviews | [連結](https://www.projectorreviews.com/hisense-expands-its-tri-laser-projector-lineup-with-the-xr10-and-px4-pro/)</a:t>
            </a:r>
          </a:p>
        </p:txBody>
      </p:sp>
      <p:sp>
        <p:nvSpPr>
          <p:cNvPr id="6" name="Oval 5"/>
          <p:cNvSpPr/>
          <p:nvPr/>
        </p:nvSpPr>
        <p:spPr>
          <a:xfrm>
            <a:off x="594360" y="2843784"/>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15768"/>
            <a:ext cx="10698480" cy="402336"/>
          </a:xfrm>
          <a:prstGeom prst="rect">
            <a:avLst/>
          </a:prstGeom>
          <a:noFill/>
        </p:spPr>
        <p:txBody>
          <a:bodyPr wrap="square">
            <a:spAutoFit/>
          </a:bodyPr>
          <a:lstStyle/>
          <a:p>
            <a:pPr>
              <a:lnSpc>
                <a:spcPct val="115000"/>
              </a:lnSpc>
            </a:pPr>
            <a:r>
              <a:rPr sz="1450">
                <a:solidFill>
                  <a:srgbClr val="F5F3EC"/>
                </a:solidFill>
                <a:latin typeface="Arial"/>
              </a:rPr>
              <a:t>### 技術動態</a:t>
            </a:r>
          </a:p>
        </p:txBody>
      </p:sp>
      <p:sp>
        <p:nvSpPr>
          <p:cNvPr id="8" name="Oval 7"/>
          <p:cNvSpPr/>
          <p:nvPr/>
        </p:nvSpPr>
        <p:spPr>
          <a:xfrm>
            <a:off x="594360" y="3246119"/>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3"/>
            <a:ext cx="10698480" cy="877824"/>
          </a:xfrm>
          <a:prstGeom prst="rect">
            <a:avLst/>
          </a:prstGeom>
          <a:noFill/>
        </p:spPr>
        <p:txBody>
          <a:bodyPr wrap="square">
            <a:spAutoFit/>
          </a:bodyPr>
          <a:lstStyle/>
          <a:p>
            <a:pPr>
              <a:lnSpc>
                <a:spcPct val="115000"/>
              </a:lnSpc>
            </a:pPr>
            <a:r>
              <a:rPr sz="1450" b="1">
                <a:solidFill>
                  <a:srgbClr val="FFB454"/>
                </a:solidFill>
                <a:latin typeface="Arial"/>
              </a:rPr>
              <a:t>Optoma PH31 投影機真實使用體驗分享</a:t>
            </a:r>
            <a:r>
              <a:rPr sz="1450">
                <a:solidFill>
                  <a:srgbClr val="F5F3EC"/>
                </a:solidFill>
                <a:latin typeface="Arial"/>
              </a:rPr>
              <a:t> | Reddit r/projectors | [連結](https://www.reddit.com/r/projectors/comments/1v7oo7j/optoma_ph31_experience/)</a:t>
            </a:r>
          </a:p>
        </p:txBody>
      </p:sp>
      <p:sp>
        <p:nvSpPr>
          <p:cNvPr id="10" name="Oval 9"/>
          <p:cNvSpPr/>
          <p:nvPr/>
        </p:nvSpPr>
        <p:spPr>
          <a:xfrm>
            <a:off x="594360" y="4123943"/>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95927"/>
            <a:ext cx="10698480" cy="1115568"/>
          </a:xfrm>
          <a:prstGeom prst="rect">
            <a:avLst/>
          </a:prstGeom>
          <a:noFill/>
        </p:spPr>
        <p:txBody>
          <a:bodyPr wrap="square">
            <a:spAutoFit/>
          </a:bodyPr>
          <a:lstStyle/>
          <a:p>
            <a:pPr>
              <a:lnSpc>
                <a:spcPct val="115000"/>
              </a:lnSpc>
            </a:pPr>
            <a:r>
              <a:rPr sz="1450" b="1">
                <a:solidFill>
                  <a:srgbClr val="FFB454"/>
                </a:solidFill>
                <a:latin typeface="Arial"/>
              </a:rPr>
              <a:t>投影機移動後畫面突然變模糊的故障求助</a:t>
            </a:r>
            <a:r>
              <a:rPr sz="1450">
                <a:solidFill>
                  <a:srgbClr val="F5F3EC"/>
                </a:solidFill>
                <a:latin typeface="Arial"/>
              </a:rPr>
              <a:t> | Reddit r/projectors | [連結](https://www.reddit.com/r/projectors/comments/1v7pl4l/why_is_it_suddenly_blurry_after_moving_it/)</a:t>
            </a:r>
          </a:p>
        </p:txBody>
      </p:sp>
      <p:sp>
        <p:nvSpPr>
          <p:cNvPr id="12" name="Oval 11"/>
          <p:cNvSpPr/>
          <p:nvPr/>
        </p:nvSpPr>
        <p:spPr>
          <a:xfrm>
            <a:off x="594360" y="5239511"/>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111495"/>
            <a:ext cx="10698480" cy="402336"/>
          </a:xfrm>
          <a:prstGeom prst="rect">
            <a:avLst/>
          </a:prstGeom>
          <a:noFill/>
        </p:spPr>
        <p:txBody>
          <a:bodyPr wrap="square">
            <a:spAutoFit/>
          </a:bodyPr>
          <a:lstStyle/>
          <a:p>
            <a:pPr>
              <a:lnSpc>
                <a:spcPct val="115000"/>
              </a:lnSpc>
            </a:pPr>
            <a:r>
              <a:rPr sz="1450">
                <a:solidFill>
                  <a:srgbClr val="F5F3EC"/>
                </a:solidFill>
                <a:latin typeface="Arial"/>
              </a:rPr>
              <a:t>### 市場數據</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15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附錄：本月參考來源（續）</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b="1">
                <a:solidFill>
                  <a:srgbClr val="FFB454"/>
                </a:solidFill>
                <a:latin typeface="Arial"/>
              </a:rPr>
              <a:t>美國250美元以下戶外電影夜投影機推薦諮詢</a:t>
            </a:r>
            <a:r>
              <a:rPr sz="1450">
                <a:solidFill>
                  <a:srgbClr val="F5F3EC"/>
                </a:solidFill>
                <a:latin typeface="Arial"/>
              </a:rPr>
              <a:t> | Reddit r/projectors | [連結](https://www.reddit.com/r/projectors/comments/1v7ujft/under_250_outdoor_movie_night_projector_usa/)</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