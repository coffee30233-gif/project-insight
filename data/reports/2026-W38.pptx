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Oval 1"/>
          <p:cNvSpPr/>
          <p:nvPr/>
        </p:nvSpPr>
        <p:spPr>
          <a:xfrm>
            <a:off x="8503920" y="-2194560"/>
            <a:ext cx="6400800" cy="6400800"/>
          </a:xfrm>
          <a:prstGeom prst="ellipse">
            <a:avLst/>
          </a:prstGeom>
          <a:solidFill>
            <a:srgbClr val="4C7E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2377440" y="4206240"/>
            <a:ext cx="5486400" cy="5486400"/>
          </a:xfrm>
          <a:prstGeom prst="ellipse">
            <a:avLst/>
          </a:prstGeom>
          <a:solidFill>
            <a:srgbClr val="FFB454">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965960"/>
            <a:ext cx="9144000" cy="365760"/>
          </a:xfrm>
          <a:prstGeom prst="rect">
            <a:avLst/>
          </a:prstGeom>
          <a:noFill/>
        </p:spPr>
        <p:txBody>
          <a:bodyPr wrap="square" anchor="t">
            <a:spAutoFit/>
          </a:bodyPr>
          <a:lstStyle/>
          <a:p>
            <a:pPr algn="l"/>
            <a:r>
              <a:rPr sz="1300" b="1">
                <a:solidFill>
                  <a:srgbClr val="FFB454"/>
                </a:solidFill>
                <a:latin typeface="Arial"/>
              </a:rPr>
              <a:t>投影機情報站</a:t>
            </a:r>
          </a:p>
        </p:txBody>
      </p:sp>
      <p:sp>
        <p:nvSpPr>
          <p:cNvPr id="5" name="TextBox 4"/>
          <p:cNvSpPr txBox="1"/>
          <p:nvPr/>
        </p:nvSpPr>
        <p:spPr>
          <a:xfrm>
            <a:off x="731520" y="2377440"/>
            <a:ext cx="10241280" cy="1828800"/>
          </a:xfrm>
          <a:prstGeom prst="rect">
            <a:avLst/>
          </a:prstGeom>
          <a:noFill/>
        </p:spPr>
        <p:txBody>
          <a:bodyPr wrap="square" anchor="t">
            <a:spAutoFit/>
          </a:bodyPr>
          <a:lstStyle/>
          <a:p>
            <a:pPr algn="l"/>
            <a:r>
              <a:rPr sz="4000" b="1">
                <a:solidFill>
                  <a:srgbClr val="F5F3EC"/>
                </a:solidFill>
                <a:latin typeface="Arial"/>
              </a:rPr>
              <a:t>2026-09-14 ～ 2026-09-20 投影機產業週報</a:t>
            </a:r>
          </a:p>
        </p:txBody>
      </p:sp>
      <p:sp>
        <p:nvSpPr>
          <p:cNvPr id="6" name="TextBox 5"/>
          <p:cNvSpPr txBox="1"/>
          <p:nvPr/>
        </p:nvSpPr>
        <p:spPr>
          <a:xfrm>
            <a:off x="731520" y="4160520"/>
            <a:ext cx="9601200" cy="457200"/>
          </a:xfrm>
          <a:prstGeom prst="rect">
            <a:avLst/>
          </a:prstGeom>
          <a:noFill/>
        </p:spPr>
        <p:txBody>
          <a:bodyPr wrap="square" anchor="t">
            <a:spAutoFit/>
          </a:bodyPr>
          <a:lstStyle/>
          <a:p>
            <a:pPr algn="l"/>
            <a:r>
              <a:rPr sz="1500" b="0">
                <a:solidFill>
                  <a:srgbClr val="9096A1"/>
                </a:solidFill>
                <a:latin typeface="Arial"/>
              </a:rPr>
              <a:t>投影機產業報告 · 自動產生簡報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02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本週重點</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1115568"/>
          </a:xfrm>
          <a:prstGeom prst="rect">
            <a:avLst/>
          </a:prstGeom>
          <a:noFill/>
        </p:spPr>
        <p:txBody>
          <a:bodyPr wrap="square">
            <a:spAutoFit/>
          </a:bodyPr>
          <a:lstStyle/>
          <a:p>
            <a:pPr>
              <a:lnSpc>
                <a:spcPct val="115000"/>
              </a:lnSpc>
            </a:pPr>
            <a:r>
              <a:rPr sz="1450">
                <a:solidFill>
                  <a:srgbClr val="F5F3EC"/>
                </a:solidFill>
                <a:latin typeface="Arial"/>
              </a:rPr>
              <a:t>這週投影機產業聚焦於高階應用與供應鏈轉型，其中極米科技於成都雙年展達成 196 天零故障，成功展現消費品牌跨足 B 端文化展演市場的潛力。同時，上游矽光子光學模組的生產瓶頸已自元件製造端向上游雷射級基板供應轉移，而各大品牌如當貝、科視與 soundcore Nebula 也紛紛發表高階雷射投影與智慧投影新品，持續拓展多元應用場景。</a:t>
            </a:r>
          </a:p>
        </p:txBody>
      </p:sp>
      <p:sp>
        <p:nvSpPr>
          <p:cNvPr id="6" name="TextBox 5"/>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03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市場與品牌動態</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640080"/>
          </a:xfrm>
          <a:prstGeom prst="rect">
            <a:avLst/>
          </a:prstGeom>
          <a:noFill/>
        </p:spPr>
        <p:txBody>
          <a:bodyPr wrap="square">
            <a:spAutoFit/>
          </a:bodyPr>
          <a:lstStyle/>
          <a:p>
            <a:pPr>
              <a:lnSpc>
                <a:spcPct val="115000"/>
              </a:lnSpc>
            </a:pPr>
            <a:r>
              <a:rPr sz="1450" b="1">
                <a:solidFill>
                  <a:srgbClr val="FFB454"/>
                </a:solidFill>
                <a:latin typeface="Arial"/>
              </a:rPr>
              <a:t>消費品牌跨足 B 端展演</a:t>
            </a:r>
            <a:r>
              <a:rPr sz="1450">
                <a:solidFill>
                  <a:srgbClr val="F5F3EC"/>
                </a:solidFill>
                <a:latin typeface="Arial"/>
              </a:rPr>
              <a:t>：極米科技 70 台投影設備在成都雙年展 196 天展期中達成零故障運行，獲成都市美術館感謝函，開闢客廳以外的 B 端業務戰場（投影時代）。</a:t>
            </a:r>
          </a:p>
        </p:txBody>
      </p:sp>
      <p:sp>
        <p:nvSpPr>
          <p:cNvPr id="6" name="Oval 5"/>
          <p:cNvSpPr/>
          <p:nvPr/>
        </p:nvSpPr>
        <p:spPr>
          <a:xfrm>
            <a:off x="594360" y="236829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40280"/>
            <a:ext cx="10698480" cy="402336"/>
          </a:xfrm>
          <a:prstGeom prst="rect">
            <a:avLst/>
          </a:prstGeom>
          <a:noFill/>
        </p:spPr>
        <p:txBody>
          <a:bodyPr wrap="square">
            <a:spAutoFit/>
          </a:bodyPr>
          <a:lstStyle/>
          <a:p>
            <a:pPr>
              <a:lnSpc>
                <a:spcPct val="115000"/>
              </a:lnSpc>
            </a:pPr>
            <a:r>
              <a:rPr sz="1450" b="1">
                <a:solidFill>
                  <a:srgbClr val="FFB454"/>
                </a:solidFill>
                <a:latin typeface="Arial"/>
              </a:rPr>
              <a:t>高階智慧與雷射新品亮相</a:t>
            </a:r>
            <a:r>
              <a:rPr sz="1450">
                <a:solidFill>
                  <a:srgbClr val="F5F3EC"/>
                </a:solidFill>
                <a:latin typeface="Arial"/>
              </a:rPr>
              <a:t>：</a:t>
            </a:r>
          </a:p>
        </p:txBody>
      </p:sp>
      <p:sp>
        <p:nvSpPr>
          <p:cNvPr id="8" name="Oval 7"/>
          <p:cNvSpPr/>
          <p:nvPr/>
        </p:nvSpPr>
        <p:spPr>
          <a:xfrm>
            <a:off x="594360" y="277063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642616"/>
            <a:ext cx="10698480" cy="640080"/>
          </a:xfrm>
          <a:prstGeom prst="rect">
            <a:avLst/>
          </a:prstGeom>
          <a:noFill/>
        </p:spPr>
        <p:txBody>
          <a:bodyPr wrap="square">
            <a:spAutoFit/>
          </a:bodyPr>
          <a:lstStyle/>
          <a:p>
            <a:pPr>
              <a:lnSpc>
                <a:spcPct val="115000"/>
              </a:lnSpc>
            </a:pPr>
            <a:r>
              <a:rPr sz="1450">
                <a:solidFill>
                  <a:srgbClr val="F5F3EC"/>
                </a:solidFill>
                <a:latin typeface="Arial"/>
              </a:rPr>
              <a:t>当贝發布 X9 Max 投影儀，主打 4800 CVIA 亮度、80000:1 動態對比度、QuaLas42 激光器與 MT9681 晶片（IT之家）。</a:t>
            </a:r>
          </a:p>
        </p:txBody>
      </p:sp>
      <p:sp>
        <p:nvSpPr>
          <p:cNvPr id="10" name="Oval 9"/>
          <p:cNvSpPr/>
          <p:nvPr/>
        </p:nvSpPr>
        <p:spPr>
          <a:xfrm>
            <a:off x="594360" y="341071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282696"/>
            <a:ext cx="10698480" cy="640080"/>
          </a:xfrm>
          <a:prstGeom prst="rect">
            <a:avLst/>
          </a:prstGeom>
          <a:noFill/>
        </p:spPr>
        <p:txBody>
          <a:bodyPr wrap="square">
            <a:spAutoFit/>
          </a:bodyPr>
          <a:lstStyle/>
          <a:p>
            <a:pPr>
              <a:lnSpc>
                <a:spcPct val="115000"/>
              </a:lnSpc>
            </a:pPr>
            <a:r>
              <a:rPr sz="1450">
                <a:solidFill>
                  <a:srgbClr val="F5F3EC"/>
                </a:solidFill>
                <a:latin typeface="Arial"/>
              </a:rPr>
              <a:t>soundcore Nebula 推出 X1S 智慧投影機，搭載 4K 解析度與 6000 流明 RGB 雷射光源，建議售價 2499 美元起（ProjectorReviews）。</a:t>
            </a:r>
          </a:p>
        </p:txBody>
      </p:sp>
      <p:sp>
        <p:nvSpPr>
          <p:cNvPr id="12" name="Oval 11"/>
          <p:cNvSpPr/>
          <p:nvPr/>
        </p:nvSpPr>
        <p:spPr>
          <a:xfrm>
            <a:off x="594360" y="405079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922776"/>
            <a:ext cx="10698480" cy="640080"/>
          </a:xfrm>
          <a:prstGeom prst="rect">
            <a:avLst/>
          </a:prstGeom>
          <a:noFill/>
        </p:spPr>
        <p:txBody>
          <a:bodyPr wrap="square">
            <a:spAutoFit/>
          </a:bodyPr>
          <a:lstStyle/>
          <a:p>
            <a:pPr>
              <a:lnSpc>
                <a:spcPct val="115000"/>
              </a:lnSpc>
            </a:pPr>
            <a:r>
              <a:rPr sz="1450">
                <a:solidFill>
                  <a:srgbClr val="F5F3EC"/>
                </a:solidFill>
                <a:latin typeface="Arial"/>
              </a:rPr>
              <a:t>堅果發布首款 360 度全景智能投影儀 MIGO，具備 750 CVIA 亮度與 DLP 顯示技術，國補到手價 1599.3 元（IT之家）。</a:t>
            </a:r>
          </a:p>
        </p:txBody>
      </p:sp>
      <p:sp>
        <p:nvSpPr>
          <p:cNvPr id="14" name="Oval 13"/>
          <p:cNvSpPr/>
          <p:nvPr/>
        </p:nvSpPr>
        <p:spPr>
          <a:xfrm>
            <a:off x="594360" y="469087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562856"/>
            <a:ext cx="10698480" cy="640080"/>
          </a:xfrm>
          <a:prstGeom prst="rect">
            <a:avLst/>
          </a:prstGeom>
          <a:noFill/>
        </p:spPr>
        <p:txBody>
          <a:bodyPr wrap="square">
            <a:spAutoFit/>
          </a:bodyPr>
          <a:lstStyle/>
          <a:p>
            <a:pPr>
              <a:lnSpc>
                <a:spcPct val="115000"/>
              </a:lnSpc>
            </a:pPr>
            <a:r>
              <a:rPr sz="1450">
                <a:solidFill>
                  <a:srgbClr val="F5F3EC"/>
                </a:solidFill>
                <a:latin typeface="Arial"/>
              </a:rPr>
              <a:t>騰訊上架極光投影儀 F5，主打 1080P 解析度與 345CVIA 流明，售價 822 元人民幣起（IT之家）。</a:t>
            </a:r>
          </a:p>
        </p:txBody>
      </p:sp>
      <p:sp>
        <p:nvSpPr>
          <p:cNvPr id="16" name="Oval 15"/>
          <p:cNvSpPr/>
          <p:nvPr/>
        </p:nvSpPr>
        <p:spPr>
          <a:xfrm>
            <a:off x="594360" y="5330952"/>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202936"/>
            <a:ext cx="10698480" cy="402336"/>
          </a:xfrm>
          <a:prstGeom prst="rect">
            <a:avLst/>
          </a:prstGeom>
          <a:noFill/>
        </p:spPr>
        <p:txBody>
          <a:bodyPr wrap="square">
            <a:spAutoFit/>
          </a:bodyPr>
          <a:lstStyle/>
          <a:p>
            <a:pPr>
              <a:lnSpc>
                <a:spcPct val="115000"/>
              </a:lnSpc>
            </a:pPr>
            <a:r>
              <a:rPr sz="1450" b="1">
                <a:solidFill>
                  <a:srgbClr val="FFB454"/>
                </a:solidFill>
                <a:latin typeface="Arial"/>
              </a:rPr>
              <a:t>展館與專業空間升級</a:t>
            </a:r>
            <a:r>
              <a:rPr sz="1450">
                <a:solidFill>
                  <a:srgbClr val="F5F3EC"/>
                </a:solidFill>
                <a:latin typeface="Arial"/>
              </a:rPr>
              <a:t>：</a:t>
            </a:r>
          </a:p>
        </p:txBody>
      </p:sp>
      <p:sp>
        <p:nvSpPr>
          <p:cNvPr id="18" name="Oval 17"/>
          <p:cNvSpPr/>
          <p:nvPr/>
        </p:nvSpPr>
        <p:spPr>
          <a:xfrm>
            <a:off x="594360" y="5733288"/>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605272"/>
            <a:ext cx="10698480" cy="640080"/>
          </a:xfrm>
          <a:prstGeom prst="rect">
            <a:avLst/>
          </a:prstGeom>
          <a:noFill/>
        </p:spPr>
        <p:txBody>
          <a:bodyPr wrap="square">
            <a:spAutoFit/>
          </a:bodyPr>
          <a:lstStyle/>
          <a:p>
            <a:pPr>
              <a:lnSpc>
                <a:spcPct val="115000"/>
              </a:lnSpc>
            </a:pPr>
            <a:r>
              <a:rPr sz="1450">
                <a:solidFill>
                  <a:srgbClr val="F5F3EC"/>
                </a:solidFill>
                <a:latin typeface="Arial"/>
              </a:rPr>
              <a:t>科視 Christie 上海辦公室 3000 平米演示室完成升級，展出 Eclipse G3、Griffyn 與 M4K 系列等高階純雷射投影機（投影時代、投影時代）。</a:t>
            </a:r>
          </a:p>
        </p:txBody>
      </p:sp>
      <p:sp>
        <p:nvSpPr>
          <p:cNvPr id="20" name="TextBox 19"/>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04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市場與品牌動態</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640080"/>
          </a:xfrm>
          <a:prstGeom prst="rect">
            <a:avLst/>
          </a:prstGeom>
          <a:noFill/>
        </p:spPr>
        <p:txBody>
          <a:bodyPr wrap="square">
            <a:spAutoFit/>
          </a:bodyPr>
          <a:lstStyle/>
          <a:p>
            <a:pPr>
              <a:lnSpc>
                <a:spcPct val="115000"/>
              </a:lnSpc>
            </a:pPr>
            <a:r>
              <a:rPr sz="1450">
                <a:solidFill>
                  <a:srgbClr val="F5F3EC"/>
                </a:solidFill>
                <a:latin typeface="Arial"/>
              </a:rPr>
              <a:t>印度加爾各答詞語博物館採用 16 台科視雷射投影機（包含 Captiva 超短焦與 Inspire 系列 1DLP 機型）打造互動視覺體驗（投影時代）。</a:t>
            </a:r>
          </a:p>
        </p:txBody>
      </p:sp>
      <p:sp>
        <p:nvSpPr>
          <p:cNvPr id="6" name="Oval 5"/>
          <p:cNvSpPr/>
          <p:nvPr/>
        </p:nvSpPr>
        <p:spPr>
          <a:xfrm>
            <a:off x="594360" y="236829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40280"/>
            <a:ext cx="10698480" cy="640080"/>
          </a:xfrm>
          <a:prstGeom prst="rect">
            <a:avLst/>
          </a:prstGeom>
          <a:noFill/>
        </p:spPr>
        <p:txBody>
          <a:bodyPr wrap="square">
            <a:spAutoFit/>
          </a:bodyPr>
          <a:lstStyle/>
          <a:p>
            <a:pPr>
              <a:lnSpc>
                <a:spcPct val="115000"/>
              </a:lnSpc>
            </a:pPr>
            <a:r>
              <a:rPr sz="1450">
                <a:solidFill>
                  <a:srgbClr val="F5F3EC"/>
                </a:solidFill>
                <a:latin typeface="Arial"/>
              </a:rPr>
              <a:t>波士頓歌劇院攜手 MASARY工作室，採用 Epson 大型場館 4K 雷射投影機將字幕轉化為動態舞台藝術（Epson官方）。</a:t>
            </a:r>
          </a:p>
        </p:txBody>
      </p:sp>
      <p:sp>
        <p:nvSpPr>
          <p:cNvPr id="8" name="TextBox 7"/>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05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技術與供應鏈</a:t>
            </a:r>
          </a:p>
        </p:txBody>
      </p:sp>
      <p:sp>
        <p:nvSpPr>
          <p:cNvPr id="4" name="Rounded Rectangle 3"/>
          <p:cNvSpPr/>
          <p:nvPr/>
        </p:nvSpPr>
        <p:spPr>
          <a:xfrm>
            <a:off x="548640" y="1600200"/>
            <a:ext cx="5432907" cy="4754880"/>
          </a:xfrm>
          <a:prstGeom prst="roundRect">
            <a:avLst>
              <a:gd name="adj" fmla="val 6000"/>
            </a:avLst>
          </a:prstGeom>
          <a:solidFill>
            <a:srgbClr val="23262F"/>
          </a:solidFill>
          <a:ln w="12700">
            <a:solidFill>
              <a:srgbClr val="4C7E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764792"/>
            <a:ext cx="5030571" cy="457200"/>
          </a:xfrm>
          <a:prstGeom prst="rect">
            <a:avLst/>
          </a:prstGeom>
          <a:noFill/>
        </p:spPr>
        <p:txBody>
          <a:bodyPr wrap="square" anchor="t">
            <a:spAutoFit/>
          </a:bodyPr>
          <a:lstStyle/>
          <a:p>
            <a:pPr algn="l"/>
            <a:r>
              <a:rPr sz="1450" b="1">
                <a:solidFill>
                  <a:srgbClr val="4C7EFF"/>
                </a:solidFill>
                <a:latin typeface="Arial"/>
              </a:rPr>
              <a:t>矽光子與光學模組瓶頸轉移</a:t>
            </a:r>
          </a:p>
        </p:txBody>
      </p:sp>
      <p:sp>
        <p:nvSpPr>
          <p:cNvPr id="6" name="TextBox 5"/>
          <p:cNvSpPr txBox="1"/>
          <p:nvPr/>
        </p:nvSpPr>
        <p:spPr>
          <a:xfrm>
            <a:off x="749808" y="2258568"/>
            <a:ext cx="5030571" cy="3931920"/>
          </a:xfrm>
          <a:prstGeom prst="rect">
            <a:avLst/>
          </a:prstGeom>
          <a:noFill/>
        </p:spPr>
        <p:txBody>
          <a:bodyPr wrap="square">
            <a:spAutoFit/>
          </a:bodyPr>
          <a:lstStyle/>
          <a:p>
            <a:pPr>
              <a:lnSpc>
                <a:spcPct val="120000"/>
              </a:lnSpc>
            </a:pPr>
            <a:r>
              <a:rPr sz="1150">
                <a:solidFill>
                  <a:srgbClr val="F5F3EC"/>
                </a:solidFill>
                <a:latin typeface="Arial"/>
              </a:rPr>
              <a:t>隨著矽光子技術發展，光學模組的生產瓶頸已從下游元件製造端，向上游轉移至雷射級基板的供應，突顯上游原材料與基板技術在顯示光學應用中的關鍵地位（DigiTimes）。</a:t>
            </a:r>
          </a:p>
        </p:txBody>
      </p:sp>
      <p:sp>
        <p:nvSpPr>
          <p:cNvPr id="7" name="Rounded Rectangle 6"/>
          <p:cNvSpPr/>
          <p:nvPr/>
        </p:nvSpPr>
        <p:spPr>
          <a:xfrm>
            <a:off x="6210147" y="1600200"/>
            <a:ext cx="5432907" cy="4754880"/>
          </a:xfrm>
          <a:prstGeom prst="roundRect">
            <a:avLst>
              <a:gd name="adj" fmla="val 6000"/>
            </a:avLst>
          </a:prstGeom>
          <a:solidFill>
            <a:srgbClr val="23262F"/>
          </a:solidFill>
          <a:ln w="12700">
            <a:solidFill>
              <a:srgbClr val="FFB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1315" y="1764792"/>
            <a:ext cx="5030571" cy="457200"/>
          </a:xfrm>
          <a:prstGeom prst="rect">
            <a:avLst/>
          </a:prstGeom>
          <a:noFill/>
        </p:spPr>
        <p:txBody>
          <a:bodyPr wrap="square" anchor="t">
            <a:spAutoFit/>
          </a:bodyPr>
          <a:lstStyle/>
          <a:p>
            <a:pPr algn="l"/>
            <a:r>
              <a:rPr sz="1450" b="1">
                <a:solidFill>
                  <a:srgbClr val="FFB454"/>
                </a:solidFill>
                <a:latin typeface="Arial"/>
              </a:rPr>
              <a:t>AI 競賽驅動連接技術</a:t>
            </a:r>
          </a:p>
        </p:txBody>
      </p:sp>
      <p:sp>
        <p:nvSpPr>
          <p:cNvPr id="9" name="TextBox 8"/>
          <p:cNvSpPr txBox="1"/>
          <p:nvPr/>
        </p:nvSpPr>
        <p:spPr>
          <a:xfrm>
            <a:off x="6411315" y="2258568"/>
            <a:ext cx="5030571" cy="3931920"/>
          </a:xfrm>
          <a:prstGeom prst="rect">
            <a:avLst/>
          </a:prstGeom>
          <a:noFill/>
        </p:spPr>
        <p:txBody>
          <a:bodyPr wrap="square">
            <a:spAutoFit/>
          </a:bodyPr>
          <a:lstStyle/>
          <a:p>
            <a:pPr>
              <a:lnSpc>
                <a:spcPct val="120000"/>
              </a:lnSpc>
            </a:pPr>
            <a:r>
              <a:rPr sz="1150">
                <a:solidFill>
                  <a:srgbClr val="F5F3EC"/>
                </a:solidFill>
                <a:latin typeface="Arial"/>
              </a:rPr>
              <a:t>隨著 AI 競賽重心轉向資料傳輸與連接技術，鴻騰精密（FIT）正積極擴大光學互連產品的研發與佈局，提升高速傳輸效能與高頻寬資料中心互連技術（DigiTimes）。</a:t>
            </a:r>
          </a:p>
        </p:txBody>
      </p:sp>
      <p:sp>
        <p:nvSpPr>
          <p:cNvPr id="10" name="TextBox 9"/>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TextBox 1"/>
          <p:cNvSpPr txBox="1"/>
          <p:nvPr/>
        </p:nvSpPr>
        <p:spPr>
          <a:xfrm>
            <a:off x="548640" y="384048"/>
            <a:ext cx="7315200" cy="320040"/>
          </a:xfrm>
          <a:prstGeom prst="rect">
            <a:avLst/>
          </a:prstGeom>
          <a:noFill/>
        </p:spPr>
        <p:txBody>
          <a:bodyPr wrap="square" anchor="t">
            <a:spAutoFit/>
          </a:bodyPr>
          <a:lstStyle/>
          <a:p>
            <a:pPr algn="l"/>
            <a:r>
              <a:rPr sz="1100" b="1">
                <a:solidFill>
                  <a:srgbClr val="FFB454"/>
                </a:solidFill>
                <a:latin typeface="Arial"/>
              </a:rPr>
              <a:t>06 · SECTION　🔭</a:t>
            </a:r>
          </a:p>
        </p:txBody>
      </p:sp>
      <p:sp>
        <p:nvSpPr>
          <p:cNvPr id="3" name="TextBox 2"/>
          <p:cNvSpPr txBox="1"/>
          <p:nvPr/>
        </p:nvSpPr>
        <p:spPr>
          <a:xfrm>
            <a:off x="548640" y="713232"/>
            <a:ext cx="10972800" cy="685800"/>
          </a:xfrm>
          <a:prstGeom prst="rect">
            <a:avLst/>
          </a:prstGeom>
          <a:noFill/>
        </p:spPr>
        <p:txBody>
          <a:bodyPr wrap="square" anchor="t">
            <a:spAutoFit/>
          </a:bodyPr>
          <a:lstStyle/>
          <a:p>
            <a:pPr algn="l"/>
            <a:r>
              <a:rPr sz="2600" b="1">
                <a:solidFill>
                  <a:srgbClr val="F5F3EC"/>
                </a:solidFill>
                <a:latin typeface="Arial"/>
              </a:rPr>
              <a:t>下週關注</a:t>
            </a:r>
          </a:p>
        </p:txBody>
      </p:sp>
      <p:sp>
        <p:nvSpPr>
          <p:cNvPr id="4" name="Oval 3"/>
          <p:cNvSpPr/>
          <p:nvPr/>
        </p:nvSpPr>
        <p:spPr>
          <a:xfrm>
            <a:off x="594360" y="172821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10698480" cy="640080"/>
          </a:xfrm>
          <a:prstGeom prst="rect">
            <a:avLst/>
          </a:prstGeom>
          <a:noFill/>
        </p:spPr>
        <p:txBody>
          <a:bodyPr wrap="square">
            <a:spAutoFit/>
          </a:bodyPr>
          <a:lstStyle/>
          <a:p>
            <a:pPr>
              <a:lnSpc>
                <a:spcPct val="115000"/>
              </a:lnSpc>
            </a:pPr>
            <a:r>
              <a:rPr sz="1450">
                <a:solidFill>
                  <a:srgbClr val="F5F3EC"/>
                </a:solidFill>
                <a:latin typeface="Arial"/>
              </a:rPr>
              <a:t>智慧投影機新品（如当贝 X9 Max、堅果 MIGO 等）在市場開售後的實際銷售表現與市場迴響。</a:t>
            </a:r>
          </a:p>
        </p:txBody>
      </p:sp>
      <p:sp>
        <p:nvSpPr>
          <p:cNvPr id="6" name="Oval 5"/>
          <p:cNvSpPr/>
          <p:nvPr/>
        </p:nvSpPr>
        <p:spPr>
          <a:xfrm>
            <a:off x="594360" y="2368296"/>
            <a:ext cx="100584" cy="100584"/>
          </a:xfrm>
          <a:prstGeom prst="ellipse">
            <a:avLst/>
          </a:prstGeom>
          <a:solidFill>
            <a:srgbClr val="4C7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240280"/>
            <a:ext cx="10698480" cy="640080"/>
          </a:xfrm>
          <a:prstGeom prst="rect">
            <a:avLst/>
          </a:prstGeom>
          <a:noFill/>
        </p:spPr>
        <p:txBody>
          <a:bodyPr wrap="square">
            <a:spAutoFit/>
          </a:bodyPr>
          <a:lstStyle/>
          <a:p>
            <a:pPr>
              <a:lnSpc>
                <a:spcPct val="115000"/>
              </a:lnSpc>
            </a:pPr>
            <a:r>
              <a:rPr sz="1450">
                <a:solidFill>
                  <a:srgbClr val="F5F3EC"/>
                </a:solidFill>
                <a:latin typeface="Arial"/>
              </a:rPr>
              <a:t>供應鏈端矽光子技術從元件製造轉向雷射級基板供應後，對上游原材料與整體顯示光學應用的進一步影響。</a:t>
            </a:r>
          </a:p>
        </p:txBody>
      </p:sp>
      <p:sp>
        <p:nvSpPr>
          <p:cNvPr id="8" name="TextBox 7"/>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4161A"/>
        </a:solidFill>
        <a:effectLst/>
      </p:bgPr>
    </p:bg>
    <p:spTree>
      <p:nvGrpSpPr>
        <p:cNvPr id="1" name=""/>
        <p:cNvGrpSpPr/>
        <p:nvPr/>
      </p:nvGrpSpPr>
      <p:grpSpPr/>
      <p:sp>
        <p:nvSpPr>
          <p:cNvPr id="2" name="Oval 1"/>
          <p:cNvSpPr/>
          <p:nvPr/>
        </p:nvSpPr>
        <p:spPr>
          <a:xfrm>
            <a:off x="8961120" y="3200400"/>
            <a:ext cx="5486400" cy="5486400"/>
          </a:xfrm>
          <a:prstGeom prst="ellipse">
            <a:avLst/>
          </a:prstGeom>
          <a:solidFill>
            <a:srgbClr val="4C7EFF">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26080"/>
            <a:ext cx="9144000" cy="822960"/>
          </a:xfrm>
          <a:prstGeom prst="rect">
            <a:avLst/>
          </a:prstGeom>
          <a:noFill/>
        </p:spPr>
        <p:txBody>
          <a:bodyPr wrap="square" anchor="t">
            <a:spAutoFit/>
          </a:bodyPr>
          <a:lstStyle/>
          <a:p>
            <a:pPr algn="l"/>
            <a:r>
              <a:rPr sz="3000" b="1">
                <a:solidFill>
                  <a:srgbClr val="F5F3EC"/>
                </a:solidFill>
                <a:latin typeface="Arial"/>
              </a:rPr>
              <a:t>投影機情報站</a:t>
            </a:r>
          </a:p>
        </p:txBody>
      </p:sp>
      <p:sp>
        <p:nvSpPr>
          <p:cNvPr id="4" name="TextBox 3"/>
          <p:cNvSpPr txBox="1"/>
          <p:nvPr/>
        </p:nvSpPr>
        <p:spPr>
          <a:xfrm>
            <a:off x="731520" y="3611880"/>
            <a:ext cx="9144000" cy="457200"/>
          </a:xfrm>
          <a:prstGeom prst="rect">
            <a:avLst/>
          </a:prstGeom>
          <a:noFill/>
        </p:spPr>
        <p:txBody>
          <a:bodyPr wrap="square" anchor="t">
            <a:spAutoFit/>
          </a:bodyPr>
          <a:lstStyle/>
          <a:p>
            <a:pPr algn="l"/>
            <a:r>
              <a:rPr sz="1400" b="0">
                <a:solidFill>
                  <a:srgbClr val="9096A1"/>
                </a:solidFill>
                <a:latin typeface="Arial"/>
              </a:rPr>
              <a:t>由本站爬蟲每日追蹤產業動態，AI 自動摘要與分類</a:t>
            </a:r>
          </a:p>
        </p:txBody>
      </p:sp>
      <p:sp>
        <p:nvSpPr>
          <p:cNvPr id="5" name="TextBox 4"/>
          <p:cNvSpPr txBox="1"/>
          <p:nvPr/>
        </p:nvSpPr>
        <p:spPr>
          <a:xfrm>
            <a:off x="11430000" y="6446520"/>
            <a:ext cx="548640" cy="274320"/>
          </a:xfrm>
          <a:prstGeom prst="rect">
            <a:avLst/>
          </a:prstGeom>
          <a:noFill/>
        </p:spPr>
        <p:txBody>
          <a:bodyPr wrap="square" anchor="t">
            <a:spAutoFit/>
          </a:bodyPr>
          <a:lstStyle/>
          <a:p>
            <a:pPr algn="r"/>
            <a:r>
              <a:rPr sz="1000" b="0">
                <a:solidFill>
                  <a:srgbClr val="9096A1"/>
                </a:solidFill>
                <a:latin typeface="Arial"/>
              </a:rPr>
              <a:t>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