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Oval 1"/>
          <p:cNvSpPr/>
          <p:nvPr/>
        </p:nvSpPr>
        <p:spPr>
          <a:xfrm>
            <a:off x="8503920" y="-2194560"/>
            <a:ext cx="6400800" cy="6400800"/>
          </a:xfrm>
          <a:prstGeom prst="ellipse">
            <a:avLst/>
          </a:prstGeom>
          <a:solidFill>
            <a:srgbClr val="4C7E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377440" y="4206240"/>
            <a:ext cx="5486400" cy="5486400"/>
          </a:xfrm>
          <a:prstGeom prst="ellipse">
            <a:avLst/>
          </a:prstGeom>
          <a:solidFill>
            <a:srgbClr val="FFB454">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965960"/>
            <a:ext cx="9144000" cy="365760"/>
          </a:xfrm>
          <a:prstGeom prst="rect">
            <a:avLst/>
          </a:prstGeom>
          <a:noFill/>
        </p:spPr>
        <p:txBody>
          <a:bodyPr wrap="square" anchor="t">
            <a:spAutoFit/>
          </a:bodyPr>
          <a:lstStyle/>
          <a:p>
            <a:pPr algn="l"/>
            <a:r>
              <a:rPr sz="1300" b="1">
                <a:solidFill>
                  <a:srgbClr val="FFB454"/>
                </a:solidFill>
                <a:latin typeface="Arial"/>
              </a:rPr>
              <a:t>投影機情報站</a:t>
            </a:r>
          </a:p>
        </p:txBody>
      </p:sp>
      <p:sp>
        <p:nvSpPr>
          <p:cNvPr id="5" name="TextBox 4"/>
          <p:cNvSpPr txBox="1"/>
          <p:nvPr/>
        </p:nvSpPr>
        <p:spPr>
          <a:xfrm>
            <a:off x="731520" y="2377440"/>
            <a:ext cx="10241280" cy="1828800"/>
          </a:xfrm>
          <a:prstGeom prst="rect">
            <a:avLst/>
          </a:prstGeom>
          <a:noFill/>
        </p:spPr>
        <p:txBody>
          <a:bodyPr wrap="square" anchor="t">
            <a:spAutoFit/>
          </a:bodyPr>
          <a:lstStyle/>
          <a:p>
            <a:pPr algn="l"/>
            <a:r>
              <a:rPr sz="4000" b="1">
                <a:solidFill>
                  <a:srgbClr val="F5F3EC"/>
                </a:solidFill>
                <a:latin typeface="Arial"/>
              </a:rPr>
              <a:t>2026-09-14 ～ 2026-09-20 投影機產業週報</a:t>
            </a:r>
          </a:p>
        </p:txBody>
      </p:sp>
      <p:sp>
        <p:nvSpPr>
          <p:cNvPr id="6" name="TextBox 5"/>
          <p:cNvSpPr txBox="1"/>
          <p:nvPr/>
        </p:nvSpPr>
        <p:spPr>
          <a:xfrm>
            <a:off x="731520" y="4160520"/>
            <a:ext cx="9601200" cy="457200"/>
          </a:xfrm>
          <a:prstGeom prst="rect">
            <a:avLst/>
          </a:prstGeom>
          <a:noFill/>
        </p:spPr>
        <p:txBody>
          <a:bodyPr wrap="square" anchor="t">
            <a:spAutoFit/>
          </a:bodyPr>
          <a:lstStyle/>
          <a:p>
            <a:pPr algn="l"/>
            <a:r>
              <a:rPr sz="1500" b="0">
                <a:solidFill>
                  <a:srgbClr val="9096A1"/>
                </a:solidFill>
                <a:latin typeface="Arial"/>
              </a:rPr>
              <a:t>投影機產業報告 · 自動產生簡報</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02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本週重點</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877824"/>
          </a:xfrm>
          <a:prstGeom prst="rect">
            <a:avLst/>
          </a:prstGeom>
          <a:noFill/>
        </p:spPr>
        <p:txBody>
          <a:bodyPr wrap="square">
            <a:spAutoFit/>
          </a:bodyPr>
          <a:lstStyle/>
          <a:p>
            <a:pPr>
              <a:lnSpc>
                <a:spcPct val="115000"/>
              </a:lnSpc>
            </a:pPr>
            <a:r>
              <a:rPr sz="1450">
                <a:solidFill>
                  <a:srgbClr val="F5F3EC"/>
                </a:solidFill>
                <a:latin typeface="Arial"/>
              </a:rPr>
              <a:t>這週投影機產業聚焦於B端市場跨界應用與上游供應鏈轉變。極米科技以高穩定性開拓文化展演市場，Epson大型雷射投影機則將歌劇字幕轉化為動態舞台藝術；同時，矽光子技術的光學模組生產瓶頸正向上游雷射級基板供應轉移，突顯上游原材料的關鍵地位。</a:t>
            </a:r>
          </a:p>
        </p:txBody>
      </p:sp>
      <p:sp>
        <p:nvSpPr>
          <p:cNvPr id="6" name="TextBox 5"/>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03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市場與品牌動態</a:t>
            </a:r>
          </a:p>
        </p:txBody>
      </p:sp>
      <p:sp>
        <p:nvSpPr>
          <p:cNvPr id="4" name="Rounded Rectangle 3"/>
          <p:cNvSpPr/>
          <p:nvPr/>
        </p:nvSpPr>
        <p:spPr>
          <a:xfrm>
            <a:off x="548640" y="1600200"/>
            <a:ext cx="3545738" cy="4754880"/>
          </a:xfrm>
          <a:prstGeom prst="roundRect">
            <a:avLst>
              <a:gd name="adj" fmla="val 6000"/>
            </a:avLst>
          </a:prstGeom>
          <a:solidFill>
            <a:srgbClr val="23262F"/>
          </a:solidFill>
          <a:ln w="12700">
            <a:solidFill>
              <a:srgbClr val="4C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764792"/>
            <a:ext cx="3143402" cy="457200"/>
          </a:xfrm>
          <a:prstGeom prst="rect">
            <a:avLst/>
          </a:prstGeom>
          <a:noFill/>
        </p:spPr>
        <p:txBody>
          <a:bodyPr wrap="square" anchor="t">
            <a:spAutoFit/>
          </a:bodyPr>
          <a:lstStyle/>
          <a:p>
            <a:pPr algn="l"/>
            <a:r>
              <a:rPr sz="1450" b="1">
                <a:solidFill>
                  <a:srgbClr val="4C7EFF"/>
                </a:solidFill>
                <a:latin typeface="Arial"/>
              </a:rPr>
              <a:t>消費品牌跨足藝文展演</a:t>
            </a:r>
          </a:p>
        </p:txBody>
      </p:sp>
      <p:sp>
        <p:nvSpPr>
          <p:cNvPr id="6" name="TextBox 5"/>
          <p:cNvSpPr txBox="1"/>
          <p:nvPr/>
        </p:nvSpPr>
        <p:spPr>
          <a:xfrm>
            <a:off x="749808" y="2258568"/>
            <a:ext cx="3143402" cy="3931920"/>
          </a:xfrm>
          <a:prstGeom prst="rect">
            <a:avLst/>
          </a:prstGeom>
          <a:noFill/>
        </p:spPr>
        <p:txBody>
          <a:bodyPr wrap="square">
            <a:spAutoFit/>
          </a:bodyPr>
          <a:lstStyle/>
          <a:p>
            <a:pPr>
              <a:lnSpc>
                <a:spcPct val="120000"/>
              </a:lnSpc>
            </a:pPr>
            <a:r>
              <a:rPr sz="1150">
                <a:solidFill>
                  <a:srgbClr val="F5F3EC"/>
                </a:solidFill>
                <a:latin typeface="Arial"/>
              </a:rPr>
              <a:t>極米科技70台投影設備在成都雙年展196天展期中達成零故障運行，獲成都市美術館感謝函，成功開闢客廳以外的B端文化藝術場景（投影時代）。</a:t>
            </a:r>
          </a:p>
        </p:txBody>
      </p:sp>
      <p:sp>
        <p:nvSpPr>
          <p:cNvPr id="7" name="Rounded Rectangle 6"/>
          <p:cNvSpPr/>
          <p:nvPr/>
        </p:nvSpPr>
        <p:spPr>
          <a:xfrm>
            <a:off x="4322978" y="1600200"/>
            <a:ext cx="3545738" cy="4754880"/>
          </a:xfrm>
          <a:prstGeom prst="roundRect">
            <a:avLst>
              <a:gd name="adj" fmla="val 6000"/>
            </a:avLst>
          </a:prstGeom>
          <a:solidFill>
            <a:srgbClr val="23262F"/>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4146" y="1764792"/>
            <a:ext cx="3143402" cy="457200"/>
          </a:xfrm>
          <a:prstGeom prst="rect">
            <a:avLst/>
          </a:prstGeom>
          <a:noFill/>
        </p:spPr>
        <p:txBody>
          <a:bodyPr wrap="square" anchor="t">
            <a:spAutoFit/>
          </a:bodyPr>
          <a:lstStyle/>
          <a:p>
            <a:pPr algn="l"/>
            <a:r>
              <a:rPr sz="1450" b="1">
                <a:solidFill>
                  <a:srgbClr val="FFB454"/>
                </a:solidFill>
                <a:latin typeface="Arial"/>
              </a:rPr>
              <a:t>高階與智慧投影新品齊發</a:t>
            </a:r>
          </a:p>
        </p:txBody>
      </p:sp>
      <p:sp>
        <p:nvSpPr>
          <p:cNvPr id="9" name="TextBox 8"/>
          <p:cNvSpPr txBox="1"/>
          <p:nvPr/>
        </p:nvSpPr>
        <p:spPr>
          <a:xfrm>
            <a:off x="4524146" y="2258568"/>
            <a:ext cx="3143402" cy="3931920"/>
          </a:xfrm>
          <a:prstGeom prst="rect">
            <a:avLst/>
          </a:prstGeom>
          <a:noFill/>
        </p:spPr>
        <p:txBody>
          <a:bodyPr wrap="square">
            <a:spAutoFit/>
          </a:bodyPr>
          <a:lstStyle/>
          <a:p>
            <a:pPr>
              <a:lnSpc>
                <a:spcPct val="120000"/>
              </a:lnSpc>
            </a:pPr>
            <a:r>
              <a:rPr sz="1150">
                <a:solidFill>
                  <a:srgbClr val="F5F3EC"/>
                </a:solidFill>
                <a:latin typeface="Arial"/>
              </a:rPr>
              <a:t>当贝發表 X9 Max（支援 4800 CVIA 亮度、QuaLas42 激光器與 MT9681 晶片）；soundcore Nebula 推出 X1S 智慧投影機（4K 解析度、6000 流明 RGB 雷射光源）；堅果推出業界首款 360 度全景智能投影儀 MIGO；騰訊則上架極光投影儀 F5（IT之家、ProjectorReviews）。</a:t>
            </a:r>
          </a:p>
        </p:txBody>
      </p:sp>
      <p:sp>
        <p:nvSpPr>
          <p:cNvPr id="10" name="Rounded Rectangle 9"/>
          <p:cNvSpPr/>
          <p:nvPr/>
        </p:nvSpPr>
        <p:spPr>
          <a:xfrm>
            <a:off x="8097316" y="1600200"/>
            <a:ext cx="3545738" cy="4754880"/>
          </a:xfrm>
          <a:prstGeom prst="roundRect">
            <a:avLst>
              <a:gd name="adj" fmla="val 6000"/>
            </a:avLst>
          </a:prstGeom>
          <a:solidFill>
            <a:srgbClr val="23262F"/>
          </a:solidFill>
          <a:ln w="12700">
            <a:solidFill>
              <a:srgbClr val="8B7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98484" y="1764792"/>
            <a:ext cx="3143402" cy="457200"/>
          </a:xfrm>
          <a:prstGeom prst="rect">
            <a:avLst/>
          </a:prstGeom>
          <a:noFill/>
        </p:spPr>
        <p:txBody>
          <a:bodyPr wrap="square" anchor="t">
            <a:spAutoFit/>
          </a:bodyPr>
          <a:lstStyle/>
          <a:p>
            <a:pPr algn="l"/>
            <a:r>
              <a:rPr sz="1450" b="1">
                <a:solidFill>
                  <a:srgbClr val="8B7FD6"/>
                </a:solidFill>
                <a:latin typeface="Arial"/>
              </a:rPr>
              <a:t>展會與空間升級</a:t>
            </a:r>
          </a:p>
        </p:txBody>
      </p:sp>
      <p:sp>
        <p:nvSpPr>
          <p:cNvPr id="12" name="TextBox 11"/>
          <p:cNvSpPr txBox="1"/>
          <p:nvPr/>
        </p:nvSpPr>
        <p:spPr>
          <a:xfrm>
            <a:off x="8298484" y="2258568"/>
            <a:ext cx="3143402" cy="3931920"/>
          </a:xfrm>
          <a:prstGeom prst="rect">
            <a:avLst/>
          </a:prstGeom>
          <a:noFill/>
        </p:spPr>
        <p:txBody>
          <a:bodyPr wrap="square">
            <a:spAutoFit/>
          </a:bodyPr>
          <a:lstStyle/>
          <a:p>
            <a:pPr>
              <a:lnSpc>
                <a:spcPct val="120000"/>
              </a:lnSpc>
            </a:pPr>
            <a:r>
              <a:rPr sz="1150">
                <a:solidFill>
                  <a:srgbClr val="F5F3EC"/>
                </a:solidFill>
                <a:latin typeface="Arial"/>
              </a:rPr>
              <a:t>CEDIA Expo 2026 展出前沿投影產品與投影幕技術；科視 Christie 上海演示室完成全面升級，展出 Eclipse G3 等高階純雷射投影系統；印度詞語博物館則採用 16 台科視雷射投影機打造互動體驗（ProjectorCentral、投影時代）。</a:t>
            </a:r>
          </a:p>
        </p:txBody>
      </p:sp>
      <p:sp>
        <p:nvSpPr>
          <p:cNvPr id="13" name="TextBox 12"/>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04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技術與供應鏈</a:t>
            </a:r>
          </a:p>
        </p:txBody>
      </p:sp>
      <p:sp>
        <p:nvSpPr>
          <p:cNvPr id="4" name="Rounded Rectangle 3"/>
          <p:cNvSpPr/>
          <p:nvPr/>
        </p:nvSpPr>
        <p:spPr>
          <a:xfrm>
            <a:off x="548640" y="1600200"/>
            <a:ext cx="11094415" cy="4754880"/>
          </a:xfrm>
          <a:prstGeom prst="roundRect">
            <a:avLst>
              <a:gd name="adj" fmla="val 6000"/>
            </a:avLst>
          </a:prstGeom>
          <a:solidFill>
            <a:srgbClr val="23262F"/>
          </a:solidFill>
          <a:ln w="12700">
            <a:solidFill>
              <a:srgbClr val="4C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764792"/>
            <a:ext cx="10692079" cy="457200"/>
          </a:xfrm>
          <a:prstGeom prst="rect">
            <a:avLst/>
          </a:prstGeom>
          <a:noFill/>
        </p:spPr>
        <p:txBody>
          <a:bodyPr wrap="square" anchor="t">
            <a:spAutoFit/>
          </a:bodyPr>
          <a:lstStyle/>
          <a:p>
            <a:pPr algn="l"/>
            <a:r>
              <a:rPr sz="1450" b="1">
                <a:solidFill>
                  <a:srgbClr val="4C7EFF"/>
                </a:solidFill>
                <a:latin typeface="Arial"/>
              </a:rPr>
              <a:t>矽光子與光學互連</a:t>
            </a:r>
          </a:p>
        </p:txBody>
      </p:sp>
      <p:sp>
        <p:nvSpPr>
          <p:cNvPr id="6" name="TextBox 5"/>
          <p:cNvSpPr txBox="1"/>
          <p:nvPr/>
        </p:nvSpPr>
        <p:spPr>
          <a:xfrm>
            <a:off x="749808" y="2258568"/>
            <a:ext cx="10692079" cy="3931920"/>
          </a:xfrm>
          <a:prstGeom prst="rect">
            <a:avLst/>
          </a:prstGeom>
          <a:noFill/>
        </p:spPr>
        <p:txBody>
          <a:bodyPr wrap="square">
            <a:spAutoFit/>
          </a:bodyPr>
          <a:lstStyle/>
          <a:p>
            <a:pPr>
              <a:lnSpc>
                <a:spcPct val="120000"/>
              </a:lnSpc>
            </a:pPr>
            <a:r>
              <a:rPr sz="1150">
                <a:solidFill>
                  <a:srgbClr val="F5F3EC"/>
                </a:solidFill>
                <a:latin typeface="Arial"/>
              </a:rPr>
              <a:t>矽光子技術發展下，光學模組的生產瓶頸已從下游元件製造端向上游雷射級基板供應轉移。同時，隨著 AI 競賽重心轉向資料傳輸與連接技術，鴻騰精密正積極擴大光學互連產品的研發與佈局（DigiTimes）。</a:t>
            </a:r>
          </a:p>
        </p:txBody>
      </p:sp>
      <p:sp>
        <p:nvSpPr>
          <p:cNvPr id="7" name="TextBox 6"/>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05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下週關注</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402336"/>
          </a:xfrm>
          <a:prstGeom prst="rect">
            <a:avLst/>
          </a:prstGeom>
          <a:noFill/>
        </p:spPr>
        <p:txBody>
          <a:bodyPr wrap="square">
            <a:spAutoFit/>
          </a:bodyPr>
          <a:lstStyle/>
          <a:p>
            <a:pPr>
              <a:lnSpc>
                <a:spcPct val="115000"/>
              </a:lnSpc>
            </a:pPr>
            <a:r>
              <a:rPr sz="1450">
                <a:solidFill>
                  <a:srgbClr val="F5F3EC"/>
                </a:solidFill>
                <a:latin typeface="Arial"/>
              </a:rPr>
              <a:t>高階雷射投影機與智慧投影新品在商用展廳、會議室與家用市場的終端實際銷售與促銷反應。</a:t>
            </a:r>
          </a:p>
        </p:txBody>
      </p:sp>
      <p:sp>
        <p:nvSpPr>
          <p:cNvPr id="6" name="Oval 5"/>
          <p:cNvSpPr/>
          <p:nvPr/>
        </p:nvSpPr>
        <p:spPr>
          <a:xfrm>
            <a:off x="594360" y="2130552"/>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02536"/>
            <a:ext cx="10698480" cy="402336"/>
          </a:xfrm>
          <a:prstGeom prst="rect">
            <a:avLst/>
          </a:prstGeom>
          <a:noFill/>
        </p:spPr>
        <p:txBody>
          <a:bodyPr wrap="square">
            <a:spAutoFit/>
          </a:bodyPr>
          <a:lstStyle/>
          <a:p>
            <a:pPr>
              <a:lnSpc>
                <a:spcPct val="115000"/>
              </a:lnSpc>
            </a:pPr>
            <a:r>
              <a:rPr sz="1450">
                <a:solidFill>
                  <a:srgbClr val="F5F3EC"/>
                </a:solidFill>
                <a:latin typeface="Arial"/>
              </a:rPr>
              <a:t>上游矽光子雷射級基板供應鏈的後續發展對光學模組與顯示設備帶動的影響。</a:t>
            </a:r>
          </a:p>
        </p:txBody>
      </p:sp>
      <p:sp>
        <p:nvSpPr>
          <p:cNvPr id="8" name="TextBox 7"/>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Oval 1"/>
          <p:cNvSpPr/>
          <p:nvPr/>
        </p:nvSpPr>
        <p:spPr>
          <a:xfrm>
            <a:off x="8961120" y="3200400"/>
            <a:ext cx="5486400" cy="5486400"/>
          </a:xfrm>
          <a:prstGeom prst="ellipse">
            <a:avLst/>
          </a:prstGeom>
          <a:solidFill>
            <a:srgbClr val="4C7E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0"/>
            <a:ext cx="9144000" cy="822960"/>
          </a:xfrm>
          <a:prstGeom prst="rect">
            <a:avLst/>
          </a:prstGeom>
          <a:noFill/>
        </p:spPr>
        <p:txBody>
          <a:bodyPr wrap="square" anchor="t">
            <a:spAutoFit/>
          </a:bodyPr>
          <a:lstStyle/>
          <a:p>
            <a:pPr algn="l"/>
            <a:r>
              <a:rPr sz="3000" b="1">
                <a:solidFill>
                  <a:srgbClr val="F5F3EC"/>
                </a:solidFill>
                <a:latin typeface="Arial"/>
              </a:rPr>
              <a:t>投影機情報站</a:t>
            </a:r>
          </a:p>
        </p:txBody>
      </p:sp>
      <p:sp>
        <p:nvSpPr>
          <p:cNvPr id="4" name="TextBox 3"/>
          <p:cNvSpPr txBox="1"/>
          <p:nvPr/>
        </p:nvSpPr>
        <p:spPr>
          <a:xfrm>
            <a:off x="731520" y="3611880"/>
            <a:ext cx="9144000" cy="457200"/>
          </a:xfrm>
          <a:prstGeom prst="rect">
            <a:avLst/>
          </a:prstGeom>
          <a:noFill/>
        </p:spPr>
        <p:txBody>
          <a:bodyPr wrap="square" anchor="t">
            <a:spAutoFit/>
          </a:bodyPr>
          <a:lstStyle/>
          <a:p>
            <a:pPr algn="l"/>
            <a:r>
              <a:rPr sz="1400" b="0">
                <a:solidFill>
                  <a:srgbClr val="9096A1"/>
                </a:solidFill>
                <a:latin typeface="Arial"/>
              </a:rPr>
              <a:t>由本站爬蟲每日追蹤產業動態，AI 自動摘要與分類</a:t>
            </a:r>
          </a:p>
        </p:txBody>
      </p:sp>
      <p:sp>
        <p:nvSpPr>
          <p:cNvPr id="5" name="TextBox 4"/>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