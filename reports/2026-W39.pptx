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2026-09-21 ～ 2026-09-27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a:solidFill>
                  <a:srgbClr val="F5F3EC"/>
                </a:solidFill>
                <a:latin typeface="Arial"/>
              </a:rPr>
              <a:t>這週投影機市場以品牌新品發表與通路促銷活動為主。奧圖碼、松下、Epson 與明基等品牌皆有新機推出或展開市場特價促銷；同時，中國陶瓷琉璃館與波士頓歌劇院等藝文場域，也透過多機融合與舞台投影應用展現了沉浸式視覺空間的實績。在供應鏈與技術端方面，SK海力士創投擴大布局光學互連與系統軟體技術。</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b="1">
                <a:solidFill>
                  <a:srgbClr val="FFB454"/>
                </a:solidFill>
                <a:latin typeface="Arial"/>
              </a:rPr>
              <a:t>品牌新品與通路促銷：</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877824"/>
          </a:xfrm>
          <a:prstGeom prst="rect">
            <a:avLst/>
          </a:prstGeom>
          <a:noFill/>
        </p:spPr>
        <p:txBody>
          <a:bodyPr wrap="square">
            <a:spAutoFit/>
          </a:bodyPr>
          <a:lstStyle/>
          <a:p>
            <a:pPr>
              <a:lnSpc>
                <a:spcPct val="115000"/>
              </a:lnSpc>
            </a:pPr>
            <a:r>
              <a:rPr sz="1450">
                <a:solidFill>
                  <a:srgbClr val="F5F3EC"/>
                </a:solidFill>
                <a:latin typeface="Arial"/>
              </a:rPr>
              <a:t>奧圖碼 4K 投影機 REV9178、高亮度 1080P 機種 HNF736、教育會議短焦雷射投影機 EL400HST 以及 EH412ST 短焦高亮工程投影機皆於通路展開特價促銷【ZOL投影機頻道】。</a:t>
            </a:r>
          </a:p>
        </p:txBody>
      </p:sp>
      <p:sp>
        <p:nvSpPr>
          <p:cNvPr id="8" name="Oval 7"/>
          <p:cNvSpPr/>
          <p:nvPr/>
        </p:nvSpPr>
        <p:spPr>
          <a:xfrm>
            <a:off x="594360" y="300837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10698480" cy="640080"/>
          </a:xfrm>
          <a:prstGeom prst="rect">
            <a:avLst/>
          </a:prstGeom>
          <a:noFill/>
        </p:spPr>
        <p:txBody>
          <a:bodyPr wrap="square">
            <a:spAutoFit/>
          </a:bodyPr>
          <a:lstStyle/>
          <a:p>
            <a:pPr>
              <a:lnSpc>
                <a:spcPct val="115000"/>
              </a:lnSpc>
            </a:pPr>
            <a:r>
              <a:rPr sz="1450">
                <a:solidFill>
                  <a:srgbClr val="F5F3EC"/>
                </a:solidFill>
                <a:latin typeface="Arial"/>
              </a:rPr>
              <a:t>松下推出 4000 流明主流商教投影機 PT-XZ401C 並進行特價促銷【ZOL投影機頻道】。</a:t>
            </a:r>
          </a:p>
        </p:txBody>
      </p:sp>
      <p:sp>
        <p:nvSpPr>
          <p:cNvPr id="10" name="Oval 9"/>
          <p:cNvSpPr/>
          <p:nvPr/>
        </p:nvSpPr>
        <p:spPr>
          <a:xfrm>
            <a:off x="594360" y="3648455"/>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20439"/>
            <a:ext cx="10698480" cy="877824"/>
          </a:xfrm>
          <a:prstGeom prst="rect">
            <a:avLst/>
          </a:prstGeom>
          <a:noFill/>
        </p:spPr>
        <p:txBody>
          <a:bodyPr wrap="square">
            <a:spAutoFit/>
          </a:bodyPr>
          <a:lstStyle/>
          <a:p>
            <a:pPr>
              <a:lnSpc>
                <a:spcPct val="115000"/>
              </a:lnSpc>
            </a:pPr>
            <a:r>
              <a:rPr sz="1450">
                <a:solidFill>
                  <a:srgbClr val="F5F3EC"/>
                </a:solidFill>
                <a:latin typeface="Arial"/>
              </a:rPr>
              <a:t>愛普生發表全新 Home Cinema 系列三晶片 3LCD 雷射家用投影機，滿足 4K HDR 家庭娛樂需求【Epson官方】；同時其設備也應用於波士頓歌劇院的舞台佈景字幕翻譯中【AV Network】。</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402336"/>
          </a:xfrm>
          <a:prstGeom prst="rect">
            <a:avLst/>
          </a:prstGeom>
          <a:noFill/>
        </p:spPr>
        <p:txBody>
          <a:bodyPr wrap="square">
            <a:spAutoFit/>
          </a:bodyPr>
          <a:lstStyle/>
          <a:p>
            <a:pPr>
              <a:lnSpc>
                <a:spcPct val="115000"/>
              </a:lnSpc>
            </a:pPr>
            <a:r>
              <a:rPr sz="1450">
                <a:solidFill>
                  <a:srgbClr val="F5F3EC"/>
                </a:solidFill>
                <a:latin typeface="Arial"/>
              </a:rPr>
              <a:t>明基高清家用商務投影機 HT711 展開特價促銷【ZOL投影機頻道】。</a:t>
            </a:r>
          </a:p>
        </p:txBody>
      </p:sp>
      <p:sp>
        <p:nvSpPr>
          <p:cNvPr id="14" name="Oval 13"/>
          <p:cNvSpPr/>
          <p:nvPr/>
        </p:nvSpPr>
        <p:spPr>
          <a:xfrm>
            <a:off x="594360" y="49286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00600"/>
            <a:ext cx="10698480" cy="402336"/>
          </a:xfrm>
          <a:prstGeom prst="rect">
            <a:avLst/>
          </a:prstGeom>
          <a:noFill/>
        </p:spPr>
        <p:txBody>
          <a:bodyPr wrap="square">
            <a:spAutoFit/>
          </a:bodyPr>
          <a:lstStyle/>
          <a:p>
            <a:pPr>
              <a:lnSpc>
                <a:spcPct val="115000"/>
              </a:lnSpc>
            </a:pPr>
            <a:r>
              <a:rPr sz="1450">
                <a:solidFill>
                  <a:srgbClr val="F5F3EC"/>
                </a:solidFill>
                <a:latin typeface="Arial"/>
              </a:rPr>
              <a:t>寶視來推出 4200 流明無線投射智能投影機 A42U 進行促銷【ZOL投影機頻道】。</a:t>
            </a:r>
          </a:p>
        </p:txBody>
      </p:sp>
      <p:sp>
        <p:nvSpPr>
          <p:cNvPr id="16" name="Oval 15"/>
          <p:cNvSpPr/>
          <p:nvPr/>
        </p:nvSpPr>
        <p:spPr>
          <a:xfrm>
            <a:off x="594360" y="53309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02936"/>
            <a:ext cx="10698480" cy="402336"/>
          </a:xfrm>
          <a:prstGeom prst="rect">
            <a:avLst/>
          </a:prstGeom>
          <a:noFill/>
        </p:spPr>
        <p:txBody>
          <a:bodyPr wrap="square">
            <a:spAutoFit/>
          </a:bodyPr>
          <a:lstStyle/>
          <a:p>
            <a:pPr>
              <a:lnSpc>
                <a:spcPct val="115000"/>
              </a:lnSpc>
            </a:pPr>
            <a:r>
              <a:rPr sz="1450" b="1">
                <a:solidFill>
                  <a:srgbClr val="FFB454"/>
                </a:solidFill>
                <a:latin typeface="Arial"/>
              </a:rPr>
              <a:t>展演應用實績：</a:t>
            </a:r>
          </a:p>
        </p:txBody>
      </p:sp>
      <p:sp>
        <p:nvSpPr>
          <p:cNvPr id="18" name="Oval 17"/>
          <p:cNvSpPr/>
          <p:nvPr/>
        </p:nvSpPr>
        <p:spPr>
          <a:xfrm>
            <a:off x="594360" y="5733288"/>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05272"/>
            <a:ext cx="10698480" cy="640080"/>
          </a:xfrm>
          <a:prstGeom prst="rect">
            <a:avLst/>
          </a:prstGeom>
          <a:noFill/>
        </p:spPr>
        <p:txBody>
          <a:bodyPr wrap="square">
            <a:spAutoFit/>
          </a:bodyPr>
          <a:lstStyle/>
          <a:p>
            <a:pPr>
              <a:lnSpc>
                <a:spcPct val="115000"/>
              </a:lnSpc>
            </a:pPr>
            <a:r>
              <a:rPr sz="1450">
                <a:solidFill>
                  <a:srgbClr val="F5F3EC"/>
                </a:solidFill>
                <a:latin typeface="Arial"/>
              </a:rPr>
              <a:t>中國陶瓷琉璃館升級全鏡面沉浸式展廳，採用三十台索諾克領航系列激光工程投影機進行多機融合拼接【投影時代】。</a:t>
            </a:r>
          </a:p>
        </p:txBody>
      </p:sp>
      <p:sp>
        <p:nvSpPr>
          <p:cNvPr id="20" name="TextBox 1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b="1">
                <a:solidFill>
                  <a:srgbClr val="FFB454"/>
                </a:solidFill>
                <a:latin typeface="Arial"/>
              </a:rPr>
              <a:t>企業動態：</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640080"/>
          </a:xfrm>
          <a:prstGeom prst="rect">
            <a:avLst/>
          </a:prstGeom>
          <a:noFill/>
        </p:spPr>
        <p:txBody>
          <a:bodyPr wrap="square">
            <a:spAutoFit/>
          </a:bodyPr>
          <a:lstStyle/>
          <a:p>
            <a:pPr>
              <a:lnSpc>
                <a:spcPct val="115000"/>
              </a:lnSpc>
            </a:pPr>
            <a:r>
              <a:rPr sz="1450">
                <a:solidFill>
                  <a:srgbClr val="F5F3EC"/>
                </a:solidFill>
                <a:latin typeface="Arial"/>
              </a:rPr>
              <a:t>當貝創始人金凌琳入選 2026 年《財富》中國 40 歲以下最具潛力的商界精英榜【ZNDS投影頻道】。</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Rounded Rectangle 3"/>
          <p:cNvSpPr/>
          <p:nvPr/>
        </p:nvSpPr>
        <p:spPr>
          <a:xfrm>
            <a:off x="548640" y="1600200"/>
            <a:ext cx="5432907"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5030571" cy="457200"/>
          </a:xfrm>
          <a:prstGeom prst="rect">
            <a:avLst/>
          </a:prstGeom>
          <a:noFill/>
        </p:spPr>
        <p:txBody>
          <a:bodyPr wrap="square" anchor="t">
            <a:spAutoFit/>
          </a:bodyPr>
          <a:lstStyle/>
          <a:p>
            <a:pPr algn="l"/>
            <a:r>
              <a:rPr sz="1450" b="1">
                <a:solidFill>
                  <a:srgbClr val="4C7EFF"/>
                </a:solidFill>
                <a:latin typeface="Arial"/>
              </a:rPr>
              <a:t>供應鏈布局</a:t>
            </a:r>
          </a:p>
        </p:txBody>
      </p:sp>
      <p:sp>
        <p:nvSpPr>
          <p:cNvPr id="6" name="TextBox 5"/>
          <p:cNvSpPr txBox="1"/>
          <p:nvPr/>
        </p:nvSpPr>
        <p:spPr>
          <a:xfrm>
            <a:off x="749808" y="2258568"/>
            <a:ext cx="5030571" cy="3931920"/>
          </a:xfrm>
          <a:prstGeom prst="rect">
            <a:avLst/>
          </a:prstGeom>
          <a:noFill/>
        </p:spPr>
        <p:txBody>
          <a:bodyPr wrap="square">
            <a:spAutoFit/>
          </a:bodyPr>
          <a:lstStyle/>
          <a:p>
            <a:pPr>
              <a:lnSpc>
                <a:spcPct val="120000"/>
              </a:lnSpc>
            </a:pPr>
            <a:r>
              <a:rPr sz="1150">
                <a:solidFill>
                  <a:srgbClr val="F5F3EC"/>
                </a:solidFill>
                <a:latin typeface="Arial"/>
              </a:rPr>
              <a:t>SK海力士旗下創投機構將業務拓展至光學互連與系統軟體開發，積極在次世代資料傳輸與運算架構中卡位【DigiTimes】。</a:t>
            </a:r>
          </a:p>
        </p:txBody>
      </p:sp>
      <p:sp>
        <p:nvSpPr>
          <p:cNvPr id="7" name="Rounded Rectangle 6"/>
          <p:cNvSpPr/>
          <p:nvPr/>
        </p:nvSpPr>
        <p:spPr>
          <a:xfrm>
            <a:off x="6210147" y="1600200"/>
            <a:ext cx="5432907"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1315" y="1764792"/>
            <a:ext cx="5030571" cy="457200"/>
          </a:xfrm>
          <a:prstGeom prst="rect">
            <a:avLst/>
          </a:prstGeom>
          <a:noFill/>
        </p:spPr>
        <p:txBody>
          <a:bodyPr wrap="square" anchor="t">
            <a:spAutoFit/>
          </a:bodyPr>
          <a:lstStyle/>
          <a:p>
            <a:pPr algn="l"/>
            <a:r>
              <a:rPr sz="1450" b="1">
                <a:solidFill>
                  <a:srgbClr val="FFB454"/>
                </a:solidFill>
                <a:latin typeface="Arial"/>
              </a:rPr>
              <a:t>技術推廣</a:t>
            </a:r>
          </a:p>
        </p:txBody>
      </p:sp>
      <p:sp>
        <p:nvSpPr>
          <p:cNvPr id="9" name="TextBox 8"/>
          <p:cNvSpPr txBox="1"/>
          <p:nvPr/>
        </p:nvSpPr>
        <p:spPr>
          <a:xfrm>
            <a:off x="6411315" y="2258568"/>
            <a:ext cx="5030571" cy="3931920"/>
          </a:xfrm>
          <a:prstGeom prst="rect">
            <a:avLst/>
          </a:prstGeom>
          <a:noFill/>
        </p:spPr>
        <p:txBody>
          <a:bodyPr wrap="square">
            <a:spAutoFit/>
          </a:bodyPr>
          <a:lstStyle/>
          <a:p>
            <a:pPr>
              <a:lnSpc>
                <a:spcPct val="120000"/>
              </a:lnSpc>
            </a:pPr>
            <a:r>
              <a:rPr sz="1150">
                <a:solidFill>
                  <a:srgbClr val="F5F3EC"/>
                </a:solidFill>
                <a:latin typeface="Arial"/>
              </a:rPr>
              <a:t>當貝官方發布投影機投射比與擺放距離的技術介紹，協助使用者規劃空間【當貝Dangbei官方】。</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奧圖碼、松下與明基等多款投影機在通路展開的特價促銷活動，後續對市場銷售與庫存清化的實際成效。</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402336"/>
          </a:xfrm>
          <a:prstGeom prst="rect">
            <a:avLst/>
          </a:prstGeom>
          <a:noFill/>
        </p:spPr>
        <p:txBody>
          <a:bodyPr wrap="square">
            <a:spAutoFit/>
          </a:bodyPr>
          <a:lstStyle/>
          <a:p>
            <a:pPr>
              <a:lnSpc>
                <a:spcPct val="115000"/>
              </a:lnSpc>
            </a:pPr>
            <a:r>
              <a:rPr sz="1450">
                <a:solidFill>
                  <a:srgbClr val="F5F3EC"/>
                </a:solidFill>
                <a:latin typeface="Arial"/>
              </a:rPr>
              <a:t>索諾克工程投影機在中國陶瓷琉璃館大型展演空間落成後的市場迴響與後續應用推廣。</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