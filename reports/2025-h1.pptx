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F5F3EC"/>
                </a:solidFill>
                <a:latin typeface="Arial"/>
              </a:rPr>
              <a:t>2025上半年出貨量（萬台）</a:t>
            </a:r>
          </a:p>
        </c:rich>
      </c:tx>
      <c:layout/>
      <c:overlay val="0"/>
    </c:title>
    <c:autoTitleDeleted val="0"/>
    <c:plotArea>
      <c:barChart>
        <c:barDir val="col"/>
        <c:grouping val="clustered"/>
        <c:ser>
          <c:idx val="0"/>
          <c:order val="0"/>
          <c:tx>
            <c:strRef>
              <c:f>Sheet1!$B$1</c:f>
              <c:strCache>
                <c:ptCount val="1"/>
                <c:pt idx="0">
                  <c:v>全球</c:v>
                </c:pt>
              </c:strCache>
            </c:strRef>
          </c:tx>
          <c:spPr>
            <a:solidFill>
              <a:srgbClr val="4C7EFF"/>
            </a:solidFill>
          </c:spPr>
          <c:cat>
            <c:strRef>
              <c:f>Sheet1!$A$2:$A$2</c:f>
              <c:strCache>
                <c:ptCount val="1"/>
                <c:pt idx="0">
                  <c:v>2025上半年</c:v>
                </c:pt>
              </c:strCache>
            </c:strRef>
          </c:cat>
          <c:val>
            <c:numRef>
              <c:f>Sheet1!$B$2:$B$2</c:f>
              <c:numCache>
                <c:formatCode>General</c:formatCode>
                <c:ptCount val="1"/>
                <c:pt idx="0">
                  <c:v>900.3</c:v>
                </c:pt>
              </c:numCache>
            </c:numRef>
          </c:val>
        </c:ser>
        <c:ser>
          <c:idx val="1"/>
          <c:order val="1"/>
          <c:tx>
            <c:strRef>
              <c:f>Sheet1!$C$1</c:f>
              <c:strCache>
                <c:ptCount val="1"/>
                <c:pt idx="0">
                  <c:v>中國</c:v>
                </c:pt>
              </c:strCache>
            </c:strRef>
          </c:tx>
          <c:spPr>
            <a:solidFill>
              <a:srgbClr val="FFB454"/>
            </a:solidFill>
          </c:spPr>
          <c:cat>
            <c:strRef>
              <c:f>Sheet1!$A$2:$A$2</c:f>
              <c:strCache>
                <c:ptCount val="1"/>
                <c:pt idx="0">
                  <c:v>2025上半年</c:v>
                </c:pt>
              </c:strCache>
            </c:strRef>
          </c:cat>
          <c:val>
            <c:numRef>
              <c:f>Sheet1!$C$2:$C$2</c:f>
              <c:numCache>
                <c:formatCode>General</c:formatCode>
                <c:ptCount val="1"/>
                <c:pt idx="0">
                  <c:v>285.0</c:v>
                </c:pt>
              </c:numCache>
            </c:numRef>
          </c:val>
        </c:ser>
        <c:dLbls>
          <c:txPr>
            <a:bodyPr/>
            <a:lstStyle/>
            <a:p>
              <a:pPr>
                <a:defRPr sz="1000">
                  <a:solidFill>
                    <a:srgbClr val="F5F3EC"/>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2A2E38"/>
            </a:solidFill>
          </a:ln>
        </c:spPr>
        <c:txPr>
          <a:bodyPr/>
          <a:lstStyle/>
          <a:p>
            <a:pPr>
              <a:defRPr sz="1100">
                <a:solidFill>
                  <a:srgbClr val="9096A1"/>
                </a:solidFill>
                <a:latin typeface="Arial"/>
              </a:defRPr>
            </a:pPr>
          </a:p>
        </c:txPr>
        <c:crossAx val="-2113994440"/>
        <c:crosses val="autoZero"/>
        <c:auto val="1"/>
        <c:lblAlgn val="ctr"/>
        <c:lblOffset val="100"/>
        <c:noMultiLvlLbl val="0"/>
      </c:catAx>
      <c:valAx>
        <c:axId val="-2113994440"/>
        <c:scaling/>
        <c:delete val="0"/>
        <c:axPos val="l"/>
        <c:majorGridlines>
          <c:spPr>
            <a:ln>
              <a:solidFill>
                <a:srgbClr val="2A2E38"/>
              </a:solidFill>
            </a:ln>
          </c:spPr>
        </c:majorGridlines>
        <c:majorTickMark val="out"/>
        <c:minorTickMark val="none"/>
        <c:tickLblPos val="nextTo"/>
        <c:spPr>
          <a:ln>
            <a:solidFill>
              <a:srgbClr val="2A2E38"/>
            </a:solidFill>
          </a:ln>
        </c:spPr>
        <c:txPr>
          <a:bodyPr/>
          <a:lstStyle/>
          <a:p>
            <a:pPr>
              <a:defRPr sz="1000">
                <a:solidFill>
                  <a:srgbClr val="9096A1"/>
                </a:solidFill>
              </a:defRPr>
            </a:pPr>
          </a:p>
        </c:txPr>
        <c:crossAx val="-2068027336"/>
        <c:crosses val="autoZero"/>
      </c:valAx>
    </c:plotArea>
    <c:legend>
      <c:legendPos val="b"/>
      <c:overlay val="0"/>
      <c:txPr>
        <a:bodyPr/>
        <a:lstStyle/>
        <a:p>
          <a:pPr>
            <a:defRPr sz="1100">
              <a:solidFill>
                <a:srgbClr val="9096A1"/>
              </a:solidFill>
              <a:latin typeface="Aria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F5F3EC"/>
                </a:solidFill>
                <a:latin typeface="Arial"/>
              </a:rPr>
              <a:t>中國智能投影線上市場規格滲透率（%）</a:t>
            </a:r>
          </a:p>
        </c:rich>
      </c:tx>
      <c:layout/>
      <c:overlay val="0"/>
    </c:title>
    <c:autoTitleDeleted val="0"/>
    <c:plotArea>
      <c:barChart>
        <c:barDir val="col"/>
        <c:grouping val="clustered"/>
        <c:ser>
          <c:idx val="0"/>
          <c:order val="0"/>
          <c:tx>
            <c:strRef>
              <c:f>Sheet1!$B$1</c:f>
              <c:strCache>
                <c:ptCount val="1"/>
                <c:pt idx="0">
                  <c:v>數值1</c:v>
                </c:pt>
              </c:strCache>
            </c:strRef>
          </c:tx>
          <c:spPr>
            <a:solidFill>
              <a:srgbClr val="4C7EFF"/>
            </a:solidFill>
          </c:spPr>
          <c:cat>
            <c:strRef>
              <c:f>Sheet1!$A$2:$A$4</c:f>
              <c:strCache>
                <c:ptCount val="3"/>
                <c:pt idx="0">
                  <c:v>雷射光源</c:v>
                </c:pt>
                <c:pt idx="1">
                  <c:v>4K</c:v>
                </c:pt>
                <c:pt idx="2">
                  <c:v>AI大模型</c:v>
                </c:pt>
              </c:strCache>
            </c:strRef>
          </c:cat>
          <c:val>
            <c:numRef>
              <c:f>Sheet1!$B$2:$B$4</c:f>
              <c:numCache>
                <c:formatCode>General</c:formatCode>
                <c:ptCount val="3"/>
                <c:pt idx="0">
                  <c:v>14.3</c:v>
                </c:pt>
                <c:pt idx="1">
                  <c:v>11.1</c:v>
                </c:pt>
                <c:pt idx="2">
                  <c:v>6.6</c:v>
                </c:pt>
              </c:numCache>
            </c:numRef>
          </c:val>
        </c:ser>
        <c:dLbls>
          <c:txPr>
            <a:bodyPr/>
            <a:lstStyle/>
            <a:p>
              <a:pPr>
                <a:defRPr sz="1000">
                  <a:solidFill>
                    <a:srgbClr val="F5F3EC"/>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2A2E38"/>
            </a:solidFill>
          </a:ln>
        </c:spPr>
        <c:txPr>
          <a:bodyPr/>
          <a:lstStyle/>
          <a:p>
            <a:pPr>
              <a:defRPr sz="1100">
                <a:solidFill>
                  <a:srgbClr val="9096A1"/>
                </a:solidFill>
                <a:latin typeface="Arial"/>
              </a:defRPr>
            </a:pPr>
          </a:p>
        </c:txPr>
        <c:crossAx val="-2113994440"/>
        <c:crosses val="autoZero"/>
        <c:auto val="1"/>
        <c:lblAlgn val="ctr"/>
        <c:lblOffset val="100"/>
        <c:noMultiLvlLbl val="0"/>
      </c:catAx>
      <c:valAx>
        <c:axId val="-2113994440"/>
        <c:scaling/>
        <c:delete val="0"/>
        <c:axPos val="l"/>
        <c:majorGridlines>
          <c:spPr>
            <a:ln>
              <a:solidFill>
                <a:srgbClr val="2A2E38"/>
              </a:solidFill>
            </a:ln>
          </c:spPr>
        </c:majorGridlines>
        <c:majorTickMark val="out"/>
        <c:minorTickMark val="none"/>
        <c:tickLblPos val="nextTo"/>
        <c:spPr>
          <a:ln>
            <a:solidFill>
              <a:srgbClr val="2A2E38"/>
            </a:solidFill>
          </a:ln>
        </c:spPr>
        <c:txPr>
          <a:bodyPr/>
          <a:lstStyle/>
          <a:p>
            <a:pPr>
              <a:defRPr sz="1000">
                <a:solidFill>
                  <a:srgbClr val="9096A1"/>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503920" y="-2194560"/>
            <a:ext cx="6400800" cy="6400800"/>
          </a:xfrm>
          <a:prstGeom prst="ellipse">
            <a:avLst/>
          </a:prstGeom>
          <a:solidFill>
            <a:srgbClr val="4C7E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377440" y="4206240"/>
            <a:ext cx="5486400" cy="5486400"/>
          </a:xfrm>
          <a:prstGeom prst="ellipse">
            <a:avLst/>
          </a:prstGeom>
          <a:solidFill>
            <a:srgbClr val="FFB45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65960"/>
            <a:ext cx="9144000" cy="365760"/>
          </a:xfrm>
          <a:prstGeom prst="rect">
            <a:avLst/>
          </a:prstGeom>
          <a:noFill/>
        </p:spPr>
        <p:txBody>
          <a:bodyPr wrap="square" anchor="t">
            <a:spAutoFit/>
          </a:bodyPr>
          <a:lstStyle/>
          <a:p>
            <a:pPr algn="l"/>
            <a:r>
              <a:rPr sz="1300" b="1">
                <a:solidFill>
                  <a:srgbClr val="FFB454"/>
                </a:solidFill>
                <a:latin typeface="Arial"/>
              </a:rPr>
              <a:t>投影機情報站</a:t>
            </a:r>
          </a:p>
        </p:txBody>
      </p:sp>
      <p:sp>
        <p:nvSpPr>
          <p:cNvPr id="5" name="TextBox 4"/>
          <p:cNvSpPr txBox="1"/>
          <p:nvPr/>
        </p:nvSpPr>
        <p:spPr>
          <a:xfrm>
            <a:off x="731520" y="2377440"/>
            <a:ext cx="10241280" cy="1828800"/>
          </a:xfrm>
          <a:prstGeom prst="rect">
            <a:avLst/>
          </a:prstGeom>
          <a:noFill/>
        </p:spPr>
        <p:txBody>
          <a:bodyPr wrap="square" anchor="t">
            <a:spAutoFit/>
          </a:bodyPr>
          <a:lstStyle/>
          <a:p>
            <a:pPr algn="l"/>
            <a:r>
              <a:rPr sz="4000" b="1">
                <a:solidFill>
                  <a:srgbClr val="F5F3EC"/>
                </a:solidFill>
                <a:latin typeface="Arial"/>
              </a:rPr>
              <a:t>2025 年上半年 投影機產業回顧</a:t>
            </a:r>
          </a:p>
        </p:txBody>
      </p:sp>
      <p:sp>
        <p:nvSpPr>
          <p:cNvPr id="6" name="TextBox 5"/>
          <p:cNvSpPr txBox="1"/>
          <p:nvPr/>
        </p:nvSpPr>
        <p:spPr>
          <a:xfrm>
            <a:off x="731520" y="4160520"/>
            <a:ext cx="9601200" cy="457200"/>
          </a:xfrm>
          <a:prstGeom prst="rect">
            <a:avLst/>
          </a:prstGeom>
          <a:noFill/>
        </p:spPr>
        <p:txBody>
          <a:bodyPr wrap="square" anchor="t">
            <a:spAutoFit/>
          </a:bodyPr>
          <a:lstStyle/>
          <a:p>
            <a:pPr algn="l"/>
            <a:r>
              <a:rPr sz="1500" b="0">
                <a:solidFill>
                  <a:srgbClr val="9096A1"/>
                </a:solidFill>
                <a:latin typeface="Arial"/>
              </a:rPr>
              <a:t>投影機產業報告 · 自動產生簡報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02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一、半年摘要</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2066544"/>
          </a:xfrm>
          <a:prstGeom prst="rect">
            <a:avLst/>
          </a:prstGeom>
          <a:noFill/>
        </p:spPr>
        <p:txBody>
          <a:bodyPr wrap="square">
            <a:spAutoFit/>
          </a:bodyPr>
          <a:lstStyle/>
          <a:p>
            <a:pPr>
              <a:lnSpc>
                <a:spcPct val="115000"/>
              </a:lnSpc>
            </a:pPr>
            <a:r>
              <a:rPr sz="1450">
                <a:solidFill>
                  <a:srgbClr val="F5F3EC"/>
                </a:solidFill>
                <a:latin typeface="Arial"/>
              </a:rPr>
              <a:t>2025 年上半年，投影機產業延續 2024 年底以來的降溫走勢：全球出貨量約 900.3 萬台，年減 4.2%，銷售額 40.5 億美元，年減 8.6%；中國作為最大單一市場，上半年出貨 285.0 萬台，年減 13.5%，全球占比由 2024 年同期的 35.1% 降至 31.7%。第一季更明顯受到「國補政策不確定性」與「等待 618 大促」雙重因素影響，消費者持幣觀望，銷量基本持平、成長動能疲弱。儘管大盤走弱，CES 2025（1 月）密集發表的新機顯示產品端並未停下腳步：超短焦、生活風格投影機、三色雷射技術持續往中高階與電競場景滲透，Anker 更在 4 月發表旗艦級 Nebula X1，是上半年最受矚目的單一新品。供應鏈端，記憶體大廠自 4 月起啟動 DDR4 停產轉單，為下半年的成本壓力埋下伏筆。</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03 · SECTION</a:t>
            </a:r>
          </a:p>
        </p:txBody>
      </p:sp>
      <p:sp>
        <p:nvSpPr>
          <p:cNvPr id="3" name="TextBox 2"/>
          <p:cNvSpPr txBox="1"/>
          <p:nvPr/>
        </p:nvSpPr>
        <p:spPr>
          <a:xfrm>
            <a:off x="548640" y="713232"/>
            <a:ext cx="10972800" cy="548640"/>
          </a:xfrm>
          <a:prstGeom prst="rect">
            <a:avLst/>
          </a:prstGeom>
          <a:noFill/>
        </p:spPr>
        <p:txBody>
          <a:bodyPr wrap="square" anchor="t">
            <a:spAutoFit/>
          </a:bodyPr>
          <a:lstStyle/>
          <a:p>
            <a:pPr algn="l"/>
            <a:r>
              <a:rPr sz="2200" b="1">
                <a:solidFill>
                  <a:srgbClr val="F5F3EC"/>
                </a:solidFill>
                <a:latin typeface="Arial"/>
              </a:rPr>
              <a:t>二、市場數據回顧</a:t>
            </a:r>
          </a:p>
        </p:txBody>
      </p:sp>
      <p:graphicFrame>
        <p:nvGraphicFramePr>
          <p:cNvPr id="4" name="Chart 3"/>
          <p:cNvGraphicFramePr>
            <a:graphicFrameLocks noGrp="1"/>
          </p:cNvGraphicFramePr>
          <p:nvPr/>
        </p:nvGraphicFramePr>
        <p:xfrm>
          <a:off x="731520" y="1554480"/>
          <a:ext cx="10698480" cy="4754880"/>
        </p:xfrm>
        <a:graphic>
          <a:graphicData uri="http://schemas.openxmlformats.org/drawingml/2006/chart">
            <c:chart xmlns:c="http://schemas.openxmlformats.org/drawingml/2006/chart" r:id="rId2"/>
          </a:graphicData>
        </a:graphic>
      </p:graphicFrame>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04 · SECTION</a:t>
            </a:r>
          </a:p>
        </p:txBody>
      </p:sp>
      <p:sp>
        <p:nvSpPr>
          <p:cNvPr id="3" name="TextBox 2"/>
          <p:cNvSpPr txBox="1"/>
          <p:nvPr/>
        </p:nvSpPr>
        <p:spPr>
          <a:xfrm>
            <a:off x="548640" y="713232"/>
            <a:ext cx="10972800" cy="548640"/>
          </a:xfrm>
          <a:prstGeom prst="rect">
            <a:avLst/>
          </a:prstGeom>
          <a:noFill/>
        </p:spPr>
        <p:txBody>
          <a:bodyPr wrap="square" anchor="t">
            <a:spAutoFit/>
          </a:bodyPr>
          <a:lstStyle/>
          <a:p>
            <a:pPr algn="l"/>
            <a:r>
              <a:rPr sz="2200" b="1">
                <a:solidFill>
                  <a:srgbClr val="F5F3EC"/>
                </a:solidFill>
                <a:latin typeface="Arial"/>
              </a:rPr>
              <a:t>二、市場數據回顧</a:t>
            </a:r>
          </a:p>
        </p:txBody>
      </p:sp>
      <p:graphicFrame>
        <p:nvGraphicFramePr>
          <p:cNvPr id="4" name="Chart 3"/>
          <p:cNvGraphicFramePr>
            <a:graphicFrameLocks noGrp="1"/>
          </p:cNvGraphicFramePr>
          <p:nvPr/>
        </p:nvGraphicFramePr>
        <p:xfrm>
          <a:off x="731520" y="1554480"/>
          <a:ext cx="10698480" cy="4754880"/>
        </p:xfrm>
        <a:graphic>
          <a:graphicData uri="http://schemas.openxmlformats.org/drawingml/2006/chart">
            <c:chart xmlns:c="http://schemas.openxmlformats.org/drawingml/2006/chart" r:id="rId2"/>
          </a:graphicData>
        </a:graphic>
      </p:graphicFrame>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05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二、市場數據回顧</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402336"/>
          </a:xfrm>
          <a:prstGeom prst="rect">
            <a:avLst/>
          </a:prstGeom>
          <a:noFill/>
        </p:spPr>
        <p:txBody>
          <a:bodyPr wrap="square">
            <a:spAutoFit/>
          </a:bodyPr>
          <a:lstStyle/>
          <a:p>
            <a:pPr>
              <a:lnSpc>
                <a:spcPct val="115000"/>
              </a:lnSpc>
            </a:pPr>
            <a:r>
              <a:rPr sz="1450" b="1">
                <a:solidFill>
                  <a:srgbClr val="FFB454"/>
                </a:solidFill>
                <a:latin typeface="Arial"/>
              </a:rPr>
              <a:t>全球上半年出貨</a:t>
            </a:r>
            <a:r>
              <a:rPr sz="1450">
                <a:solidFill>
                  <a:srgbClr val="F5F3EC"/>
                </a:solidFill>
                <a:latin typeface="Arial"/>
              </a:rPr>
              <a:t>：900.3 萬台，年減 4.2%；銷售額 40.5 億美元，年減 8.6%</a:t>
            </a:r>
          </a:p>
        </p:txBody>
      </p:sp>
      <p:sp>
        <p:nvSpPr>
          <p:cNvPr id="6" name="Oval 5"/>
          <p:cNvSpPr/>
          <p:nvPr/>
        </p:nvSpPr>
        <p:spPr>
          <a:xfrm>
            <a:off x="594360" y="2130552"/>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02536"/>
            <a:ext cx="10698480" cy="402336"/>
          </a:xfrm>
          <a:prstGeom prst="rect">
            <a:avLst/>
          </a:prstGeom>
          <a:noFill/>
        </p:spPr>
        <p:txBody>
          <a:bodyPr wrap="square">
            <a:spAutoFit/>
          </a:bodyPr>
          <a:lstStyle/>
          <a:p>
            <a:pPr>
              <a:lnSpc>
                <a:spcPct val="115000"/>
              </a:lnSpc>
            </a:pPr>
            <a:r>
              <a:rPr sz="1450" b="1">
                <a:solidFill>
                  <a:srgbClr val="FFB454"/>
                </a:solidFill>
                <a:latin typeface="Arial"/>
              </a:rPr>
              <a:t>中國上半年出貨</a:t>
            </a:r>
            <a:r>
              <a:rPr sz="1450">
                <a:solidFill>
                  <a:srgbClr val="F5F3EC"/>
                </a:solidFill>
                <a:latin typeface="Arial"/>
              </a:rPr>
              <a:t>：285.0 萬台，年減 13.5%，全球占比降至 31.7%</a:t>
            </a:r>
          </a:p>
        </p:txBody>
      </p:sp>
      <p:sp>
        <p:nvSpPr>
          <p:cNvPr id="8" name="Oval 7"/>
          <p:cNvSpPr/>
          <p:nvPr/>
        </p:nvSpPr>
        <p:spPr>
          <a:xfrm>
            <a:off x="594360" y="253288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04872"/>
            <a:ext cx="10698480" cy="640080"/>
          </a:xfrm>
          <a:prstGeom prst="rect">
            <a:avLst/>
          </a:prstGeom>
          <a:noFill/>
        </p:spPr>
        <p:txBody>
          <a:bodyPr wrap="square">
            <a:spAutoFit/>
          </a:bodyPr>
          <a:lstStyle/>
          <a:p>
            <a:pPr>
              <a:lnSpc>
                <a:spcPct val="115000"/>
              </a:lnSpc>
            </a:pPr>
            <a:r>
              <a:rPr sz="1450" b="1">
                <a:solidFill>
                  <a:srgbClr val="FFB454"/>
                </a:solidFill>
                <a:latin typeface="Arial"/>
              </a:rPr>
              <a:t>中國智能投影線上市場（上半年）</a:t>
            </a:r>
            <a:r>
              <a:rPr sz="1450">
                <a:solidFill>
                  <a:srgbClr val="F5F3EC"/>
                </a:solidFill>
                <a:latin typeface="Arial"/>
              </a:rPr>
              <a:t>：171.7 萬台，年減 8.1%；銷售額 27.4 億人民幣，年減 5.3%</a:t>
            </a:r>
          </a:p>
        </p:txBody>
      </p:sp>
      <p:sp>
        <p:nvSpPr>
          <p:cNvPr id="10" name="Oval 9"/>
          <p:cNvSpPr/>
          <p:nvPr/>
        </p:nvSpPr>
        <p:spPr>
          <a:xfrm>
            <a:off x="594360" y="317296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044952"/>
            <a:ext cx="10698480" cy="640080"/>
          </a:xfrm>
          <a:prstGeom prst="rect">
            <a:avLst/>
          </a:prstGeom>
          <a:noFill/>
        </p:spPr>
        <p:txBody>
          <a:bodyPr wrap="square">
            <a:spAutoFit/>
          </a:bodyPr>
          <a:lstStyle/>
          <a:p>
            <a:pPr>
              <a:lnSpc>
                <a:spcPct val="115000"/>
              </a:lnSpc>
            </a:pPr>
            <a:r>
              <a:rPr sz="1450" b="1">
                <a:solidFill>
                  <a:srgbClr val="FFB454"/>
                </a:solidFill>
                <a:latin typeface="Arial"/>
              </a:rPr>
              <a:t>第一季（Q1）近乎持平</a:t>
            </a:r>
            <a:r>
              <a:rPr sz="1450">
                <a:solidFill>
                  <a:srgbClr val="F5F3EC"/>
                </a:solidFill>
                <a:latin typeface="Arial"/>
              </a:rPr>
              <a:t>：2025 年第一季中國智能投影銷量約 143 萬台，主因是 2024 年 Q4 國補+雙 11 提前透支需求，加上市場觀望第二季 618 大促</a:t>
            </a:r>
          </a:p>
        </p:txBody>
      </p:sp>
      <p:sp>
        <p:nvSpPr>
          <p:cNvPr id="12" name="Oval 11"/>
          <p:cNvSpPr/>
          <p:nvPr/>
        </p:nvSpPr>
        <p:spPr>
          <a:xfrm>
            <a:off x="594360" y="381304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685032"/>
            <a:ext cx="10698480" cy="640080"/>
          </a:xfrm>
          <a:prstGeom prst="rect">
            <a:avLst/>
          </a:prstGeom>
          <a:noFill/>
        </p:spPr>
        <p:txBody>
          <a:bodyPr wrap="square">
            <a:spAutoFit/>
          </a:bodyPr>
          <a:lstStyle/>
          <a:p>
            <a:pPr>
              <a:lnSpc>
                <a:spcPct val="115000"/>
              </a:lnSpc>
            </a:pPr>
            <a:r>
              <a:rPr sz="1450" b="1">
                <a:solidFill>
                  <a:srgbClr val="FFB454"/>
                </a:solidFill>
                <a:latin typeface="Arial"/>
              </a:rPr>
              <a:t>技術結構（上半年線上）</a:t>
            </a:r>
            <a:r>
              <a:rPr sz="1450">
                <a:solidFill>
                  <a:srgbClr val="F5F3EC"/>
                </a:solidFill>
                <a:latin typeface="Arial"/>
              </a:rPr>
              <a:t>：1LCD 份額續增但降幅溫和；DLP 線上份額回升；3LCD 份額與去年同期基本持平，Epson 推出「三芯三色全彩引擎」</a:t>
            </a:r>
          </a:p>
        </p:txBody>
      </p:sp>
      <p:sp>
        <p:nvSpPr>
          <p:cNvPr id="14" name="Oval 13"/>
          <p:cNvSpPr/>
          <p:nvPr/>
        </p:nvSpPr>
        <p:spPr>
          <a:xfrm>
            <a:off x="594360" y="445312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325112"/>
            <a:ext cx="10698480" cy="640080"/>
          </a:xfrm>
          <a:prstGeom prst="rect">
            <a:avLst/>
          </a:prstGeom>
          <a:noFill/>
        </p:spPr>
        <p:txBody>
          <a:bodyPr wrap="square">
            <a:spAutoFit/>
          </a:bodyPr>
          <a:lstStyle/>
          <a:p>
            <a:pPr>
              <a:lnSpc>
                <a:spcPct val="115000"/>
              </a:lnSpc>
            </a:pPr>
            <a:r>
              <a:rPr sz="1450" b="1">
                <a:solidFill>
                  <a:srgbClr val="FFB454"/>
                </a:solidFill>
                <a:latin typeface="Arial"/>
              </a:rPr>
              <a:t>規格升級趨勢</a:t>
            </a:r>
            <a:r>
              <a:rPr sz="1450">
                <a:solidFill>
                  <a:srgbClr val="F5F3EC"/>
                </a:solidFill>
                <a:latin typeface="Arial"/>
              </a:rPr>
              <a:t>：雷射光源份額達 14.3%；4K 銷量份額突破一成（11.1%）；變焦產品銷量占比 6.2%、銷額占比 23.4%；搭載 AI 大模型產品銷量占比 6.6%</a:t>
            </a:r>
          </a:p>
        </p:txBody>
      </p:sp>
      <p:sp>
        <p:nvSpPr>
          <p:cNvPr id="16" name="Oval 15"/>
          <p:cNvSpPr/>
          <p:nvPr/>
        </p:nvSpPr>
        <p:spPr>
          <a:xfrm>
            <a:off x="594360" y="509320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65192"/>
            <a:ext cx="10698480" cy="640080"/>
          </a:xfrm>
          <a:prstGeom prst="rect">
            <a:avLst/>
          </a:prstGeom>
          <a:noFill/>
        </p:spPr>
        <p:txBody>
          <a:bodyPr wrap="square">
            <a:spAutoFit/>
          </a:bodyPr>
          <a:lstStyle/>
          <a:p>
            <a:pPr>
              <a:lnSpc>
                <a:spcPct val="115000"/>
              </a:lnSpc>
            </a:pPr>
            <a:r>
              <a:rPr sz="1450" b="1">
                <a:solidFill>
                  <a:srgbClr val="FFB454"/>
                </a:solidFill>
                <a:latin typeface="Arial"/>
              </a:rPr>
              <a:t>大屏化</a:t>
            </a:r>
            <a:r>
              <a:rPr sz="1450">
                <a:solidFill>
                  <a:srgbClr val="F5F3EC"/>
                </a:solidFill>
                <a:latin typeface="Arial"/>
              </a:rPr>
              <a:t>：75 吋以上尺寸銷量占比 21.9%（+1.4pp）；85 吋以上占比 11.3%（+3.0pp）</a:t>
            </a:r>
          </a:p>
        </p:txBody>
      </p:sp>
      <p:sp>
        <p:nvSpPr>
          <p:cNvPr id="18" name="TextBox 17"/>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06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三、技術演進觀察</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402336"/>
          </a:xfrm>
          <a:prstGeom prst="rect">
            <a:avLst/>
          </a:prstGeom>
          <a:noFill/>
        </p:spPr>
        <p:txBody>
          <a:bodyPr wrap="square">
            <a:spAutoFit/>
          </a:bodyPr>
          <a:lstStyle/>
          <a:p>
            <a:pPr>
              <a:lnSpc>
                <a:spcPct val="115000"/>
              </a:lnSpc>
            </a:pPr>
            <a:r>
              <a:rPr sz="1450" b="1">
                <a:solidFill>
                  <a:srgbClr val="FFB454"/>
                </a:solidFill>
                <a:latin typeface="Arial"/>
              </a:rPr>
              <a:t>雷射滲透持續提升</a:t>
            </a:r>
            <a:r>
              <a:rPr sz="1450">
                <a:solidFill>
                  <a:srgbClr val="F5F3EC"/>
                </a:solidFill>
                <a:latin typeface="Arial"/>
              </a:rPr>
              <a:t>：上半年線上雷射光源份額達 14.3%，中高階市場加速向三色雷射靠攏</a:t>
            </a:r>
          </a:p>
        </p:txBody>
      </p:sp>
      <p:sp>
        <p:nvSpPr>
          <p:cNvPr id="6" name="Oval 5"/>
          <p:cNvSpPr/>
          <p:nvPr/>
        </p:nvSpPr>
        <p:spPr>
          <a:xfrm>
            <a:off x="594360" y="2130552"/>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02536"/>
            <a:ext cx="10698480" cy="640080"/>
          </a:xfrm>
          <a:prstGeom prst="rect">
            <a:avLst/>
          </a:prstGeom>
          <a:noFill/>
        </p:spPr>
        <p:txBody>
          <a:bodyPr wrap="square">
            <a:spAutoFit/>
          </a:bodyPr>
          <a:lstStyle/>
          <a:p>
            <a:pPr>
              <a:lnSpc>
                <a:spcPct val="115000"/>
              </a:lnSpc>
            </a:pPr>
            <a:r>
              <a:rPr sz="1450" b="1">
                <a:solidFill>
                  <a:srgbClr val="FFB454"/>
                </a:solidFill>
                <a:latin typeface="Arial"/>
              </a:rPr>
              <a:t>Epson 三芯三色全彩引擎</a:t>
            </a:r>
            <a:r>
              <a:rPr sz="1450">
                <a:solidFill>
                  <a:srgbClr val="F5F3EC"/>
                </a:solidFill>
                <a:latin typeface="Arial"/>
              </a:rPr>
              <a:t>：以三光源＋三晶片協同方案提升光利用效率、縮小體積，強化 3LCD 陣營在上半年的競爭力</a:t>
            </a:r>
          </a:p>
        </p:txBody>
      </p:sp>
      <p:sp>
        <p:nvSpPr>
          <p:cNvPr id="8" name="Oval 7"/>
          <p:cNvSpPr/>
          <p:nvPr/>
        </p:nvSpPr>
        <p:spPr>
          <a:xfrm>
            <a:off x="594360" y="2770631"/>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42615"/>
            <a:ext cx="10698480" cy="1115568"/>
          </a:xfrm>
          <a:prstGeom prst="rect">
            <a:avLst/>
          </a:prstGeom>
          <a:noFill/>
        </p:spPr>
        <p:txBody>
          <a:bodyPr wrap="square">
            <a:spAutoFit/>
          </a:bodyPr>
          <a:lstStyle/>
          <a:p>
            <a:pPr>
              <a:lnSpc>
                <a:spcPct val="115000"/>
              </a:lnSpc>
            </a:pPr>
            <a:r>
              <a:rPr sz="1450" b="1">
                <a:solidFill>
                  <a:srgbClr val="FFB454"/>
                </a:solidFill>
                <a:latin typeface="Arial"/>
              </a:rPr>
              <a:t>超短焦（UST）與生活風格投影機成為 CES 2025 主軸</a:t>
            </a:r>
            <a:r>
              <a:rPr sz="1450">
                <a:solidFill>
                  <a:srgbClr val="F5F3EC"/>
                </a:solidFill>
                <a:latin typeface="Arial"/>
              </a:rPr>
              <a:t>：NexiGo 推出 ALPD 5.0 Pro 光源的 4K Aurora Pro MKII；Yaber K300S 以不到 9 吋厚度做到 RGB 三色雷射超短焦、近全 DCI-P3 覆蓋；Samsung 展出觸控互動的三色雷射超短焦 Premiere 5</a:t>
            </a:r>
          </a:p>
        </p:txBody>
      </p:sp>
      <p:sp>
        <p:nvSpPr>
          <p:cNvPr id="10" name="Oval 9"/>
          <p:cNvSpPr/>
          <p:nvPr/>
        </p:nvSpPr>
        <p:spPr>
          <a:xfrm>
            <a:off x="594360" y="3886199"/>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758183"/>
            <a:ext cx="10698480" cy="640080"/>
          </a:xfrm>
          <a:prstGeom prst="rect">
            <a:avLst/>
          </a:prstGeom>
          <a:noFill/>
        </p:spPr>
        <p:txBody>
          <a:bodyPr wrap="square">
            <a:spAutoFit/>
          </a:bodyPr>
          <a:lstStyle/>
          <a:p>
            <a:pPr>
              <a:lnSpc>
                <a:spcPct val="115000"/>
              </a:lnSpc>
            </a:pPr>
            <a:r>
              <a:rPr sz="1450" b="1">
                <a:solidFill>
                  <a:srgbClr val="FFB454"/>
                </a:solidFill>
                <a:latin typeface="Arial"/>
              </a:rPr>
              <a:t>電競、低延遲功能開始成為規格賣點</a:t>
            </a:r>
            <a:r>
              <a:rPr sz="1450">
                <a:solidFill>
                  <a:srgbClr val="F5F3EC"/>
                </a:solidFill>
                <a:latin typeface="Arial"/>
              </a:rPr>
              <a:t>：多家品牌在上半年新機強調低輸入延遲與高更新率，為下半年（見 IFA 2025）進一步強化電競定位鋪路</a:t>
            </a:r>
          </a:p>
        </p:txBody>
      </p:sp>
      <p:sp>
        <p:nvSpPr>
          <p:cNvPr id="12" name="TextBox 11"/>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07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四、新品與品牌盤點</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877824"/>
          </a:xfrm>
          <a:prstGeom prst="rect">
            <a:avLst/>
          </a:prstGeom>
          <a:noFill/>
        </p:spPr>
        <p:txBody>
          <a:bodyPr wrap="square">
            <a:spAutoFit/>
          </a:bodyPr>
          <a:lstStyle/>
          <a:p>
            <a:pPr>
              <a:lnSpc>
                <a:spcPct val="115000"/>
              </a:lnSpc>
            </a:pPr>
            <a:r>
              <a:rPr sz="1450" b="1">
                <a:solidFill>
                  <a:srgbClr val="FFB454"/>
                </a:solidFill>
                <a:latin typeface="Arial"/>
              </a:rPr>
              <a:t>XGIMI 極米</a:t>
            </a:r>
            <a:r>
              <a:rPr sz="1450">
                <a:solidFill>
                  <a:srgbClr val="F5F3EC"/>
                </a:solidFill>
                <a:latin typeface="Arial"/>
              </a:rPr>
              <a:t>：CES 2025 發表 Ascend 概念機（結合 Aura 2 超短焦、ALR 自動伸縮螢幕、Harman Kardon 聲霸），同時展出 Horizon S Max/Pro</a:t>
            </a:r>
          </a:p>
        </p:txBody>
      </p:sp>
      <p:sp>
        <p:nvSpPr>
          <p:cNvPr id="6" name="Oval 5"/>
          <p:cNvSpPr/>
          <p:nvPr/>
        </p:nvSpPr>
        <p:spPr>
          <a:xfrm>
            <a:off x="594360" y="260604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478024"/>
            <a:ext cx="10698480" cy="877824"/>
          </a:xfrm>
          <a:prstGeom prst="rect">
            <a:avLst/>
          </a:prstGeom>
          <a:noFill/>
        </p:spPr>
        <p:txBody>
          <a:bodyPr wrap="square">
            <a:spAutoFit/>
          </a:bodyPr>
          <a:lstStyle/>
          <a:p>
            <a:pPr>
              <a:lnSpc>
                <a:spcPct val="115000"/>
              </a:lnSpc>
            </a:pPr>
            <a:r>
              <a:rPr sz="1450" b="1">
                <a:solidFill>
                  <a:srgbClr val="FFB454"/>
                </a:solidFill>
                <a:latin typeface="Arial"/>
              </a:rPr>
              <a:t>JMGO 堅果</a:t>
            </a:r>
            <a:r>
              <a:rPr sz="1450">
                <a:solidFill>
                  <a:srgbClr val="F5F3EC"/>
                </a:solidFill>
                <a:latin typeface="Arial"/>
              </a:rPr>
              <a:t>：CES 2025 推出 N1S 系列（N1S 4K 三色雷射、N1S SE、N1S Nano）全球鋪貨，另有 N3 Ultra Max、O2S Ultra 雷射電視同步亮相</a:t>
            </a:r>
          </a:p>
        </p:txBody>
      </p:sp>
      <p:sp>
        <p:nvSpPr>
          <p:cNvPr id="8" name="Oval 7"/>
          <p:cNvSpPr/>
          <p:nvPr/>
        </p:nvSpPr>
        <p:spPr>
          <a:xfrm>
            <a:off x="594360" y="3483864"/>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355848"/>
            <a:ext cx="10698480" cy="877824"/>
          </a:xfrm>
          <a:prstGeom prst="rect">
            <a:avLst/>
          </a:prstGeom>
          <a:noFill/>
        </p:spPr>
        <p:txBody>
          <a:bodyPr wrap="square">
            <a:spAutoFit/>
          </a:bodyPr>
          <a:lstStyle/>
          <a:p>
            <a:pPr>
              <a:lnSpc>
                <a:spcPct val="115000"/>
              </a:lnSpc>
            </a:pPr>
            <a:r>
              <a:rPr sz="1450" b="1">
                <a:solidFill>
                  <a:srgbClr val="FFB454"/>
                </a:solidFill>
                <a:latin typeface="Arial"/>
              </a:rPr>
              <a:t>Anker Nebula</a:t>
            </a:r>
            <a:r>
              <a:rPr sz="1450">
                <a:solidFill>
                  <a:srgbClr val="F5F3EC"/>
                </a:solidFill>
                <a:latin typeface="Arial"/>
              </a:rPr>
              <a:t>：4 月發表旗艦 Nebula X1（4K 三色雷射、3500 ANSI 流明、業界首見液冷散熱、14 件式玻璃鏡頭、自動空間校正），5 月正式上市，是上半年話題度最高的單一新品</a:t>
            </a:r>
          </a:p>
        </p:txBody>
      </p:sp>
      <p:sp>
        <p:nvSpPr>
          <p:cNvPr id="10" name="Oval 9"/>
          <p:cNvSpPr/>
          <p:nvPr/>
        </p:nvSpPr>
        <p:spPr>
          <a:xfrm>
            <a:off x="594360" y="436168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233672"/>
            <a:ext cx="10698480" cy="877824"/>
          </a:xfrm>
          <a:prstGeom prst="rect">
            <a:avLst/>
          </a:prstGeom>
          <a:noFill/>
        </p:spPr>
        <p:txBody>
          <a:bodyPr wrap="square">
            <a:spAutoFit/>
          </a:bodyPr>
          <a:lstStyle/>
          <a:p>
            <a:pPr>
              <a:lnSpc>
                <a:spcPct val="115000"/>
              </a:lnSpc>
            </a:pPr>
            <a:r>
              <a:rPr sz="1450" b="1">
                <a:solidFill>
                  <a:srgbClr val="FFB454"/>
                </a:solidFill>
                <a:latin typeface="Arial"/>
              </a:rPr>
              <a:t>Dangbei（當貝）／JMGO（堅果）</a:t>
            </a:r>
            <a:r>
              <a:rPr sz="1450">
                <a:solidFill>
                  <a:srgbClr val="F5F3EC"/>
                </a:solidFill>
                <a:latin typeface="Arial"/>
              </a:rPr>
              <a:t>：CES 2025 上 Dangbei 展出 Freedo（1080p 便攜機）與年度旗艦 MP1 Max（訴求消除雷射散斑的混合光源）；JMGO 展示 O2S Ultra 4K 超短焦雷射電視</a:t>
            </a:r>
          </a:p>
        </p:txBody>
      </p:sp>
      <p:sp>
        <p:nvSpPr>
          <p:cNvPr id="12" name="Oval 11"/>
          <p:cNvSpPr/>
          <p:nvPr/>
        </p:nvSpPr>
        <p:spPr>
          <a:xfrm>
            <a:off x="594360" y="5239512"/>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111496"/>
            <a:ext cx="10698480" cy="640080"/>
          </a:xfrm>
          <a:prstGeom prst="rect">
            <a:avLst/>
          </a:prstGeom>
          <a:noFill/>
        </p:spPr>
        <p:txBody>
          <a:bodyPr wrap="square">
            <a:spAutoFit/>
          </a:bodyPr>
          <a:lstStyle/>
          <a:p>
            <a:pPr>
              <a:lnSpc>
                <a:spcPct val="115000"/>
              </a:lnSpc>
            </a:pPr>
            <a:r>
              <a:rPr sz="1450" b="1">
                <a:solidFill>
                  <a:srgbClr val="FFB454"/>
                </a:solidFill>
                <a:latin typeface="Arial"/>
              </a:rPr>
              <a:t>NexiGo</a:t>
            </a:r>
            <a:r>
              <a:rPr sz="1450">
                <a:solidFill>
                  <a:srgbClr val="F5F3EC"/>
                </a:solidFill>
                <a:latin typeface="Arial"/>
              </a:rPr>
              <a:t>：發表 N3（4K、逾 4000 ISO 流明、MALC 三色雷射、電動雲台自動校正）及入門款 PJ40 Pro、Nova Mini</a:t>
            </a:r>
          </a:p>
        </p:txBody>
      </p:sp>
      <p:sp>
        <p:nvSpPr>
          <p:cNvPr id="14" name="TextBox 13"/>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08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四、新品與品牌盤點（續）</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b="1">
                <a:solidFill>
                  <a:srgbClr val="FFB454"/>
                </a:solidFill>
                <a:latin typeface="Arial"/>
              </a:rPr>
              <a:t>中國市場結構</a:t>
            </a:r>
            <a:r>
              <a:rPr sz="1450">
                <a:solidFill>
                  <a:srgbClr val="F5F3EC"/>
                </a:solidFill>
                <a:latin typeface="Arial"/>
              </a:rPr>
              <a:t>：DLP 陣營極米、堅果、當貝、Vidda 四大品牌合計份額持續維持高檔，供應鏈垂直整合能力是主要護城河</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09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五、供應鏈觀察</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b="1">
                <a:solidFill>
                  <a:srgbClr val="FFB454"/>
                </a:solidFill>
                <a:latin typeface="Arial"/>
              </a:rPr>
              <a:t>記憶體漲價序幕</a:t>
            </a:r>
            <a:r>
              <a:rPr sz="1450">
                <a:solidFill>
                  <a:srgbClr val="F5F3EC"/>
                </a:solidFill>
                <a:latin typeface="Arial"/>
              </a:rPr>
              <a:t>：三星、SK 海力士自 2025 年 4 月起停止 DDR4 生產、轉向 DDR5 與 HBM 產能，是下半年成本壓力的起點</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640080"/>
          </a:xfrm>
          <a:prstGeom prst="rect">
            <a:avLst/>
          </a:prstGeom>
          <a:noFill/>
        </p:spPr>
        <p:txBody>
          <a:bodyPr wrap="square">
            <a:spAutoFit/>
          </a:bodyPr>
          <a:lstStyle/>
          <a:p>
            <a:pPr>
              <a:lnSpc>
                <a:spcPct val="115000"/>
              </a:lnSpc>
            </a:pPr>
            <a:r>
              <a:rPr sz="1450" b="1">
                <a:solidFill>
                  <a:srgbClr val="FFB454"/>
                </a:solidFill>
                <a:latin typeface="Arial"/>
              </a:rPr>
              <a:t>政策面</a:t>
            </a:r>
            <a:r>
              <a:rPr sz="1450">
                <a:solidFill>
                  <a:srgbClr val="F5F3EC"/>
                </a:solidFill>
                <a:latin typeface="Arial"/>
              </a:rPr>
              <a:t>：中國「以舊換新」國家補貼延續執行，但投影機並非補貼覆蓋的核心品類，各地銜接不順，加上手機、平板等中小尺寸產品正式納入補貼名單，一定程度上排擠了大屏娛樂產品的市場空間</a:t>
            </a:r>
          </a:p>
        </p:txBody>
      </p:sp>
      <p:sp>
        <p:nvSpPr>
          <p:cNvPr id="8" name="Oval 7"/>
          <p:cNvSpPr/>
          <p:nvPr/>
        </p:nvSpPr>
        <p:spPr>
          <a:xfrm>
            <a:off x="594360" y="300837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80360"/>
            <a:ext cx="10698480" cy="640080"/>
          </a:xfrm>
          <a:prstGeom prst="rect">
            <a:avLst/>
          </a:prstGeom>
          <a:noFill/>
        </p:spPr>
        <p:txBody>
          <a:bodyPr wrap="square">
            <a:spAutoFit/>
          </a:bodyPr>
          <a:lstStyle/>
          <a:p>
            <a:pPr>
              <a:lnSpc>
                <a:spcPct val="115000"/>
              </a:lnSpc>
            </a:pPr>
            <a:r>
              <a:rPr sz="1450" b="1">
                <a:solidFill>
                  <a:srgbClr val="FFB454"/>
                </a:solidFill>
                <a:latin typeface="Arial"/>
              </a:rPr>
              <a:t>通路與消費心理</a:t>
            </a:r>
            <a:r>
              <a:rPr sz="1450">
                <a:solidFill>
                  <a:srgbClr val="F5F3EC"/>
                </a:solidFill>
                <a:latin typeface="Arial"/>
              </a:rPr>
              <a:t>：Q1 消費者「持幣觀望 618」的行為模式，顯示投影機消費對促銷檔期的敏感度正在提高</a:t>
            </a:r>
          </a:p>
        </p:txBody>
      </p:sp>
      <p:sp>
        <p:nvSpPr>
          <p:cNvPr id="10" name="TextBox 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10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六、關鍵轉折點（Timeline）</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b="1">
                <a:solidFill>
                  <a:srgbClr val="FFB454"/>
                </a:solidFill>
                <a:latin typeface="Arial"/>
              </a:rPr>
              <a:t>1 月</a:t>
            </a:r>
            <a:r>
              <a:rPr sz="1450">
                <a:solidFill>
                  <a:srgbClr val="F5F3EC"/>
                </a:solidFill>
                <a:latin typeface="Arial"/>
              </a:rPr>
              <a:t>：CES 2025 登場，XGIMI、JMGO、Samsung、Dangbei、NexiGo、Yaber 等品牌集中發表超短焦與生活風格投影機</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640080"/>
          </a:xfrm>
          <a:prstGeom prst="rect">
            <a:avLst/>
          </a:prstGeom>
          <a:noFill/>
        </p:spPr>
        <p:txBody>
          <a:bodyPr wrap="square">
            <a:spAutoFit/>
          </a:bodyPr>
          <a:lstStyle/>
          <a:p>
            <a:pPr>
              <a:lnSpc>
                <a:spcPct val="115000"/>
              </a:lnSpc>
            </a:pPr>
            <a:r>
              <a:rPr sz="1450" b="1">
                <a:solidFill>
                  <a:srgbClr val="FFB454"/>
                </a:solidFill>
                <a:latin typeface="Arial"/>
              </a:rPr>
              <a:t>Q1（1-3 月）</a:t>
            </a:r>
            <a:r>
              <a:rPr sz="1450">
                <a:solidFill>
                  <a:srgbClr val="F5F3EC"/>
                </a:solidFill>
                <a:latin typeface="Arial"/>
              </a:rPr>
              <a:t>：中國智能投影銷量約 143 萬台，接近持平，反映 2024 Q4 需求透支＋觀望 618 大促的雙重效應</a:t>
            </a:r>
          </a:p>
        </p:txBody>
      </p:sp>
      <p:sp>
        <p:nvSpPr>
          <p:cNvPr id="8" name="Oval 7"/>
          <p:cNvSpPr/>
          <p:nvPr/>
        </p:nvSpPr>
        <p:spPr>
          <a:xfrm>
            <a:off x="594360" y="300837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80360"/>
            <a:ext cx="10698480" cy="640080"/>
          </a:xfrm>
          <a:prstGeom prst="rect">
            <a:avLst/>
          </a:prstGeom>
          <a:noFill/>
        </p:spPr>
        <p:txBody>
          <a:bodyPr wrap="square">
            <a:spAutoFit/>
          </a:bodyPr>
          <a:lstStyle/>
          <a:p>
            <a:pPr>
              <a:lnSpc>
                <a:spcPct val="115000"/>
              </a:lnSpc>
            </a:pPr>
            <a:r>
              <a:rPr sz="1450" b="1">
                <a:solidFill>
                  <a:srgbClr val="FFB454"/>
                </a:solidFill>
                <a:latin typeface="Arial"/>
              </a:rPr>
              <a:t>4 月</a:t>
            </a:r>
            <a:r>
              <a:rPr sz="1450">
                <a:solidFill>
                  <a:srgbClr val="F5F3EC"/>
                </a:solidFill>
                <a:latin typeface="Arial"/>
              </a:rPr>
              <a:t>：Anker 發表旗艦 Nebula X1；同月三星、SK 海力士啟動 DDR4 停產轉單，記憶體漲價壓力自此浮現</a:t>
            </a:r>
          </a:p>
        </p:txBody>
      </p:sp>
      <p:sp>
        <p:nvSpPr>
          <p:cNvPr id="10" name="Oval 9"/>
          <p:cNvSpPr/>
          <p:nvPr/>
        </p:nvSpPr>
        <p:spPr>
          <a:xfrm>
            <a:off x="594360" y="364845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520440"/>
            <a:ext cx="10698480" cy="402336"/>
          </a:xfrm>
          <a:prstGeom prst="rect">
            <a:avLst/>
          </a:prstGeom>
          <a:noFill/>
        </p:spPr>
        <p:txBody>
          <a:bodyPr wrap="square">
            <a:spAutoFit/>
          </a:bodyPr>
          <a:lstStyle/>
          <a:p>
            <a:pPr>
              <a:lnSpc>
                <a:spcPct val="115000"/>
              </a:lnSpc>
            </a:pPr>
            <a:r>
              <a:rPr sz="1450" b="1">
                <a:solidFill>
                  <a:srgbClr val="FFB454"/>
                </a:solidFill>
                <a:latin typeface="Arial"/>
              </a:rPr>
              <a:t>5 月</a:t>
            </a:r>
            <a:r>
              <a:rPr sz="1450">
                <a:solidFill>
                  <a:srgbClr val="F5F3EC"/>
                </a:solidFill>
                <a:latin typeface="Arial"/>
              </a:rPr>
              <a:t>：Nebula X1 正式上市，售價 2,999 美元</a:t>
            </a:r>
          </a:p>
        </p:txBody>
      </p:sp>
      <p:sp>
        <p:nvSpPr>
          <p:cNvPr id="12" name="Oval 11"/>
          <p:cNvSpPr/>
          <p:nvPr/>
        </p:nvSpPr>
        <p:spPr>
          <a:xfrm>
            <a:off x="594360" y="4050792"/>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922776"/>
            <a:ext cx="10698480" cy="640080"/>
          </a:xfrm>
          <a:prstGeom prst="rect">
            <a:avLst/>
          </a:prstGeom>
          <a:noFill/>
        </p:spPr>
        <p:txBody>
          <a:bodyPr wrap="square">
            <a:spAutoFit/>
          </a:bodyPr>
          <a:lstStyle/>
          <a:p>
            <a:pPr>
              <a:lnSpc>
                <a:spcPct val="115000"/>
              </a:lnSpc>
            </a:pPr>
            <a:r>
              <a:rPr sz="1450" b="1">
                <a:solidFill>
                  <a:srgbClr val="FFB454"/>
                </a:solidFill>
                <a:latin typeface="Arial"/>
              </a:rPr>
              <a:t>上半年末</a:t>
            </a:r>
            <a:r>
              <a:rPr sz="1450">
                <a:solidFill>
                  <a:srgbClr val="F5F3EC"/>
                </a:solidFill>
                <a:latin typeface="Arial"/>
              </a:rPr>
              <a:t>：線上市場規模持續承壓（171.7 萬台，年減 8.1%），但雷射、4K、變焦、AI 大模型等高規格產品滲透率同步提升，顯示「量縮質升」的結構性轉變已在上半年浮現雛形</a:t>
            </a:r>
          </a:p>
        </p:txBody>
      </p:sp>
      <p:sp>
        <p:nvSpPr>
          <p:cNvPr id="14" name="TextBox 13"/>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11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七、下半年關注重點</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402336"/>
          </a:xfrm>
          <a:prstGeom prst="rect">
            <a:avLst/>
          </a:prstGeom>
          <a:noFill/>
        </p:spPr>
        <p:txBody>
          <a:bodyPr wrap="square">
            <a:spAutoFit/>
          </a:bodyPr>
          <a:lstStyle/>
          <a:p>
            <a:pPr>
              <a:lnSpc>
                <a:spcPct val="115000"/>
              </a:lnSpc>
            </a:pPr>
            <a:r>
              <a:rPr sz="1450">
                <a:solidFill>
                  <a:srgbClr val="F5F3EC"/>
                </a:solidFill>
                <a:latin typeface="Arial"/>
              </a:rPr>
              <a:t>記憶體漲價壓力會不會在下半年傳導到終端售價，是觀察 Q3、Q4 新機定價的重點</a:t>
            </a:r>
          </a:p>
        </p:txBody>
      </p:sp>
      <p:sp>
        <p:nvSpPr>
          <p:cNvPr id="6" name="Oval 5"/>
          <p:cNvSpPr/>
          <p:nvPr/>
        </p:nvSpPr>
        <p:spPr>
          <a:xfrm>
            <a:off x="594360" y="2130552"/>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02536"/>
            <a:ext cx="10698480" cy="402336"/>
          </a:xfrm>
          <a:prstGeom prst="rect">
            <a:avLst/>
          </a:prstGeom>
          <a:noFill/>
        </p:spPr>
        <p:txBody>
          <a:bodyPr wrap="square">
            <a:spAutoFit/>
          </a:bodyPr>
          <a:lstStyle/>
          <a:p>
            <a:pPr>
              <a:lnSpc>
                <a:spcPct val="115000"/>
              </a:lnSpc>
            </a:pPr>
            <a:r>
              <a:rPr sz="1450">
                <a:solidFill>
                  <a:srgbClr val="F5F3EC"/>
                </a:solidFill>
                <a:latin typeface="Arial"/>
              </a:rPr>
              <a:t>上半年「量縮質升」的結構是否延續：雷射、4K、變焦、高單價產品滲透率能否持續提升</a:t>
            </a:r>
          </a:p>
        </p:txBody>
      </p:sp>
      <p:sp>
        <p:nvSpPr>
          <p:cNvPr id="8" name="Oval 7"/>
          <p:cNvSpPr/>
          <p:nvPr/>
        </p:nvSpPr>
        <p:spPr>
          <a:xfrm>
            <a:off x="594360" y="253288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04872"/>
            <a:ext cx="10698480" cy="402336"/>
          </a:xfrm>
          <a:prstGeom prst="rect">
            <a:avLst/>
          </a:prstGeom>
          <a:noFill/>
        </p:spPr>
        <p:txBody>
          <a:bodyPr wrap="square">
            <a:spAutoFit/>
          </a:bodyPr>
          <a:lstStyle/>
          <a:p>
            <a:pPr>
              <a:lnSpc>
                <a:spcPct val="115000"/>
              </a:lnSpc>
            </a:pPr>
            <a:r>
              <a:rPr sz="1450">
                <a:solidFill>
                  <a:srgbClr val="F5F3EC"/>
                </a:solidFill>
                <a:latin typeface="Arial"/>
              </a:rPr>
              <a:t>「以舊換新」補貼對投影機的邊際刺激效果能否改善，或持續被手機/平板等品類排擠</a:t>
            </a:r>
          </a:p>
        </p:txBody>
      </p:sp>
      <p:sp>
        <p:nvSpPr>
          <p:cNvPr id="10" name="Oval 9"/>
          <p:cNvSpPr/>
          <p:nvPr/>
        </p:nvSpPr>
        <p:spPr>
          <a:xfrm>
            <a:off x="594360" y="2935224"/>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07208"/>
            <a:ext cx="10698480" cy="640080"/>
          </a:xfrm>
          <a:prstGeom prst="rect">
            <a:avLst/>
          </a:prstGeom>
          <a:noFill/>
        </p:spPr>
        <p:txBody>
          <a:bodyPr wrap="square">
            <a:spAutoFit/>
          </a:bodyPr>
          <a:lstStyle/>
          <a:p>
            <a:pPr>
              <a:lnSpc>
                <a:spcPct val="115000"/>
              </a:lnSpc>
            </a:pPr>
            <a:r>
              <a:rPr sz="1450">
                <a:solidFill>
                  <a:srgbClr val="F5F3EC"/>
                </a:solidFill>
                <a:latin typeface="Arial"/>
              </a:rPr>
              <a:t>IFA 2025（9 月）、雙 11 大促將是下半年觀察品牌新品發表節奏與價格戰是否升溫的重要時間點</a:t>
            </a:r>
          </a:p>
        </p:txBody>
      </p:sp>
      <p:sp>
        <p:nvSpPr>
          <p:cNvPr id="12" name="TextBox 11"/>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12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附錄：資料來源與查核狀態</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877824"/>
          </a:xfrm>
          <a:prstGeom prst="rect">
            <a:avLst/>
          </a:prstGeom>
          <a:noFill/>
        </p:spPr>
        <p:txBody>
          <a:bodyPr wrap="square">
            <a:spAutoFit/>
          </a:bodyPr>
          <a:lstStyle/>
          <a:p>
            <a:pPr>
              <a:lnSpc>
                <a:spcPct val="115000"/>
              </a:lnSpc>
            </a:pPr>
            <a:r>
              <a:rPr sz="1450">
                <a:solidFill>
                  <a:srgbClr val="F5F3EC"/>
                </a:solidFill>
                <a:latin typeface="Arial"/>
              </a:rPr>
              <a:t>本篇半年回顧由 AI 助手於 2026 年 7 月透過公開網路資料整理草稿，並非彙整自站內逐月月報（資料庫中目前沒有 2025 年各月的爬蟲紀錄）。內文數據後方的 `[數字]` 對應下方參考清單，</a:t>
            </a:r>
            <a:r>
              <a:rPr sz="1450" b="1">
                <a:solidFill>
                  <a:srgbClr val="FFB454"/>
                </a:solidFill>
                <a:latin typeface="Arial"/>
              </a:rPr>
              <a:t>尚未經人工逐條複核</a:t>
            </a:r>
            <a:r>
              <a:rPr sz="1450">
                <a:solidFill>
                  <a:srgbClr val="F5F3EC"/>
                </a:solidFill>
                <a:latin typeface="Arial"/>
              </a:rPr>
              <a:t>，正式對外發布前建議至少抽查第二節市場數據與第四節品牌新品。</a:t>
            </a:r>
          </a:p>
        </p:txBody>
      </p:sp>
      <p:sp>
        <p:nvSpPr>
          <p:cNvPr id="6" name="Oval 5"/>
          <p:cNvSpPr/>
          <p:nvPr/>
        </p:nvSpPr>
        <p:spPr>
          <a:xfrm>
            <a:off x="594360" y="260604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478024"/>
            <a:ext cx="10698480" cy="402336"/>
          </a:xfrm>
          <a:prstGeom prst="rect">
            <a:avLst/>
          </a:prstGeom>
          <a:noFill/>
        </p:spPr>
        <p:txBody>
          <a:bodyPr wrap="square">
            <a:spAutoFit/>
          </a:bodyPr>
          <a:lstStyle/>
          <a:p>
            <a:pPr>
              <a:lnSpc>
                <a:spcPct val="115000"/>
              </a:lnSpc>
            </a:pPr>
            <a:r>
              <a:rPr sz="1450">
                <a:solidFill>
                  <a:srgbClr val="F5F3EC"/>
                </a:solidFill>
                <a:latin typeface="Arial"/>
              </a:rPr>
              <a:t>### 參考資料清單</a:t>
            </a:r>
          </a:p>
        </p:txBody>
      </p:sp>
      <p:sp>
        <p:nvSpPr>
          <p:cNvPr id="8" name="Oval 7"/>
          <p:cNvSpPr/>
          <p:nvPr/>
        </p:nvSpPr>
        <p:spPr>
          <a:xfrm>
            <a:off x="594360" y="300837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80360"/>
            <a:ext cx="10698480" cy="877824"/>
          </a:xfrm>
          <a:prstGeom prst="rect">
            <a:avLst/>
          </a:prstGeom>
          <a:noFill/>
        </p:spPr>
        <p:txBody>
          <a:bodyPr wrap="square">
            <a:spAutoFit/>
          </a:bodyPr>
          <a:lstStyle/>
          <a:p>
            <a:pPr>
              <a:lnSpc>
                <a:spcPct val="115000"/>
              </a:lnSpc>
            </a:pPr>
            <a:r>
              <a:rPr sz="1450">
                <a:solidFill>
                  <a:srgbClr val="F5F3EC"/>
                </a:solidFill>
                <a:latin typeface="Arial"/>
              </a:rPr>
              <a:t>1. [全球投影机出货量上半年下滑4%（洛图科技）](http://runtotech.com/MarketInsights/info_itemid_5969_lcid_12.html)</a:t>
            </a:r>
          </a:p>
        </p:txBody>
      </p:sp>
      <p:sp>
        <p:nvSpPr>
          <p:cNvPr id="10" name="Oval 9"/>
          <p:cNvSpPr/>
          <p:nvPr/>
        </p:nvSpPr>
        <p:spPr>
          <a:xfrm>
            <a:off x="594360" y="3886199"/>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758183"/>
            <a:ext cx="10698480" cy="640080"/>
          </a:xfrm>
          <a:prstGeom prst="rect">
            <a:avLst/>
          </a:prstGeom>
          <a:noFill/>
        </p:spPr>
        <p:txBody>
          <a:bodyPr wrap="square">
            <a:spAutoFit/>
          </a:bodyPr>
          <a:lstStyle/>
          <a:p>
            <a:pPr>
              <a:lnSpc>
                <a:spcPct val="115000"/>
              </a:lnSpc>
            </a:pPr>
            <a:r>
              <a:rPr sz="1450">
                <a:solidFill>
                  <a:srgbClr val="F5F3EC"/>
                </a:solidFill>
                <a:latin typeface="Arial"/>
              </a:rPr>
              <a:t>2. [2025上半年中国客厅智能设备线上零售市场数据总结报告（知乎）](https://zhuanlan.zhihu.com/p/1941294282951614542)</a:t>
            </a:r>
          </a:p>
        </p:txBody>
      </p:sp>
      <p:sp>
        <p:nvSpPr>
          <p:cNvPr id="12" name="Oval 11"/>
          <p:cNvSpPr/>
          <p:nvPr/>
        </p:nvSpPr>
        <p:spPr>
          <a:xfrm>
            <a:off x="594360" y="452628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398264"/>
            <a:ext cx="10698480" cy="640080"/>
          </a:xfrm>
          <a:prstGeom prst="rect">
            <a:avLst/>
          </a:prstGeom>
          <a:noFill/>
        </p:spPr>
        <p:txBody>
          <a:bodyPr wrap="square">
            <a:spAutoFit/>
          </a:bodyPr>
          <a:lstStyle/>
          <a:p>
            <a:pPr>
              <a:lnSpc>
                <a:spcPct val="115000"/>
              </a:lnSpc>
            </a:pPr>
            <a:r>
              <a:rPr sz="1450">
                <a:solidFill>
                  <a:srgbClr val="F5F3EC"/>
                </a:solidFill>
                <a:latin typeface="Arial"/>
              </a:rPr>
              <a:t>3. [2025Q1中国智能投影销量达143万台，基本持平（流媒体网）](https://lmtw.com/mzw/content/detail/id/242242)</a:t>
            </a:r>
          </a:p>
        </p:txBody>
      </p:sp>
      <p:sp>
        <p:nvSpPr>
          <p:cNvPr id="14" name="Oval 13"/>
          <p:cNvSpPr/>
          <p:nvPr/>
        </p:nvSpPr>
        <p:spPr>
          <a:xfrm>
            <a:off x="594360" y="516636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038344"/>
            <a:ext cx="10698480" cy="1115568"/>
          </a:xfrm>
          <a:prstGeom prst="rect">
            <a:avLst/>
          </a:prstGeom>
          <a:noFill/>
        </p:spPr>
        <p:txBody>
          <a:bodyPr wrap="square">
            <a:spAutoFit/>
          </a:bodyPr>
          <a:lstStyle/>
          <a:p>
            <a:pPr>
              <a:lnSpc>
                <a:spcPct val="115000"/>
              </a:lnSpc>
            </a:pPr>
            <a:r>
              <a:rPr sz="1450">
                <a:solidFill>
                  <a:srgbClr val="F5F3EC"/>
                </a:solidFill>
                <a:latin typeface="Arial"/>
              </a:rPr>
              <a:t>4. [The Evolution of Lifestyle Projectors and USTs at CES 2025（ProjectorCentral）](https://www.projectorcentral.com/CES-2025-Projectors-UST-Report.htm)</a:t>
            </a:r>
          </a:p>
        </p:txBody>
      </p:sp>
      <p:sp>
        <p:nvSpPr>
          <p:cNvPr id="16" name="TextBox 1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13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附錄：資料來源與查核狀態（續）</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353312"/>
          </a:xfrm>
          <a:prstGeom prst="rect">
            <a:avLst/>
          </a:prstGeom>
          <a:noFill/>
        </p:spPr>
        <p:txBody>
          <a:bodyPr wrap="square">
            <a:spAutoFit/>
          </a:bodyPr>
          <a:lstStyle/>
          <a:p>
            <a:pPr>
              <a:lnSpc>
                <a:spcPct val="115000"/>
              </a:lnSpc>
            </a:pPr>
            <a:r>
              <a:rPr sz="1450">
                <a:solidFill>
                  <a:srgbClr val="F5F3EC"/>
                </a:solidFill>
                <a:latin typeface="Arial"/>
              </a:rPr>
              <a:t>5. [Xgimi Ascend: New concept combines UST projector, screen and soundbar（Notebookcheck）](https://www.notebookcheck.net/Xgimi-Ascend-New-concept-combines-UST-projector-screen-and-soundbar.941413.0.html)</a:t>
            </a:r>
          </a:p>
        </p:txBody>
      </p:sp>
      <p:sp>
        <p:nvSpPr>
          <p:cNvPr id="6" name="Oval 5"/>
          <p:cNvSpPr/>
          <p:nvPr/>
        </p:nvSpPr>
        <p:spPr>
          <a:xfrm>
            <a:off x="594360" y="308152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953512"/>
            <a:ext cx="10698480" cy="1353312"/>
          </a:xfrm>
          <a:prstGeom prst="rect">
            <a:avLst/>
          </a:prstGeom>
          <a:noFill/>
        </p:spPr>
        <p:txBody>
          <a:bodyPr wrap="square">
            <a:spAutoFit/>
          </a:bodyPr>
          <a:lstStyle/>
          <a:p>
            <a:pPr>
              <a:lnSpc>
                <a:spcPct val="115000"/>
              </a:lnSpc>
            </a:pPr>
            <a:r>
              <a:rPr sz="1450">
                <a:solidFill>
                  <a:srgbClr val="F5F3EC"/>
                </a:solidFill>
                <a:latin typeface="Arial"/>
              </a:rPr>
              <a:t>6. [Jmgo N1S 4K compact triple laser projector launching globally（Notebookcheck）](https://www.notebookcheck.net/Jmgo-N1S-4K-compact-triple-laser-projector-launching-globally.943306.0.html)</a:t>
            </a:r>
          </a:p>
        </p:txBody>
      </p:sp>
      <p:sp>
        <p:nvSpPr>
          <p:cNvPr id="8" name="Oval 7"/>
          <p:cNvSpPr/>
          <p:nvPr/>
        </p:nvSpPr>
        <p:spPr>
          <a:xfrm>
            <a:off x="594360" y="443484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306824"/>
            <a:ext cx="10698480" cy="1115568"/>
          </a:xfrm>
          <a:prstGeom prst="rect">
            <a:avLst/>
          </a:prstGeom>
          <a:noFill/>
        </p:spPr>
        <p:txBody>
          <a:bodyPr wrap="square">
            <a:spAutoFit/>
          </a:bodyPr>
          <a:lstStyle/>
          <a:p>
            <a:pPr>
              <a:lnSpc>
                <a:spcPct val="115000"/>
              </a:lnSpc>
            </a:pPr>
            <a:r>
              <a:rPr sz="1450">
                <a:solidFill>
                  <a:srgbClr val="F5F3EC"/>
                </a:solidFill>
                <a:latin typeface="Arial"/>
              </a:rPr>
              <a:t>7. [Anker Announces New Flagship Nebula X1 4K Triple-Laser Projector（ProjectorCentral）](https://www.projectorcentral.com/anker-announces-new-flagship-nebula-x1.htm)</a:t>
            </a:r>
          </a:p>
        </p:txBody>
      </p:sp>
      <p:sp>
        <p:nvSpPr>
          <p:cNvPr id="10" name="TextBox 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14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附錄：資料來源與查核狀態（續）</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877824"/>
          </a:xfrm>
          <a:prstGeom prst="rect">
            <a:avLst/>
          </a:prstGeom>
          <a:noFill/>
        </p:spPr>
        <p:txBody>
          <a:bodyPr wrap="square">
            <a:spAutoFit/>
          </a:bodyPr>
          <a:lstStyle/>
          <a:p>
            <a:pPr>
              <a:lnSpc>
                <a:spcPct val="115000"/>
              </a:lnSpc>
            </a:pPr>
            <a:r>
              <a:rPr sz="1450">
                <a:solidFill>
                  <a:srgbClr val="F5F3EC"/>
                </a:solidFill>
                <a:latin typeface="Arial"/>
              </a:rPr>
              <a:t>8. [Projector News From CES 2025（The Hook Up）](https://www.thesmarthomehookup.com/projector-news-from-ces-2025/)</a:t>
            </a:r>
          </a:p>
        </p:txBody>
      </p:sp>
      <p:sp>
        <p:nvSpPr>
          <p:cNvPr id="6" name="Oval 5"/>
          <p:cNvSpPr/>
          <p:nvPr/>
        </p:nvSpPr>
        <p:spPr>
          <a:xfrm>
            <a:off x="594360" y="260604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478024"/>
            <a:ext cx="10698480" cy="640080"/>
          </a:xfrm>
          <a:prstGeom prst="rect">
            <a:avLst/>
          </a:prstGeom>
          <a:noFill/>
        </p:spPr>
        <p:txBody>
          <a:bodyPr wrap="square">
            <a:spAutoFit/>
          </a:bodyPr>
          <a:lstStyle/>
          <a:p>
            <a:pPr>
              <a:lnSpc>
                <a:spcPct val="115000"/>
              </a:lnSpc>
            </a:pPr>
            <a:r>
              <a:rPr sz="1450">
                <a:solidFill>
                  <a:srgbClr val="F5F3EC"/>
                </a:solidFill>
                <a:latin typeface="Arial"/>
              </a:rPr>
              <a:t>9. [存储芯片涨价引发连锁反应 投影仪2026年将迎涨价潮（快科技）](https://news.mydrivers.com/1/1087/1087717.htm)</a:t>
            </a:r>
          </a:p>
        </p:txBody>
      </p:sp>
      <p:sp>
        <p:nvSpPr>
          <p:cNvPr id="8" name="TextBox 7"/>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961120" y="3200400"/>
            <a:ext cx="5486400" cy="5486400"/>
          </a:xfrm>
          <a:prstGeom prst="ellipse">
            <a:avLst/>
          </a:prstGeom>
          <a:solidFill>
            <a:srgbClr val="4C7E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0"/>
            <a:ext cx="9144000" cy="822960"/>
          </a:xfrm>
          <a:prstGeom prst="rect">
            <a:avLst/>
          </a:prstGeom>
          <a:noFill/>
        </p:spPr>
        <p:txBody>
          <a:bodyPr wrap="square" anchor="t">
            <a:spAutoFit/>
          </a:bodyPr>
          <a:lstStyle/>
          <a:p>
            <a:pPr algn="l"/>
            <a:r>
              <a:rPr sz="3000" b="1">
                <a:solidFill>
                  <a:srgbClr val="F5F3EC"/>
                </a:solidFill>
                <a:latin typeface="Arial"/>
              </a:rPr>
              <a:t>投影機情報站</a:t>
            </a:r>
          </a:p>
        </p:txBody>
      </p:sp>
      <p:sp>
        <p:nvSpPr>
          <p:cNvPr id="4" name="TextBox 3"/>
          <p:cNvSpPr txBox="1"/>
          <p:nvPr/>
        </p:nvSpPr>
        <p:spPr>
          <a:xfrm>
            <a:off x="731520" y="3611880"/>
            <a:ext cx="9144000" cy="457200"/>
          </a:xfrm>
          <a:prstGeom prst="rect">
            <a:avLst/>
          </a:prstGeom>
          <a:noFill/>
        </p:spPr>
        <p:txBody>
          <a:bodyPr wrap="square" anchor="t">
            <a:spAutoFit/>
          </a:bodyPr>
          <a:lstStyle/>
          <a:p>
            <a:pPr algn="l"/>
            <a:r>
              <a:rPr sz="1400" b="0">
                <a:solidFill>
                  <a:srgbClr val="9096A1"/>
                </a:solidFill>
                <a:latin typeface="Arial"/>
              </a:rPr>
              <a:t>由本站爬蟲每日追蹤產業動態，AI 自動摘要與分類</a:t>
            </a:r>
          </a:p>
        </p:txBody>
      </p:sp>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