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503920" y="-2194560"/>
            <a:ext cx="6400800" cy="6400800"/>
          </a:xfrm>
          <a:prstGeom prst="ellipse">
            <a:avLst/>
          </a:prstGeom>
          <a:solidFill>
            <a:srgbClr val="4C7E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377440" y="4206240"/>
            <a:ext cx="5486400" cy="5486400"/>
          </a:xfrm>
          <a:prstGeom prst="ellipse">
            <a:avLst/>
          </a:prstGeom>
          <a:solidFill>
            <a:srgbClr val="FFB45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65960"/>
            <a:ext cx="9144000" cy="365760"/>
          </a:xfrm>
          <a:prstGeom prst="rect">
            <a:avLst/>
          </a:prstGeom>
          <a:noFill/>
        </p:spPr>
        <p:txBody>
          <a:bodyPr wrap="square" anchor="t">
            <a:spAutoFit/>
          </a:bodyPr>
          <a:lstStyle/>
          <a:p>
            <a:pPr algn="l"/>
            <a:r>
              <a:rPr sz="1300" b="1">
                <a:solidFill>
                  <a:srgbClr val="FFB454"/>
                </a:solidFill>
                <a:latin typeface="Arial"/>
              </a:rPr>
              <a:t>投影機情報站</a:t>
            </a:r>
          </a:p>
        </p:txBody>
      </p:sp>
      <p:sp>
        <p:nvSpPr>
          <p:cNvPr id="5" name="TextBox 4"/>
          <p:cNvSpPr txBox="1"/>
          <p:nvPr/>
        </p:nvSpPr>
        <p:spPr>
          <a:xfrm>
            <a:off x="731520" y="2377440"/>
            <a:ext cx="10241280" cy="1828800"/>
          </a:xfrm>
          <a:prstGeom prst="rect">
            <a:avLst/>
          </a:prstGeom>
          <a:noFill/>
        </p:spPr>
        <p:txBody>
          <a:bodyPr wrap="square" anchor="t">
            <a:spAutoFit/>
          </a:bodyPr>
          <a:lstStyle/>
          <a:p>
            <a:pPr algn="l"/>
            <a:r>
              <a:rPr sz="4000" b="1">
                <a:solidFill>
                  <a:srgbClr val="F5F3EC"/>
                </a:solidFill>
                <a:latin typeface="Arial"/>
              </a:rPr>
              <a:t>2026-09-14 ～ 2026-09-20 投影機產業週報</a:t>
            </a:r>
          </a:p>
        </p:txBody>
      </p:sp>
      <p:sp>
        <p:nvSpPr>
          <p:cNvPr id="6" name="TextBox 5"/>
          <p:cNvSpPr txBox="1"/>
          <p:nvPr/>
        </p:nvSpPr>
        <p:spPr>
          <a:xfrm>
            <a:off x="731520" y="4160520"/>
            <a:ext cx="9601200" cy="457200"/>
          </a:xfrm>
          <a:prstGeom prst="rect">
            <a:avLst/>
          </a:prstGeom>
          <a:noFill/>
        </p:spPr>
        <p:txBody>
          <a:bodyPr wrap="square" anchor="t">
            <a:spAutoFit/>
          </a:bodyPr>
          <a:lstStyle/>
          <a:p>
            <a:pPr algn="l"/>
            <a:r>
              <a:rPr sz="1500" b="0">
                <a:solidFill>
                  <a:srgbClr val="9096A1"/>
                </a:solidFill>
                <a:latin typeface="Arial"/>
              </a:rPr>
              <a:t>投影機產業報告 · 自動產生簡報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02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本週重點</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115568"/>
          </a:xfrm>
          <a:prstGeom prst="rect">
            <a:avLst/>
          </a:prstGeom>
          <a:noFill/>
        </p:spPr>
        <p:txBody>
          <a:bodyPr wrap="square">
            <a:spAutoFit/>
          </a:bodyPr>
          <a:lstStyle/>
          <a:p>
            <a:pPr>
              <a:lnSpc>
                <a:spcPct val="115000"/>
              </a:lnSpc>
            </a:pPr>
            <a:r>
              <a:rPr sz="1450">
                <a:solidFill>
                  <a:srgbClr val="F5F3EC"/>
                </a:solidFill>
                <a:latin typeface="Arial"/>
              </a:rPr>
              <a:t>這週投影機產業聚焦於供應鏈結構轉變與B端市場拓展。上游矽光子光學模組的生產瓶頸轉向雷射級基板供應，鴻騰精密也因應AI賽局積極擴大光學互連研發。在應用端，極米科技以70台設備在成都雙年展196天零故障的表現，成功開闢文化藝術展演的B端新業務戰場。此外，多家品牌如當貝、堅果、Soundcore等也相繼推出主打高亮度和智慧功能的全新投影機產品。</a:t>
            </a:r>
          </a:p>
        </p:txBody>
      </p:sp>
      <p:sp>
        <p:nvSpPr>
          <p:cNvPr id="6" name="TextBox 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03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市場與品牌動態</a:t>
            </a:r>
          </a:p>
        </p:txBody>
      </p:sp>
      <p:sp>
        <p:nvSpPr>
          <p:cNvPr id="4" name="Rounded Rectangle 3"/>
          <p:cNvSpPr/>
          <p:nvPr/>
        </p:nvSpPr>
        <p:spPr>
          <a:xfrm>
            <a:off x="548640" y="1600200"/>
            <a:ext cx="3545738" cy="475488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3143402" cy="457200"/>
          </a:xfrm>
          <a:prstGeom prst="rect">
            <a:avLst/>
          </a:prstGeom>
          <a:noFill/>
        </p:spPr>
        <p:txBody>
          <a:bodyPr wrap="square" anchor="t">
            <a:spAutoFit/>
          </a:bodyPr>
          <a:lstStyle/>
          <a:p>
            <a:pPr algn="l"/>
            <a:r>
              <a:rPr sz="1450" b="1">
                <a:solidFill>
                  <a:srgbClr val="4C7EFF"/>
                </a:solidFill>
                <a:latin typeface="Arial"/>
              </a:rPr>
              <a:t>消費品牌跨足文化展演</a:t>
            </a:r>
          </a:p>
        </p:txBody>
      </p:sp>
      <p:sp>
        <p:nvSpPr>
          <p:cNvPr id="6" name="TextBox 5"/>
          <p:cNvSpPr txBox="1"/>
          <p:nvPr/>
        </p:nvSpPr>
        <p:spPr>
          <a:xfrm>
            <a:off x="749808" y="2258568"/>
            <a:ext cx="3143402" cy="3931920"/>
          </a:xfrm>
          <a:prstGeom prst="rect">
            <a:avLst/>
          </a:prstGeom>
          <a:noFill/>
        </p:spPr>
        <p:txBody>
          <a:bodyPr wrap="square">
            <a:spAutoFit/>
          </a:bodyPr>
          <a:lstStyle/>
          <a:p>
            <a:pPr>
              <a:lnSpc>
                <a:spcPct val="120000"/>
              </a:lnSpc>
            </a:pPr>
            <a:r>
              <a:rPr sz="1150">
                <a:solidFill>
                  <a:srgbClr val="F5F3EC"/>
                </a:solidFill>
                <a:latin typeface="Arial"/>
              </a:rPr>
              <a:t>極米科技70台投影設備在成都雙年展196天展期中達成零故障運行，獲成都市美術館感謝函，成功開闢客廳以外的B端藝術展演業務戰場（投影時代）。</a:t>
            </a:r>
          </a:p>
        </p:txBody>
      </p:sp>
      <p:sp>
        <p:nvSpPr>
          <p:cNvPr id="7" name="Rounded Rectangle 6"/>
          <p:cNvSpPr/>
          <p:nvPr/>
        </p:nvSpPr>
        <p:spPr>
          <a:xfrm>
            <a:off x="4322978" y="1600200"/>
            <a:ext cx="3545738" cy="475488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4146" y="1764792"/>
            <a:ext cx="3143402" cy="457200"/>
          </a:xfrm>
          <a:prstGeom prst="rect">
            <a:avLst/>
          </a:prstGeom>
          <a:noFill/>
        </p:spPr>
        <p:txBody>
          <a:bodyPr wrap="square" anchor="t">
            <a:spAutoFit/>
          </a:bodyPr>
          <a:lstStyle/>
          <a:p>
            <a:pPr algn="l"/>
            <a:r>
              <a:rPr sz="1450" b="1">
                <a:solidFill>
                  <a:srgbClr val="FFB454"/>
                </a:solidFill>
                <a:latin typeface="Arial"/>
              </a:rPr>
              <a:t>多款智慧與高階投影機亮相</a:t>
            </a:r>
          </a:p>
        </p:txBody>
      </p:sp>
      <p:sp>
        <p:nvSpPr>
          <p:cNvPr id="9" name="TextBox 8"/>
          <p:cNvSpPr txBox="1"/>
          <p:nvPr/>
        </p:nvSpPr>
        <p:spPr>
          <a:xfrm>
            <a:off x="4524146" y="2258568"/>
            <a:ext cx="3143402" cy="3931920"/>
          </a:xfrm>
          <a:prstGeom prst="rect">
            <a:avLst/>
          </a:prstGeom>
          <a:noFill/>
        </p:spPr>
        <p:txBody>
          <a:bodyPr wrap="square">
            <a:spAutoFit/>
          </a:bodyPr>
          <a:lstStyle/>
          <a:p>
            <a:pPr>
              <a:lnSpc>
                <a:spcPct val="120000"/>
              </a:lnSpc>
            </a:pPr>
            <a:r>
              <a:rPr sz="1150">
                <a:solidFill>
                  <a:srgbClr val="F5F3EC"/>
                </a:solidFill>
                <a:latin typeface="Arial"/>
              </a:rPr>
              <a:t>當貝推出 X9 Max 投影機，主打 4800 CVIA 亮度與 80000:1 動態對比度（IT之家）；soundcore Nebula 發表 4K 解析度與 6000 流明 RGB 雷射光源的 X1S 智慧投影機（ProjectorReviews）；堅果發布業界首款360度全景智能投影儀 MIGO，首發國補售價 1599.3 元（IT之家）；騰訊上架極光投影儀 F5，售價 822 元起（IT之家）。</a:t>
            </a:r>
          </a:p>
        </p:txBody>
      </p:sp>
      <p:sp>
        <p:nvSpPr>
          <p:cNvPr id="10" name="Rounded Rectangle 9"/>
          <p:cNvSpPr/>
          <p:nvPr/>
        </p:nvSpPr>
        <p:spPr>
          <a:xfrm>
            <a:off x="8097316" y="1600200"/>
            <a:ext cx="3545738" cy="4754880"/>
          </a:xfrm>
          <a:prstGeom prst="roundRect">
            <a:avLst>
              <a:gd name="adj" fmla="val 6000"/>
            </a:avLst>
          </a:prstGeom>
          <a:solidFill>
            <a:srgbClr val="23262F"/>
          </a:solidFill>
          <a:ln w="12700">
            <a:solidFill>
              <a:srgbClr val="8B7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8484" y="1764792"/>
            <a:ext cx="3143402" cy="457200"/>
          </a:xfrm>
          <a:prstGeom prst="rect">
            <a:avLst/>
          </a:prstGeom>
          <a:noFill/>
        </p:spPr>
        <p:txBody>
          <a:bodyPr wrap="square" anchor="t">
            <a:spAutoFit/>
          </a:bodyPr>
          <a:lstStyle/>
          <a:p>
            <a:pPr algn="l"/>
            <a:r>
              <a:rPr sz="1450" b="1">
                <a:solidFill>
                  <a:srgbClr val="8B7FD6"/>
                </a:solidFill>
                <a:latin typeface="Arial"/>
              </a:rPr>
              <a:t>大型展場與藝文應用落地</a:t>
            </a:r>
          </a:p>
        </p:txBody>
      </p:sp>
      <p:sp>
        <p:nvSpPr>
          <p:cNvPr id="12" name="TextBox 11"/>
          <p:cNvSpPr txBox="1"/>
          <p:nvPr/>
        </p:nvSpPr>
        <p:spPr>
          <a:xfrm>
            <a:off x="8298484" y="2258568"/>
            <a:ext cx="3143402" cy="3931920"/>
          </a:xfrm>
          <a:prstGeom prst="rect">
            <a:avLst/>
          </a:prstGeom>
          <a:noFill/>
        </p:spPr>
        <p:txBody>
          <a:bodyPr wrap="square">
            <a:spAutoFit/>
          </a:bodyPr>
          <a:lstStyle/>
          <a:p>
            <a:pPr>
              <a:lnSpc>
                <a:spcPct val="120000"/>
              </a:lnSpc>
            </a:pPr>
            <a:r>
              <a:rPr sz="1150">
                <a:solidFill>
                  <a:srgbClr val="F5F3EC"/>
                </a:solidFill>
                <a:latin typeface="Arial"/>
              </a:rPr>
              <a:t>科視上海辦公室演示室完成升級，展出 Eclipse G3 等高階設備（投影時代）；印度加爾各答詞語博物館採用 16 台科視雷射投影機打造互動視覺體驗（投影時代）；波士頓歌劇院與 MASARY 工作室採用 Epson 大型雷射投影機將字幕轉化為動態舞台藝術（Epson官方）。</a:t>
            </a:r>
          </a:p>
        </p:txBody>
      </p:sp>
      <p:sp>
        <p:nvSpPr>
          <p:cNvPr id="13" name="TextBox 12"/>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04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技術與供應鏈</a:t>
            </a:r>
          </a:p>
        </p:txBody>
      </p:sp>
      <p:sp>
        <p:nvSpPr>
          <p:cNvPr id="4" name="Rounded Rectangle 3"/>
          <p:cNvSpPr/>
          <p:nvPr/>
        </p:nvSpPr>
        <p:spPr>
          <a:xfrm>
            <a:off x="548640" y="1600200"/>
            <a:ext cx="11094415" cy="475488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10692079" cy="457200"/>
          </a:xfrm>
          <a:prstGeom prst="rect">
            <a:avLst/>
          </a:prstGeom>
          <a:noFill/>
        </p:spPr>
        <p:txBody>
          <a:bodyPr wrap="square" anchor="t">
            <a:spAutoFit/>
          </a:bodyPr>
          <a:lstStyle/>
          <a:p>
            <a:pPr algn="l"/>
            <a:r>
              <a:rPr sz="1450" b="1">
                <a:solidFill>
                  <a:srgbClr val="4C7EFF"/>
                </a:solidFill>
                <a:latin typeface="Arial"/>
              </a:rPr>
              <a:t>矽光子與光學互連技術</a:t>
            </a:r>
          </a:p>
        </p:txBody>
      </p:sp>
      <p:sp>
        <p:nvSpPr>
          <p:cNvPr id="6" name="TextBox 5"/>
          <p:cNvSpPr txBox="1"/>
          <p:nvPr/>
        </p:nvSpPr>
        <p:spPr>
          <a:xfrm>
            <a:off x="749808" y="2258568"/>
            <a:ext cx="10692079" cy="3931920"/>
          </a:xfrm>
          <a:prstGeom prst="rect">
            <a:avLst/>
          </a:prstGeom>
          <a:noFill/>
        </p:spPr>
        <p:txBody>
          <a:bodyPr wrap="square">
            <a:spAutoFit/>
          </a:bodyPr>
          <a:lstStyle/>
          <a:p>
            <a:pPr>
              <a:lnSpc>
                <a:spcPct val="120000"/>
              </a:lnSpc>
            </a:pPr>
            <a:r>
              <a:rPr sz="1150">
                <a:solidFill>
                  <a:srgbClr val="F5F3EC"/>
                </a:solidFill>
                <a:latin typeface="Arial"/>
              </a:rPr>
              <a:t>矽光子技術發展下，光學模組的生產瓶頸已從下游元件製造端，向上游轉移至雷射級基板的供應（DigiTimes）。同時，面對AI競賽重心轉向資料傳輸與連接技術，鴻騰精密（FIT）正積極擴大光學互連產品的研發與佈局（DigiTimes）。</a:t>
            </a:r>
          </a:p>
        </p:txBody>
      </p:sp>
      <p:sp>
        <p:nvSpPr>
          <p:cNvPr id="7" name="TextBox 6"/>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05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下週關注</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a:solidFill>
                  <a:srgbClr val="F5F3EC"/>
                </a:solidFill>
                <a:latin typeface="Arial"/>
              </a:rPr>
              <a:t>隨著當貝 X9 Max、堅果 MIGO 等新機陸續上市與開售，市場對於高階智慧投影機與具備全景旋轉功能的新型態設備之實際銷售反應與通路表現。</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640080"/>
          </a:xfrm>
          <a:prstGeom prst="rect">
            <a:avLst/>
          </a:prstGeom>
          <a:noFill/>
        </p:spPr>
        <p:txBody>
          <a:bodyPr wrap="square">
            <a:spAutoFit/>
          </a:bodyPr>
          <a:lstStyle/>
          <a:p>
            <a:pPr>
              <a:lnSpc>
                <a:spcPct val="115000"/>
              </a:lnSpc>
            </a:pPr>
            <a:r>
              <a:rPr sz="1450">
                <a:solidFill>
                  <a:srgbClr val="F5F3EC"/>
                </a:solidFill>
                <a:latin typeface="Arial"/>
              </a:rPr>
              <a:t>供應鏈端由矽光子光學模組轉向雷射級基板供應的瓶頸問題，後續對高階雷射投影光源與光通訊相關應用成本及產能的進一步影響。</a:t>
            </a:r>
          </a:p>
        </p:txBody>
      </p:sp>
      <p:sp>
        <p:nvSpPr>
          <p:cNvPr id="8" name="TextBox 7"/>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961120" y="3200400"/>
            <a:ext cx="5486400" cy="5486400"/>
          </a:xfrm>
          <a:prstGeom prst="ellipse">
            <a:avLst/>
          </a:prstGeom>
          <a:solidFill>
            <a:srgbClr val="4C7E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0"/>
            <a:ext cx="9144000" cy="822960"/>
          </a:xfrm>
          <a:prstGeom prst="rect">
            <a:avLst/>
          </a:prstGeom>
          <a:noFill/>
        </p:spPr>
        <p:txBody>
          <a:bodyPr wrap="square" anchor="t">
            <a:spAutoFit/>
          </a:bodyPr>
          <a:lstStyle/>
          <a:p>
            <a:pPr algn="l"/>
            <a:r>
              <a:rPr sz="3000" b="1">
                <a:solidFill>
                  <a:srgbClr val="F5F3EC"/>
                </a:solidFill>
                <a:latin typeface="Arial"/>
              </a:rPr>
              <a:t>投影機情報站</a:t>
            </a:r>
          </a:p>
        </p:txBody>
      </p:sp>
      <p:sp>
        <p:nvSpPr>
          <p:cNvPr id="4" name="TextBox 3"/>
          <p:cNvSpPr txBox="1"/>
          <p:nvPr/>
        </p:nvSpPr>
        <p:spPr>
          <a:xfrm>
            <a:off x="731520" y="3611880"/>
            <a:ext cx="9144000" cy="457200"/>
          </a:xfrm>
          <a:prstGeom prst="rect">
            <a:avLst/>
          </a:prstGeom>
          <a:noFill/>
        </p:spPr>
        <p:txBody>
          <a:bodyPr wrap="square" anchor="t">
            <a:spAutoFit/>
          </a:bodyPr>
          <a:lstStyle/>
          <a:p>
            <a:pPr algn="l"/>
            <a:r>
              <a:rPr sz="1400" b="0">
                <a:solidFill>
                  <a:srgbClr val="9096A1"/>
                </a:solidFill>
                <a:latin typeface="Arial"/>
              </a:rPr>
              <a:t>由本站爬蟲每日追蹤產業動態，AI 自動摘要與分類</a:t>
            </a:r>
          </a:p>
        </p:txBody>
      </p:sp>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