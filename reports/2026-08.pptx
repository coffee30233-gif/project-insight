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500" b="1">
                <a:solidFill>
                  <a:srgbClr val="F5F3EC"/>
                </a:solidFill>
                <a:latin typeface="Arial"/>
              </a:rPr>
              <a:t>2026年上半年重點企業與業務營收成長率 (%)</a:t>
            </a:r>
          </a:p>
        </c:rich>
      </c:tx>
      <c:layout/>
      <c:overlay val="0"/>
    </c:title>
    <c:autoTitleDeleted val="0"/>
    <c:plotArea>
      <c:barChart>
        <c:barDir val="col"/>
        <c:grouping val="clustered"/>
        <c:ser>
          <c:idx val="0"/>
          <c:order val="0"/>
          <c:tx>
            <c:strRef>
              <c:f>Sheet1!$B$1</c:f>
              <c:strCache>
                <c:ptCount val="1"/>
                <c:pt idx="0">
                  <c:v>同比成長率</c:v>
                </c:pt>
              </c:strCache>
            </c:strRef>
          </c:tx>
          <c:spPr>
            <a:solidFill>
              <a:srgbClr val="4C7EFF"/>
            </a:solidFill>
          </c:spPr>
          <c:cat>
            <c:strRef>
              <c:f>Sheet1!$A$2:$A$6</c:f>
              <c:strCache>
                <c:ptCount val="5"/>
                <c:pt idx="0">
                  <c:v>極米海外收入</c:v>
                </c:pt>
                <c:pt idx="1">
                  <c:v>安克創新總營收</c:v>
                </c:pt>
                <c:pt idx="2">
                  <c:v>安克智慧影音業務</c:v>
                </c:pt>
                <c:pt idx="3">
                  <c:v>中光學總營收</c:v>
                </c:pt>
                <c:pt idx="4">
                  <c:v>中光學投影整機業務</c:v>
                </c:pt>
              </c:strCache>
            </c:strRef>
          </c:cat>
          <c:val>
            <c:numRef>
              <c:f>Sheet1!$B$2:$B$6</c:f>
              <c:numCache>
                <c:formatCode>General</c:formatCode>
                <c:ptCount val="5"/>
                <c:pt idx="0">
                  <c:v>87.63</c:v>
                </c:pt>
                <c:pt idx="1">
                  <c:v>29.05</c:v>
                </c:pt>
                <c:pt idx="2">
                  <c:v>24.53</c:v>
                </c:pt>
                <c:pt idx="3">
                  <c:v>6.71</c:v>
                </c:pt>
                <c:pt idx="4">
                  <c:v>-5.72</c:v>
                </c:pt>
              </c:numCache>
            </c:numRef>
          </c:val>
        </c:ser>
        <c:dLbls>
          <c:txPr>
            <a:bodyPr/>
            <a:lstStyle/>
            <a:p>
              <a:pPr>
                <a:defRPr sz="1000">
                  <a:solidFill>
                    <a:srgbClr val="F5F3EC"/>
                  </a:solidFill>
                  <a:latin typeface="Arial"/>
                </a:defRPr>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low"/>
        <c:spPr>
          <a:ln>
            <a:solidFill>
              <a:srgbClr val="2A2E38"/>
            </a:solidFill>
          </a:ln>
        </c:spPr>
        <c:txPr>
          <a:bodyPr/>
          <a:lstStyle/>
          <a:p>
            <a:pPr>
              <a:defRPr sz="1100">
                <a:solidFill>
                  <a:srgbClr val="9096A1"/>
                </a:solidFill>
                <a:latin typeface="Arial"/>
              </a:defRPr>
            </a:pPr>
          </a:p>
        </c:txPr>
        <c:crossAx val="-2113994440"/>
        <c:crosses val="autoZero"/>
        <c:auto val="1"/>
        <c:lblAlgn val="ctr"/>
        <c:lblOffset val="100"/>
        <c:noMultiLvlLbl val="0"/>
      </c:catAx>
      <c:valAx>
        <c:axId val="-2113994440"/>
        <c:scaling/>
        <c:delete val="0"/>
        <c:axPos val="l"/>
        <c:majorGridlines>
          <c:spPr>
            <a:ln>
              <a:solidFill>
                <a:srgbClr val="2A2E38"/>
              </a:solidFill>
            </a:ln>
          </c:spPr>
        </c:majorGridlines>
        <c:majorTickMark val="out"/>
        <c:minorTickMark val="none"/>
        <c:tickLblPos val="nextTo"/>
        <c:spPr>
          <a:ln>
            <a:solidFill>
              <a:srgbClr val="2A2E38"/>
            </a:solidFill>
          </a:ln>
        </c:spPr>
        <c:txPr>
          <a:bodyPr/>
          <a:lstStyle/>
          <a:p>
            <a:pPr>
              <a:defRPr sz="1000">
                <a:solidFill>
                  <a:srgbClr val="9096A1"/>
                </a:solidFill>
              </a:defRPr>
            </a:pPr>
          </a:p>
        </c:txPr>
        <c:crossAx val="-2068027336"/>
        <c:crosses val="autoZero"/>
      </c:valAx>
    </c:plotArea>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161A"/>
        </a:solidFill>
        <a:effectLst/>
      </p:bgPr>
    </p:bg>
    <p:spTree>
      <p:nvGrpSpPr>
        <p:cNvPr id="1" name=""/>
        <p:cNvGrpSpPr/>
        <p:nvPr/>
      </p:nvGrpSpPr>
      <p:grpSpPr/>
      <p:sp>
        <p:nvSpPr>
          <p:cNvPr id="2" name="Oval 1"/>
          <p:cNvSpPr/>
          <p:nvPr/>
        </p:nvSpPr>
        <p:spPr>
          <a:xfrm>
            <a:off x="8503920" y="-2194560"/>
            <a:ext cx="6400800" cy="6400800"/>
          </a:xfrm>
          <a:prstGeom prst="ellipse">
            <a:avLst/>
          </a:prstGeom>
          <a:solidFill>
            <a:srgbClr val="4C7EFF">
              <a:alpha val="1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2377440" y="4206240"/>
            <a:ext cx="5486400" cy="5486400"/>
          </a:xfrm>
          <a:prstGeom prst="ellipse">
            <a:avLst/>
          </a:prstGeom>
          <a:solidFill>
            <a:srgbClr val="FFB454">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965960"/>
            <a:ext cx="9144000" cy="365760"/>
          </a:xfrm>
          <a:prstGeom prst="rect">
            <a:avLst/>
          </a:prstGeom>
          <a:noFill/>
        </p:spPr>
        <p:txBody>
          <a:bodyPr wrap="square" anchor="t">
            <a:spAutoFit/>
          </a:bodyPr>
          <a:lstStyle/>
          <a:p>
            <a:pPr algn="l"/>
            <a:r>
              <a:rPr sz="1300" b="1">
                <a:solidFill>
                  <a:srgbClr val="FFB454"/>
                </a:solidFill>
                <a:latin typeface="Arial"/>
              </a:rPr>
              <a:t>投影機情報站</a:t>
            </a:r>
          </a:p>
        </p:txBody>
      </p:sp>
      <p:sp>
        <p:nvSpPr>
          <p:cNvPr id="5" name="TextBox 4"/>
          <p:cNvSpPr txBox="1"/>
          <p:nvPr/>
        </p:nvSpPr>
        <p:spPr>
          <a:xfrm>
            <a:off x="731520" y="2377440"/>
            <a:ext cx="10241280" cy="1828800"/>
          </a:xfrm>
          <a:prstGeom prst="rect">
            <a:avLst/>
          </a:prstGeom>
          <a:noFill/>
        </p:spPr>
        <p:txBody>
          <a:bodyPr wrap="square" anchor="t">
            <a:spAutoFit/>
          </a:bodyPr>
          <a:lstStyle/>
          <a:p>
            <a:pPr algn="l"/>
            <a:r>
              <a:rPr sz="4000" b="1">
                <a:solidFill>
                  <a:srgbClr val="F5F3EC"/>
                </a:solidFill>
                <a:latin typeface="Arial"/>
              </a:rPr>
              <a:t>2026 年 8 月 投影機產業月報</a:t>
            </a:r>
          </a:p>
        </p:txBody>
      </p:sp>
      <p:sp>
        <p:nvSpPr>
          <p:cNvPr id="6" name="TextBox 5"/>
          <p:cNvSpPr txBox="1"/>
          <p:nvPr/>
        </p:nvSpPr>
        <p:spPr>
          <a:xfrm>
            <a:off x="731520" y="4160520"/>
            <a:ext cx="9601200" cy="457200"/>
          </a:xfrm>
          <a:prstGeom prst="rect">
            <a:avLst/>
          </a:prstGeom>
          <a:noFill/>
        </p:spPr>
        <p:txBody>
          <a:bodyPr wrap="square" anchor="t">
            <a:spAutoFit/>
          </a:bodyPr>
          <a:lstStyle/>
          <a:p>
            <a:pPr algn="l"/>
            <a:r>
              <a:rPr sz="1500" b="0">
                <a:solidFill>
                  <a:srgbClr val="9096A1"/>
                </a:solidFill>
                <a:latin typeface="Arial"/>
              </a:rPr>
              <a:t>投影機產業報告 · 自動產生簡報</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4161A"/>
        </a:solidFill>
        <a:effectLst/>
      </p:bgPr>
    </p:bg>
    <p:spTree>
      <p:nvGrpSpPr>
        <p:cNvPr id="1" name=""/>
        <p:cNvGrpSpPr/>
        <p:nvPr/>
      </p:nvGrpSpPr>
      <p:grpSpPr/>
      <p:sp>
        <p:nvSpPr>
          <p:cNvPr id="2" name="TextBox 1"/>
          <p:cNvSpPr txBox="1"/>
          <p:nvPr/>
        </p:nvSpPr>
        <p:spPr>
          <a:xfrm>
            <a:off x="548640" y="384048"/>
            <a:ext cx="7315200" cy="320040"/>
          </a:xfrm>
          <a:prstGeom prst="rect">
            <a:avLst/>
          </a:prstGeom>
          <a:noFill/>
        </p:spPr>
        <p:txBody>
          <a:bodyPr wrap="square" anchor="t">
            <a:spAutoFit/>
          </a:bodyPr>
          <a:lstStyle/>
          <a:p>
            <a:pPr algn="l"/>
            <a:r>
              <a:rPr sz="1100" b="1">
                <a:solidFill>
                  <a:srgbClr val="FFB454"/>
                </a:solidFill>
                <a:latin typeface="Arial"/>
              </a:rPr>
              <a:t>02 · SECTION　📝</a:t>
            </a:r>
          </a:p>
        </p:txBody>
      </p:sp>
      <p:sp>
        <p:nvSpPr>
          <p:cNvPr id="3" name="TextBox 2"/>
          <p:cNvSpPr txBox="1"/>
          <p:nvPr/>
        </p:nvSpPr>
        <p:spPr>
          <a:xfrm>
            <a:off x="548640" y="713232"/>
            <a:ext cx="10972800" cy="685800"/>
          </a:xfrm>
          <a:prstGeom prst="rect">
            <a:avLst/>
          </a:prstGeom>
          <a:noFill/>
        </p:spPr>
        <p:txBody>
          <a:bodyPr wrap="square" anchor="t">
            <a:spAutoFit/>
          </a:bodyPr>
          <a:lstStyle/>
          <a:p>
            <a:pPr algn="l"/>
            <a:r>
              <a:rPr sz="2600" b="1">
                <a:solidFill>
                  <a:srgbClr val="F5F3EC"/>
                </a:solidFill>
                <a:latin typeface="Arial"/>
              </a:rPr>
              <a:t>一、本月摘要</a:t>
            </a:r>
          </a:p>
        </p:txBody>
      </p:sp>
      <p:sp>
        <p:nvSpPr>
          <p:cNvPr id="4" name="Oval 3"/>
          <p:cNvSpPr/>
          <p:nvPr/>
        </p:nvSpPr>
        <p:spPr>
          <a:xfrm>
            <a:off x="594360" y="1728216"/>
            <a:ext cx="100584" cy="100584"/>
          </a:xfrm>
          <a:prstGeom prst="ellipse">
            <a:avLst/>
          </a:prstGeom>
          <a:solidFill>
            <a:srgbClr val="4C7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600200"/>
            <a:ext cx="10698480" cy="1591056"/>
          </a:xfrm>
          <a:prstGeom prst="rect">
            <a:avLst/>
          </a:prstGeom>
          <a:noFill/>
        </p:spPr>
        <p:txBody>
          <a:bodyPr wrap="square">
            <a:spAutoFit/>
          </a:bodyPr>
          <a:lstStyle/>
          <a:p>
            <a:pPr>
              <a:lnSpc>
                <a:spcPct val="115000"/>
              </a:lnSpc>
            </a:pPr>
            <a:r>
              <a:rPr sz="1450">
                <a:solidFill>
                  <a:srgbClr val="F5F3EC"/>
                </a:solidFill>
                <a:latin typeface="Arial"/>
              </a:rPr>
              <a:t>2026 年 8 月全球與中國投影機市場呈現「外熱內冷」的分化格局，中國國內市場受政策退潮與價格內卷影響上半年銷量大跌 26%，但海外市場在品牌出海推動下增長強勁，帶動極米海外營收年增達 87.63%（投影時代）。產品與技術層面，三色雷射與雲台設計迅速下沉至兩千元人民幣級入門市場與戶外機種，巴可則發表極致 3DLP RGB 純雷射旗艦震撼高端沉浸式文旅領域（IT之家、ZNDS投影頻道、投影時代）。此外，光學與投影供應鏈業者正加速轉型 AI 資料中心光學互連及車載光學領域，尋求第二成長曲線（DigiTimes、投影時代）。</a:t>
            </a:r>
          </a:p>
        </p:txBody>
      </p:sp>
      <p:sp>
        <p:nvSpPr>
          <p:cNvPr id="6" name="TextBox 5"/>
          <p:cNvSpPr txBox="1"/>
          <p:nvPr/>
        </p:nvSpPr>
        <p:spPr>
          <a:xfrm>
            <a:off x="11430000" y="6446520"/>
            <a:ext cx="548640" cy="274320"/>
          </a:xfrm>
          <a:prstGeom prst="rect">
            <a:avLst/>
          </a:prstGeom>
          <a:noFill/>
        </p:spPr>
        <p:txBody>
          <a:bodyPr wrap="square" anchor="t">
            <a:spAutoFit/>
          </a:bodyPr>
          <a:lstStyle/>
          <a:p>
            <a:pPr algn="r"/>
            <a:r>
              <a:rPr sz="1000" b="0">
                <a:solidFill>
                  <a:srgbClr val="9096A1"/>
                </a:solidFill>
                <a:latin typeface="Arial"/>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4161A"/>
        </a:solidFill>
        <a:effectLst/>
      </p:bgPr>
    </p:bg>
    <p:spTree>
      <p:nvGrpSpPr>
        <p:cNvPr id="1" name=""/>
        <p:cNvGrpSpPr/>
        <p:nvPr/>
      </p:nvGrpSpPr>
      <p:grpSpPr/>
      <p:sp>
        <p:nvSpPr>
          <p:cNvPr id="2" name="TextBox 1"/>
          <p:cNvSpPr txBox="1"/>
          <p:nvPr/>
        </p:nvSpPr>
        <p:spPr>
          <a:xfrm>
            <a:off x="548640" y="384048"/>
            <a:ext cx="7315200" cy="320040"/>
          </a:xfrm>
          <a:prstGeom prst="rect">
            <a:avLst/>
          </a:prstGeom>
          <a:noFill/>
        </p:spPr>
        <p:txBody>
          <a:bodyPr wrap="square" anchor="t">
            <a:spAutoFit/>
          </a:bodyPr>
          <a:lstStyle/>
          <a:p>
            <a:pPr algn="l"/>
            <a:r>
              <a:rPr sz="1100" b="1">
                <a:solidFill>
                  <a:srgbClr val="FFB454"/>
                </a:solidFill>
                <a:latin typeface="Arial"/>
              </a:rPr>
              <a:t>03 · SECTION　📊</a:t>
            </a:r>
          </a:p>
        </p:txBody>
      </p:sp>
      <p:sp>
        <p:nvSpPr>
          <p:cNvPr id="3" name="TextBox 2"/>
          <p:cNvSpPr txBox="1"/>
          <p:nvPr/>
        </p:nvSpPr>
        <p:spPr>
          <a:xfrm>
            <a:off x="548640" y="713232"/>
            <a:ext cx="10972800" cy="685800"/>
          </a:xfrm>
          <a:prstGeom prst="rect">
            <a:avLst/>
          </a:prstGeom>
          <a:noFill/>
        </p:spPr>
        <p:txBody>
          <a:bodyPr wrap="square" anchor="t">
            <a:spAutoFit/>
          </a:bodyPr>
          <a:lstStyle/>
          <a:p>
            <a:pPr algn="l"/>
            <a:r>
              <a:rPr sz="2600" b="1">
                <a:solidFill>
                  <a:srgbClr val="F5F3EC"/>
                </a:solidFill>
                <a:latin typeface="Arial"/>
              </a:rPr>
              <a:t>二、市場數據</a:t>
            </a:r>
          </a:p>
        </p:txBody>
      </p:sp>
      <p:graphicFrame>
        <p:nvGraphicFramePr>
          <p:cNvPr id="4" name="Chart 3"/>
          <p:cNvGraphicFramePr>
            <a:graphicFrameLocks noGrp="1"/>
          </p:cNvGraphicFramePr>
          <p:nvPr/>
        </p:nvGraphicFramePr>
        <p:xfrm>
          <a:off x="731520" y="1554480"/>
          <a:ext cx="10698480" cy="4754880"/>
        </p:xfrm>
        <a:graphic>
          <a:graphicData uri="http://schemas.openxmlformats.org/drawingml/2006/chart">
            <c:chart xmlns:c="http://schemas.openxmlformats.org/drawingml/2006/chart" r:id="rId2"/>
          </a:graphicData>
        </a:graphic>
      </p:graphicFrame>
      <p:sp>
        <p:nvSpPr>
          <p:cNvPr id="5" name="TextBox 4"/>
          <p:cNvSpPr txBox="1"/>
          <p:nvPr/>
        </p:nvSpPr>
        <p:spPr>
          <a:xfrm>
            <a:off x="11430000" y="6446520"/>
            <a:ext cx="548640" cy="274320"/>
          </a:xfrm>
          <a:prstGeom prst="rect">
            <a:avLst/>
          </a:prstGeom>
          <a:noFill/>
        </p:spPr>
        <p:txBody>
          <a:bodyPr wrap="square" anchor="t">
            <a:spAutoFit/>
          </a:bodyPr>
          <a:lstStyle/>
          <a:p>
            <a:pPr algn="r"/>
            <a:r>
              <a:rPr sz="1000" b="0">
                <a:solidFill>
                  <a:srgbClr val="9096A1"/>
                </a:solidFill>
                <a:latin typeface="Arial"/>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4161A"/>
        </a:solidFill>
        <a:effectLst/>
      </p:bgPr>
    </p:bg>
    <p:spTree>
      <p:nvGrpSpPr>
        <p:cNvPr id="1" name=""/>
        <p:cNvGrpSpPr/>
        <p:nvPr/>
      </p:nvGrpSpPr>
      <p:grpSpPr/>
      <p:sp>
        <p:nvSpPr>
          <p:cNvPr id="2" name="TextBox 1"/>
          <p:cNvSpPr txBox="1"/>
          <p:nvPr/>
        </p:nvSpPr>
        <p:spPr>
          <a:xfrm>
            <a:off x="548640" y="384048"/>
            <a:ext cx="7315200" cy="320040"/>
          </a:xfrm>
          <a:prstGeom prst="rect">
            <a:avLst/>
          </a:prstGeom>
          <a:noFill/>
        </p:spPr>
        <p:txBody>
          <a:bodyPr wrap="square" anchor="t">
            <a:spAutoFit/>
          </a:bodyPr>
          <a:lstStyle/>
          <a:p>
            <a:pPr algn="l"/>
            <a:r>
              <a:rPr sz="1100" b="1">
                <a:solidFill>
                  <a:srgbClr val="FFB454"/>
                </a:solidFill>
                <a:latin typeface="Arial"/>
              </a:rPr>
              <a:t>04 · SECTION　📊</a:t>
            </a:r>
          </a:p>
        </p:txBody>
      </p:sp>
      <p:sp>
        <p:nvSpPr>
          <p:cNvPr id="3" name="TextBox 2"/>
          <p:cNvSpPr txBox="1"/>
          <p:nvPr/>
        </p:nvSpPr>
        <p:spPr>
          <a:xfrm>
            <a:off x="548640" y="713232"/>
            <a:ext cx="10972800" cy="685800"/>
          </a:xfrm>
          <a:prstGeom prst="rect">
            <a:avLst/>
          </a:prstGeom>
          <a:noFill/>
        </p:spPr>
        <p:txBody>
          <a:bodyPr wrap="square" anchor="t">
            <a:spAutoFit/>
          </a:bodyPr>
          <a:lstStyle/>
          <a:p>
            <a:pPr algn="l"/>
            <a:r>
              <a:rPr sz="2600" b="1">
                <a:solidFill>
                  <a:srgbClr val="F5F3EC"/>
                </a:solidFill>
                <a:latin typeface="Arial"/>
              </a:rPr>
              <a:t>二、市場數據</a:t>
            </a:r>
          </a:p>
        </p:txBody>
      </p:sp>
      <p:sp>
        <p:nvSpPr>
          <p:cNvPr id="4" name="Rounded Rectangle 3"/>
          <p:cNvSpPr/>
          <p:nvPr/>
        </p:nvSpPr>
        <p:spPr>
          <a:xfrm>
            <a:off x="548640" y="1600200"/>
            <a:ext cx="2602153" cy="4754880"/>
          </a:xfrm>
          <a:prstGeom prst="roundRect">
            <a:avLst>
              <a:gd name="adj" fmla="val 6000"/>
            </a:avLst>
          </a:prstGeom>
          <a:solidFill>
            <a:srgbClr val="23262F"/>
          </a:solidFill>
          <a:ln w="12700">
            <a:solidFill>
              <a:srgbClr val="4C7E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9808" y="1764792"/>
            <a:ext cx="2199817" cy="457200"/>
          </a:xfrm>
          <a:prstGeom prst="rect">
            <a:avLst/>
          </a:prstGeom>
          <a:noFill/>
        </p:spPr>
        <p:txBody>
          <a:bodyPr wrap="square" anchor="t">
            <a:spAutoFit/>
          </a:bodyPr>
          <a:lstStyle/>
          <a:p>
            <a:pPr algn="l"/>
            <a:r>
              <a:rPr sz="1700" b="1">
                <a:solidFill>
                  <a:srgbClr val="4C7EFF"/>
                </a:solidFill>
                <a:latin typeface="Arial"/>
              </a:rPr>
              <a:t>全球與中國投影機市場</a:t>
            </a:r>
          </a:p>
        </p:txBody>
      </p:sp>
      <p:sp>
        <p:nvSpPr>
          <p:cNvPr id="6" name="TextBox 5"/>
          <p:cNvSpPr txBox="1"/>
          <p:nvPr/>
        </p:nvSpPr>
        <p:spPr>
          <a:xfrm>
            <a:off x="749808" y="2258568"/>
            <a:ext cx="2199817" cy="3931920"/>
          </a:xfrm>
          <a:prstGeom prst="rect">
            <a:avLst/>
          </a:prstGeom>
          <a:noFill/>
        </p:spPr>
        <p:txBody>
          <a:bodyPr wrap="square">
            <a:spAutoFit/>
          </a:bodyPr>
          <a:lstStyle/>
          <a:p>
            <a:pPr>
              <a:lnSpc>
                <a:spcPct val="120000"/>
              </a:lnSpc>
            </a:pPr>
            <a:r>
              <a:rPr sz="1350">
                <a:solidFill>
                  <a:srgbClr val="F5F3EC"/>
                </a:solidFill>
                <a:latin typeface="Arial"/>
              </a:rPr>
              <a:t>2026 上半年中國國內銷量同比大跌 26%，主因政策退潮、需求飽和與低價內卷；海外市場則在極米、當貝與光峰推動下逆勢成長，其中極米海外收入大幅年增 87.63%，帶動整體毛利率提升至 39%（投影時代）。</a:t>
            </a:r>
          </a:p>
        </p:txBody>
      </p:sp>
      <p:sp>
        <p:nvSpPr>
          <p:cNvPr id="7" name="Rounded Rectangle 6"/>
          <p:cNvSpPr/>
          <p:nvPr/>
        </p:nvSpPr>
        <p:spPr>
          <a:xfrm>
            <a:off x="3379393" y="1600200"/>
            <a:ext cx="2602153" cy="4754880"/>
          </a:xfrm>
          <a:prstGeom prst="roundRect">
            <a:avLst>
              <a:gd name="adj" fmla="val 6000"/>
            </a:avLst>
          </a:prstGeom>
          <a:solidFill>
            <a:srgbClr val="23262F"/>
          </a:solidFill>
          <a:ln w="12700">
            <a:solidFill>
              <a:srgbClr val="FFB4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580561" y="1764792"/>
            <a:ext cx="2199817" cy="457200"/>
          </a:xfrm>
          <a:prstGeom prst="rect">
            <a:avLst/>
          </a:prstGeom>
          <a:noFill/>
        </p:spPr>
        <p:txBody>
          <a:bodyPr wrap="square" anchor="t">
            <a:spAutoFit/>
          </a:bodyPr>
          <a:lstStyle/>
          <a:p>
            <a:pPr algn="l"/>
            <a:r>
              <a:rPr sz="1700" b="1">
                <a:solidFill>
                  <a:srgbClr val="FFB454"/>
                </a:solidFill>
                <a:latin typeface="Arial"/>
              </a:rPr>
              <a:t>安克創新</a:t>
            </a:r>
          </a:p>
        </p:txBody>
      </p:sp>
      <p:sp>
        <p:nvSpPr>
          <p:cNvPr id="9" name="TextBox 8"/>
          <p:cNvSpPr txBox="1"/>
          <p:nvPr/>
        </p:nvSpPr>
        <p:spPr>
          <a:xfrm>
            <a:off x="3580561" y="2258568"/>
            <a:ext cx="2199817" cy="3931920"/>
          </a:xfrm>
          <a:prstGeom prst="rect">
            <a:avLst/>
          </a:prstGeom>
          <a:noFill/>
        </p:spPr>
        <p:txBody>
          <a:bodyPr wrap="square">
            <a:spAutoFit/>
          </a:bodyPr>
          <a:lstStyle/>
          <a:p>
            <a:pPr>
              <a:lnSpc>
                <a:spcPct val="120000"/>
              </a:lnSpc>
            </a:pPr>
            <a:r>
              <a:rPr sz="1350">
                <a:solidFill>
                  <a:srgbClr val="F5F3EC"/>
                </a:solidFill>
                <a:latin typeface="Arial"/>
              </a:rPr>
              <a:t>2026 年上半年總營收達 166.05 億元人民幣（年增 29.05%），其中包含 Nebula 投影機的「智能影音」板塊營收達 34.85 億元人民幣（年增 24.53%）（投影時代）。</a:t>
            </a:r>
          </a:p>
        </p:txBody>
      </p:sp>
      <p:sp>
        <p:nvSpPr>
          <p:cNvPr id="10" name="Rounded Rectangle 9"/>
          <p:cNvSpPr/>
          <p:nvPr/>
        </p:nvSpPr>
        <p:spPr>
          <a:xfrm>
            <a:off x="6210147" y="1600200"/>
            <a:ext cx="2602153" cy="4754880"/>
          </a:xfrm>
          <a:prstGeom prst="roundRect">
            <a:avLst>
              <a:gd name="adj" fmla="val 6000"/>
            </a:avLst>
          </a:prstGeom>
          <a:solidFill>
            <a:srgbClr val="23262F"/>
          </a:solidFill>
          <a:ln w="12700">
            <a:solidFill>
              <a:srgbClr val="8B7F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11315" y="1764792"/>
            <a:ext cx="2199817" cy="457200"/>
          </a:xfrm>
          <a:prstGeom prst="rect">
            <a:avLst/>
          </a:prstGeom>
          <a:noFill/>
        </p:spPr>
        <p:txBody>
          <a:bodyPr wrap="square" anchor="t">
            <a:spAutoFit/>
          </a:bodyPr>
          <a:lstStyle/>
          <a:p>
            <a:pPr algn="l"/>
            <a:r>
              <a:rPr sz="1700" b="1">
                <a:solidFill>
                  <a:srgbClr val="8B7FD6"/>
                </a:solidFill>
                <a:latin typeface="Arial"/>
              </a:rPr>
              <a:t>中光學</a:t>
            </a:r>
          </a:p>
        </p:txBody>
      </p:sp>
      <p:sp>
        <p:nvSpPr>
          <p:cNvPr id="12" name="TextBox 11"/>
          <p:cNvSpPr txBox="1"/>
          <p:nvPr/>
        </p:nvSpPr>
        <p:spPr>
          <a:xfrm>
            <a:off x="6411315" y="2258568"/>
            <a:ext cx="2199817" cy="3931920"/>
          </a:xfrm>
          <a:prstGeom prst="rect">
            <a:avLst/>
          </a:prstGeom>
          <a:noFill/>
        </p:spPr>
        <p:txBody>
          <a:bodyPr wrap="square">
            <a:spAutoFit/>
          </a:bodyPr>
          <a:lstStyle/>
          <a:p>
            <a:pPr>
              <a:lnSpc>
                <a:spcPct val="120000"/>
              </a:lnSpc>
            </a:pPr>
            <a:r>
              <a:rPr sz="1350">
                <a:solidFill>
                  <a:srgbClr val="F5F3EC"/>
                </a:solidFill>
                <a:latin typeface="Arial"/>
              </a:rPr>
              <a:t>2026 年上半年營收 7.25 億元人民幣（年增 6.71%），淨虧損同比縮減 39.95%，其中光學元組件營收成長 19.28% 至 3.39 億元，但投影機整機及配件營收下降 5.72% 至 1.18 億元（投影時代）。</a:t>
            </a:r>
          </a:p>
        </p:txBody>
      </p:sp>
      <p:sp>
        <p:nvSpPr>
          <p:cNvPr id="13" name="Rounded Rectangle 12"/>
          <p:cNvSpPr/>
          <p:nvPr/>
        </p:nvSpPr>
        <p:spPr>
          <a:xfrm>
            <a:off x="9040901" y="1600200"/>
            <a:ext cx="2602153" cy="4754880"/>
          </a:xfrm>
          <a:prstGeom prst="roundRect">
            <a:avLst>
              <a:gd name="adj" fmla="val 6000"/>
            </a:avLst>
          </a:prstGeom>
          <a:solidFill>
            <a:srgbClr val="23262F"/>
          </a:solidFill>
          <a:ln w="12700">
            <a:solidFill>
              <a:srgbClr val="6FCF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242069" y="1764792"/>
            <a:ext cx="2199817" cy="457200"/>
          </a:xfrm>
          <a:prstGeom prst="rect">
            <a:avLst/>
          </a:prstGeom>
          <a:noFill/>
        </p:spPr>
        <p:txBody>
          <a:bodyPr wrap="square" anchor="t">
            <a:spAutoFit/>
          </a:bodyPr>
          <a:lstStyle/>
          <a:p>
            <a:pPr algn="l"/>
            <a:r>
              <a:rPr sz="1700" b="1">
                <a:solidFill>
                  <a:srgbClr val="6FCF97"/>
                </a:solidFill>
                <a:latin typeface="Arial"/>
              </a:rPr>
              <a:t>通路促銷市場</a:t>
            </a:r>
          </a:p>
        </p:txBody>
      </p:sp>
      <p:sp>
        <p:nvSpPr>
          <p:cNvPr id="15" name="TextBox 14"/>
          <p:cNvSpPr txBox="1"/>
          <p:nvPr/>
        </p:nvSpPr>
        <p:spPr>
          <a:xfrm>
            <a:off x="9242069" y="2258568"/>
            <a:ext cx="2199817" cy="3931920"/>
          </a:xfrm>
          <a:prstGeom prst="rect">
            <a:avLst/>
          </a:prstGeom>
          <a:noFill/>
        </p:spPr>
        <p:txBody>
          <a:bodyPr wrap="square">
            <a:spAutoFit/>
          </a:bodyPr>
          <a:lstStyle/>
          <a:p>
            <a:pPr>
              <a:lnSpc>
                <a:spcPct val="120000"/>
              </a:lnSpc>
            </a:pPr>
            <a:r>
              <a:rPr sz="1350">
                <a:solidFill>
                  <a:srgbClr val="F5F3EC"/>
                </a:solidFill>
                <a:latin typeface="Arial"/>
              </a:rPr>
              <a:t>愛普生、明基、松下、索尼、奧圖碼與易仁科技等多個品牌在北京等區域通路展開常規價格促銷，覆蓋千元家用機至幾十萬元級工程投影機（ZOL投影機頻道）。</a:t>
            </a:r>
          </a:p>
        </p:txBody>
      </p:sp>
      <p:sp>
        <p:nvSpPr>
          <p:cNvPr id="16" name="TextBox 15"/>
          <p:cNvSpPr txBox="1"/>
          <p:nvPr/>
        </p:nvSpPr>
        <p:spPr>
          <a:xfrm>
            <a:off x="11430000" y="6446520"/>
            <a:ext cx="548640" cy="274320"/>
          </a:xfrm>
          <a:prstGeom prst="rect">
            <a:avLst/>
          </a:prstGeom>
          <a:noFill/>
        </p:spPr>
        <p:txBody>
          <a:bodyPr wrap="square" anchor="t">
            <a:spAutoFit/>
          </a:bodyPr>
          <a:lstStyle/>
          <a:p>
            <a:pPr algn="r"/>
            <a:r>
              <a:rPr sz="1000" b="0">
                <a:solidFill>
                  <a:srgbClr val="9096A1"/>
                </a:solidFill>
                <a:latin typeface="Arial"/>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4161A"/>
        </a:solidFill>
        <a:effectLst/>
      </p:bgPr>
    </p:bg>
    <p:spTree>
      <p:nvGrpSpPr>
        <p:cNvPr id="1" name=""/>
        <p:cNvGrpSpPr/>
        <p:nvPr/>
      </p:nvGrpSpPr>
      <p:grpSpPr/>
      <p:sp>
        <p:nvSpPr>
          <p:cNvPr id="2" name="TextBox 1"/>
          <p:cNvSpPr txBox="1"/>
          <p:nvPr/>
        </p:nvSpPr>
        <p:spPr>
          <a:xfrm>
            <a:off x="548640" y="384048"/>
            <a:ext cx="7315200" cy="320040"/>
          </a:xfrm>
          <a:prstGeom prst="rect">
            <a:avLst/>
          </a:prstGeom>
          <a:noFill/>
        </p:spPr>
        <p:txBody>
          <a:bodyPr wrap="square" anchor="t">
            <a:spAutoFit/>
          </a:bodyPr>
          <a:lstStyle/>
          <a:p>
            <a:pPr algn="l"/>
            <a:r>
              <a:rPr sz="1100" b="1">
                <a:solidFill>
                  <a:srgbClr val="FFB454"/>
                </a:solidFill>
                <a:latin typeface="Arial"/>
              </a:rPr>
              <a:t>05 · SECTION　✨</a:t>
            </a:r>
          </a:p>
        </p:txBody>
      </p:sp>
      <p:sp>
        <p:nvSpPr>
          <p:cNvPr id="3" name="TextBox 2"/>
          <p:cNvSpPr txBox="1"/>
          <p:nvPr/>
        </p:nvSpPr>
        <p:spPr>
          <a:xfrm>
            <a:off x="548640" y="713232"/>
            <a:ext cx="10972800" cy="685800"/>
          </a:xfrm>
          <a:prstGeom prst="rect">
            <a:avLst/>
          </a:prstGeom>
          <a:noFill/>
        </p:spPr>
        <p:txBody>
          <a:bodyPr wrap="square" anchor="t">
            <a:spAutoFit/>
          </a:bodyPr>
          <a:lstStyle/>
          <a:p>
            <a:pPr algn="l"/>
            <a:r>
              <a:rPr sz="2600" b="1">
                <a:solidFill>
                  <a:srgbClr val="F5F3EC"/>
                </a:solidFill>
                <a:latin typeface="Arial"/>
              </a:rPr>
              <a:t>三、新品與品牌動態（1/2）</a:t>
            </a:r>
          </a:p>
        </p:txBody>
      </p:sp>
      <p:sp>
        <p:nvSpPr>
          <p:cNvPr id="4" name="Rounded Rectangle 3"/>
          <p:cNvSpPr/>
          <p:nvPr/>
        </p:nvSpPr>
        <p:spPr>
          <a:xfrm>
            <a:off x="548640" y="1600200"/>
            <a:ext cx="3545738" cy="2263140"/>
          </a:xfrm>
          <a:prstGeom prst="roundRect">
            <a:avLst>
              <a:gd name="adj" fmla="val 6000"/>
            </a:avLst>
          </a:prstGeom>
          <a:solidFill>
            <a:srgbClr val="23262F"/>
          </a:solidFill>
          <a:ln w="12700">
            <a:solidFill>
              <a:srgbClr val="4C7E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9808" y="1764792"/>
            <a:ext cx="3143402" cy="457200"/>
          </a:xfrm>
          <a:prstGeom prst="rect">
            <a:avLst/>
          </a:prstGeom>
          <a:noFill/>
        </p:spPr>
        <p:txBody>
          <a:bodyPr wrap="square" anchor="t">
            <a:spAutoFit/>
          </a:bodyPr>
          <a:lstStyle/>
          <a:p>
            <a:pPr algn="l"/>
            <a:r>
              <a:rPr sz="1600" b="1">
                <a:solidFill>
                  <a:srgbClr val="4C7EFF"/>
                </a:solidFill>
                <a:latin typeface="Arial"/>
              </a:rPr>
              <a:t>巴可（Barco）</a:t>
            </a:r>
          </a:p>
        </p:txBody>
      </p:sp>
      <p:sp>
        <p:nvSpPr>
          <p:cNvPr id="6" name="TextBox 5"/>
          <p:cNvSpPr txBox="1"/>
          <p:nvPr/>
        </p:nvSpPr>
        <p:spPr>
          <a:xfrm>
            <a:off x="749808" y="2258568"/>
            <a:ext cx="3143402" cy="1440180"/>
          </a:xfrm>
          <a:prstGeom prst="rect">
            <a:avLst/>
          </a:prstGeom>
          <a:noFill/>
        </p:spPr>
        <p:txBody>
          <a:bodyPr wrap="square">
            <a:spAutoFit/>
          </a:bodyPr>
          <a:lstStyle/>
          <a:p>
            <a:pPr>
              <a:lnSpc>
                <a:spcPct val="120000"/>
              </a:lnSpc>
            </a:pPr>
            <a:r>
              <a:rPr sz="1300">
                <a:solidFill>
                  <a:srgbClr val="F5F3EC"/>
                </a:solidFill>
                <a:latin typeface="Arial"/>
              </a:rPr>
              <a:t>發表 QDX-N4K RGB 純激光 3DLP 旗艦工程投影機，搭載 0.98 吋原生 4K DMD，支援 100% Rec.2020 色域與 4K@120Hz 低延遲，專攻主題公園與沉浸式文旅市場（投影時代）。</a:t>
            </a:r>
          </a:p>
        </p:txBody>
      </p:sp>
      <p:sp>
        <p:nvSpPr>
          <p:cNvPr id="7" name="Rounded Rectangle 6"/>
          <p:cNvSpPr/>
          <p:nvPr/>
        </p:nvSpPr>
        <p:spPr>
          <a:xfrm>
            <a:off x="4322978" y="1600200"/>
            <a:ext cx="3545738" cy="2263140"/>
          </a:xfrm>
          <a:prstGeom prst="roundRect">
            <a:avLst>
              <a:gd name="adj" fmla="val 6000"/>
            </a:avLst>
          </a:prstGeom>
          <a:solidFill>
            <a:srgbClr val="23262F"/>
          </a:solidFill>
          <a:ln w="12700">
            <a:solidFill>
              <a:srgbClr val="FFB4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24146" y="1764792"/>
            <a:ext cx="3143402" cy="457200"/>
          </a:xfrm>
          <a:prstGeom prst="rect">
            <a:avLst/>
          </a:prstGeom>
          <a:noFill/>
        </p:spPr>
        <p:txBody>
          <a:bodyPr wrap="square" anchor="t">
            <a:spAutoFit/>
          </a:bodyPr>
          <a:lstStyle/>
          <a:p>
            <a:pPr algn="l"/>
            <a:r>
              <a:rPr sz="1600" b="1">
                <a:solidFill>
                  <a:srgbClr val="FFB454"/>
                </a:solidFill>
                <a:latin typeface="Arial"/>
              </a:rPr>
              <a:t>海信</a:t>
            </a:r>
          </a:p>
        </p:txBody>
      </p:sp>
      <p:sp>
        <p:nvSpPr>
          <p:cNvPr id="9" name="TextBox 8"/>
          <p:cNvSpPr txBox="1"/>
          <p:nvPr/>
        </p:nvSpPr>
        <p:spPr>
          <a:xfrm>
            <a:off x="4524146" y="2258568"/>
            <a:ext cx="3143402" cy="1440180"/>
          </a:xfrm>
          <a:prstGeom prst="rect">
            <a:avLst/>
          </a:prstGeom>
          <a:noFill/>
        </p:spPr>
        <p:txBody>
          <a:bodyPr wrap="square">
            <a:spAutoFit/>
          </a:bodyPr>
          <a:lstStyle/>
          <a:p>
            <a:pPr>
              <a:lnSpc>
                <a:spcPct val="120000"/>
              </a:lnSpc>
            </a:pPr>
            <a:r>
              <a:rPr sz="1300">
                <a:solidFill>
                  <a:srgbClr val="F5F3EC"/>
                </a:solidFill>
                <a:latin typeface="Arial"/>
              </a:rPr>
              <a:t>發布新一代「星光 S2 Pro」雷射電視，提供 80、88 與 100 吋，採用三色雷射光源、菲涅爾無源抗光屏與哈曼卡頓全景聲音響，售價 11,999 元人民幣起（投影時代）。</a:t>
            </a:r>
          </a:p>
        </p:txBody>
      </p:sp>
      <p:sp>
        <p:nvSpPr>
          <p:cNvPr id="10" name="Rounded Rectangle 9"/>
          <p:cNvSpPr/>
          <p:nvPr/>
        </p:nvSpPr>
        <p:spPr>
          <a:xfrm>
            <a:off x="8097316" y="1600200"/>
            <a:ext cx="3545738" cy="2263140"/>
          </a:xfrm>
          <a:prstGeom prst="roundRect">
            <a:avLst>
              <a:gd name="adj" fmla="val 6000"/>
            </a:avLst>
          </a:prstGeom>
          <a:solidFill>
            <a:srgbClr val="23262F"/>
          </a:solidFill>
          <a:ln w="12700">
            <a:solidFill>
              <a:srgbClr val="8B7F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98484" y="1764792"/>
            <a:ext cx="3143402" cy="457200"/>
          </a:xfrm>
          <a:prstGeom prst="rect">
            <a:avLst/>
          </a:prstGeom>
          <a:noFill/>
        </p:spPr>
        <p:txBody>
          <a:bodyPr wrap="square" anchor="t">
            <a:spAutoFit/>
          </a:bodyPr>
          <a:lstStyle/>
          <a:p>
            <a:pPr algn="l"/>
            <a:r>
              <a:rPr sz="1600" b="1">
                <a:solidFill>
                  <a:srgbClr val="8B7FD6"/>
                </a:solidFill>
                <a:latin typeface="Arial"/>
              </a:rPr>
              <a:t>當貝</a:t>
            </a:r>
          </a:p>
        </p:txBody>
      </p:sp>
      <p:sp>
        <p:nvSpPr>
          <p:cNvPr id="12" name="TextBox 11"/>
          <p:cNvSpPr txBox="1"/>
          <p:nvPr/>
        </p:nvSpPr>
        <p:spPr>
          <a:xfrm>
            <a:off x="8298484" y="2258568"/>
            <a:ext cx="3143402" cy="1440180"/>
          </a:xfrm>
          <a:prstGeom prst="rect">
            <a:avLst/>
          </a:prstGeom>
          <a:noFill/>
        </p:spPr>
        <p:txBody>
          <a:bodyPr wrap="square">
            <a:spAutoFit/>
          </a:bodyPr>
          <a:lstStyle/>
          <a:p>
            <a:pPr>
              <a:lnSpc>
                <a:spcPct val="120000"/>
              </a:lnSpc>
            </a:pPr>
            <a:r>
              <a:rPr sz="1300">
                <a:solidFill>
                  <a:srgbClr val="F5F3EC"/>
                </a:solidFill>
                <a:latin typeface="Arial"/>
              </a:rPr>
              <a:t>推出雲台雷射機種 RX10（1200 CVIA 流明，售價 5499 元人民幣）與 D7X（將三色雷射下沉至兩千元人民幣級），並同步布局旗艦 X7 Max 與 X7 Ultra，展現全價位普及決心（IT之家、ZNDS投影頻道）。</a:t>
            </a:r>
          </a:p>
        </p:txBody>
      </p:sp>
      <p:sp>
        <p:nvSpPr>
          <p:cNvPr id="13" name="Rounded Rectangle 12"/>
          <p:cNvSpPr/>
          <p:nvPr/>
        </p:nvSpPr>
        <p:spPr>
          <a:xfrm>
            <a:off x="548640" y="4091939"/>
            <a:ext cx="3545738" cy="2263140"/>
          </a:xfrm>
          <a:prstGeom prst="roundRect">
            <a:avLst>
              <a:gd name="adj" fmla="val 6000"/>
            </a:avLst>
          </a:prstGeom>
          <a:solidFill>
            <a:srgbClr val="23262F"/>
          </a:solidFill>
          <a:ln w="12700">
            <a:solidFill>
              <a:srgbClr val="6FCF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9808" y="4256531"/>
            <a:ext cx="3143402" cy="457200"/>
          </a:xfrm>
          <a:prstGeom prst="rect">
            <a:avLst/>
          </a:prstGeom>
          <a:noFill/>
        </p:spPr>
        <p:txBody>
          <a:bodyPr wrap="square" anchor="t">
            <a:spAutoFit/>
          </a:bodyPr>
          <a:lstStyle/>
          <a:p>
            <a:pPr algn="l"/>
            <a:r>
              <a:rPr sz="1600" b="1">
                <a:solidFill>
                  <a:srgbClr val="6FCF97"/>
                </a:solidFill>
                <a:latin typeface="Arial"/>
              </a:rPr>
              <a:t>極米（XGIMI）</a:t>
            </a:r>
          </a:p>
        </p:txBody>
      </p:sp>
      <p:sp>
        <p:nvSpPr>
          <p:cNvPr id="15" name="TextBox 14"/>
          <p:cNvSpPr txBox="1"/>
          <p:nvPr/>
        </p:nvSpPr>
        <p:spPr>
          <a:xfrm>
            <a:off x="749808" y="4750307"/>
            <a:ext cx="3143402" cy="1440180"/>
          </a:xfrm>
          <a:prstGeom prst="rect">
            <a:avLst/>
          </a:prstGeom>
          <a:noFill/>
        </p:spPr>
        <p:txBody>
          <a:bodyPr wrap="square">
            <a:spAutoFit/>
          </a:bodyPr>
          <a:lstStyle/>
          <a:p>
            <a:pPr>
              <a:lnSpc>
                <a:spcPct val="120000"/>
              </a:lnSpc>
            </a:pPr>
            <a:r>
              <a:rPr sz="1300">
                <a:solidFill>
                  <a:srgbClr val="F5F3EC"/>
                </a:solidFill>
                <a:latin typeface="Arial"/>
              </a:rPr>
              <a:t>攜手美國客製化安裝商 AWALL 推出高端品牌「XWALL by XGIMI」，結合光學工程與在地安裝服務切入北美高端影院市場（ProjectorCentral）。</a:t>
            </a:r>
          </a:p>
        </p:txBody>
      </p:sp>
      <p:sp>
        <p:nvSpPr>
          <p:cNvPr id="16" name="Rounded Rectangle 15"/>
          <p:cNvSpPr/>
          <p:nvPr/>
        </p:nvSpPr>
        <p:spPr>
          <a:xfrm>
            <a:off x="4322978" y="4091939"/>
            <a:ext cx="3545738" cy="2263140"/>
          </a:xfrm>
          <a:prstGeom prst="roundRect">
            <a:avLst>
              <a:gd name="adj" fmla="val 6000"/>
            </a:avLst>
          </a:prstGeom>
          <a:solidFill>
            <a:srgbClr val="23262F"/>
          </a:solidFill>
          <a:ln w="12700">
            <a:solidFill>
              <a:srgbClr val="4C7E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24146" y="4256531"/>
            <a:ext cx="3143402" cy="457200"/>
          </a:xfrm>
          <a:prstGeom prst="rect">
            <a:avLst/>
          </a:prstGeom>
          <a:noFill/>
        </p:spPr>
        <p:txBody>
          <a:bodyPr wrap="square" anchor="t">
            <a:spAutoFit/>
          </a:bodyPr>
          <a:lstStyle/>
          <a:p>
            <a:pPr algn="l"/>
            <a:r>
              <a:rPr sz="1600" b="1">
                <a:solidFill>
                  <a:srgbClr val="4C7EFF"/>
                </a:solidFill>
                <a:latin typeface="Arial"/>
              </a:rPr>
              <a:t>Nebula（安克）</a:t>
            </a:r>
          </a:p>
        </p:txBody>
      </p:sp>
      <p:sp>
        <p:nvSpPr>
          <p:cNvPr id="18" name="TextBox 17"/>
          <p:cNvSpPr txBox="1"/>
          <p:nvPr/>
        </p:nvSpPr>
        <p:spPr>
          <a:xfrm>
            <a:off x="4524146" y="4750307"/>
            <a:ext cx="3143402" cy="1440180"/>
          </a:xfrm>
          <a:prstGeom prst="rect">
            <a:avLst/>
          </a:prstGeom>
          <a:noFill/>
        </p:spPr>
        <p:txBody>
          <a:bodyPr wrap="square">
            <a:spAutoFit/>
          </a:bodyPr>
          <a:lstStyle/>
          <a:p>
            <a:pPr>
              <a:lnSpc>
                <a:spcPct val="120000"/>
              </a:lnSpc>
            </a:pPr>
            <a:r>
              <a:rPr sz="1300">
                <a:solidFill>
                  <a:srgbClr val="F5F3EC"/>
                </a:solidFill>
                <a:latin typeface="Arial"/>
              </a:rPr>
              <a:t>發表升級版 X1S 戶外 4K 三色雷射投影機，具備 6,000 流明超高亮度，專為戶外大屏觀影設計（ProjectorCentral）。</a:t>
            </a:r>
          </a:p>
        </p:txBody>
      </p:sp>
      <p:sp>
        <p:nvSpPr>
          <p:cNvPr id="19" name="Rounded Rectangle 18"/>
          <p:cNvSpPr/>
          <p:nvPr/>
        </p:nvSpPr>
        <p:spPr>
          <a:xfrm>
            <a:off x="8097316" y="4091939"/>
            <a:ext cx="3545738" cy="2263140"/>
          </a:xfrm>
          <a:prstGeom prst="roundRect">
            <a:avLst>
              <a:gd name="adj" fmla="val 6000"/>
            </a:avLst>
          </a:prstGeom>
          <a:solidFill>
            <a:srgbClr val="23262F"/>
          </a:solidFill>
          <a:ln w="12700">
            <a:solidFill>
              <a:srgbClr val="FFB4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98484" y="4256531"/>
            <a:ext cx="3143402" cy="457200"/>
          </a:xfrm>
          <a:prstGeom prst="rect">
            <a:avLst/>
          </a:prstGeom>
          <a:noFill/>
        </p:spPr>
        <p:txBody>
          <a:bodyPr wrap="square" anchor="t">
            <a:spAutoFit/>
          </a:bodyPr>
          <a:lstStyle/>
          <a:p>
            <a:pPr algn="l"/>
            <a:r>
              <a:rPr sz="1600" b="1">
                <a:solidFill>
                  <a:srgbClr val="FFB454"/>
                </a:solidFill>
                <a:latin typeface="Arial"/>
              </a:rPr>
              <a:t>明基（BenQ）</a:t>
            </a:r>
          </a:p>
        </p:txBody>
      </p:sp>
      <p:sp>
        <p:nvSpPr>
          <p:cNvPr id="21" name="TextBox 20"/>
          <p:cNvSpPr txBox="1"/>
          <p:nvPr/>
        </p:nvSpPr>
        <p:spPr>
          <a:xfrm>
            <a:off x="8298484" y="4750307"/>
            <a:ext cx="3143402" cy="1440180"/>
          </a:xfrm>
          <a:prstGeom prst="rect">
            <a:avLst/>
          </a:prstGeom>
          <a:noFill/>
        </p:spPr>
        <p:txBody>
          <a:bodyPr wrap="square">
            <a:spAutoFit/>
          </a:bodyPr>
          <a:lstStyle/>
          <a:p>
            <a:pPr>
              <a:lnSpc>
                <a:spcPct val="120000"/>
              </a:lnSpc>
            </a:pPr>
            <a:r>
              <a:rPr sz="1300">
                <a:solidFill>
                  <a:srgbClr val="F5F3EC"/>
                </a:solidFill>
                <a:latin typeface="Arial"/>
              </a:rPr>
              <a:t>發表 LH660 雷射商用投影機，具備 4600 流明、1080P 解析度與 IP6X 防塵密封光機，首發價 9,499 元人民幣（IT之家）。</a:t>
            </a:r>
          </a:p>
        </p:txBody>
      </p:sp>
      <p:sp>
        <p:nvSpPr>
          <p:cNvPr id="22" name="TextBox 21"/>
          <p:cNvSpPr txBox="1"/>
          <p:nvPr/>
        </p:nvSpPr>
        <p:spPr>
          <a:xfrm>
            <a:off x="11430000" y="6446520"/>
            <a:ext cx="548640" cy="274320"/>
          </a:xfrm>
          <a:prstGeom prst="rect">
            <a:avLst/>
          </a:prstGeom>
          <a:noFill/>
        </p:spPr>
        <p:txBody>
          <a:bodyPr wrap="square" anchor="t">
            <a:spAutoFit/>
          </a:bodyPr>
          <a:lstStyle/>
          <a:p>
            <a:pPr algn="r"/>
            <a:r>
              <a:rPr sz="1000" b="0">
                <a:solidFill>
                  <a:srgbClr val="9096A1"/>
                </a:solidFill>
                <a:latin typeface="Arial"/>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4161A"/>
        </a:solidFill>
        <a:effectLst/>
      </p:bgPr>
    </p:bg>
    <p:spTree>
      <p:nvGrpSpPr>
        <p:cNvPr id="1" name=""/>
        <p:cNvGrpSpPr/>
        <p:nvPr/>
      </p:nvGrpSpPr>
      <p:grpSpPr/>
      <p:sp>
        <p:nvSpPr>
          <p:cNvPr id="2" name="TextBox 1"/>
          <p:cNvSpPr txBox="1"/>
          <p:nvPr/>
        </p:nvSpPr>
        <p:spPr>
          <a:xfrm>
            <a:off x="548640" y="384048"/>
            <a:ext cx="7315200" cy="320040"/>
          </a:xfrm>
          <a:prstGeom prst="rect">
            <a:avLst/>
          </a:prstGeom>
          <a:noFill/>
        </p:spPr>
        <p:txBody>
          <a:bodyPr wrap="square" anchor="t">
            <a:spAutoFit/>
          </a:bodyPr>
          <a:lstStyle/>
          <a:p>
            <a:pPr algn="l"/>
            <a:r>
              <a:rPr sz="1100" b="1">
                <a:solidFill>
                  <a:srgbClr val="FFB454"/>
                </a:solidFill>
                <a:latin typeface="Arial"/>
              </a:rPr>
              <a:t>06 · SECTION　✨</a:t>
            </a:r>
          </a:p>
        </p:txBody>
      </p:sp>
      <p:sp>
        <p:nvSpPr>
          <p:cNvPr id="3" name="TextBox 2"/>
          <p:cNvSpPr txBox="1"/>
          <p:nvPr/>
        </p:nvSpPr>
        <p:spPr>
          <a:xfrm>
            <a:off x="548640" y="713232"/>
            <a:ext cx="10972800" cy="685800"/>
          </a:xfrm>
          <a:prstGeom prst="rect">
            <a:avLst/>
          </a:prstGeom>
          <a:noFill/>
        </p:spPr>
        <p:txBody>
          <a:bodyPr wrap="square" anchor="t">
            <a:spAutoFit/>
          </a:bodyPr>
          <a:lstStyle/>
          <a:p>
            <a:pPr algn="l"/>
            <a:r>
              <a:rPr sz="2600" b="1">
                <a:solidFill>
                  <a:srgbClr val="F5F3EC"/>
                </a:solidFill>
                <a:latin typeface="Arial"/>
              </a:rPr>
              <a:t>三、新品與品牌動態（2/2）</a:t>
            </a:r>
          </a:p>
        </p:txBody>
      </p:sp>
      <p:sp>
        <p:nvSpPr>
          <p:cNvPr id="4" name="Rounded Rectangle 3"/>
          <p:cNvSpPr/>
          <p:nvPr/>
        </p:nvSpPr>
        <p:spPr>
          <a:xfrm>
            <a:off x="548640" y="1600200"/>
            <a:ext cx="3545738" cy="4754880"/>
          </a:xfrm>
          <a:prstGeom prst="roundRect">
            <a:avLst>
              <a:gd name="adj" fmla="val 6000"/>
            </a:avLst>
          </a:prstGeom>
          <a:solidFill>
            <a:srgbClr val="23262F"/>
          </a:solidFill>
          <a:ln w="12700">
            <a:solidFill>
              <a:srgbClr val="4C7E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9808" y="1764792"/>
            <a:ext cx="3143402" cy="457200"/>
          </a:xfrm>
          <a:prstGeom prst="rect">
            <a:avLst/>
          </a:prstGeom>
          <a:noFill/>
        </p:spPr>
        <p:txBody>
          <a:bodyPr wrap="square" anchor="t">
            <a:spAutoFit/>
          </a:bodyPr>
          <a:lstStyle/>
          <a:p>
            <a:pPr algn="l"/>
            <a:r>
              <a:rPr sz="1800" b="1">
                <a:solidFill>
                  <a:srgbClr val="4C7EFF"/>
                </a:solidFill>
                <a:latin typeface="Arial"/>
              </a:rPr>
              <a:t>REDMI</a:t>
            </a:r>
          </a:p>
        </p:txBody>
      </p:sp>
      <p:sp>
        <p:nvSpPr>
          <p:cNvPr id="6" name="TextBox 5"/>
          <p:cNvSpPr txBox="1"/>
          <p:nvPr/>
        </p:nvSpPr>
        <p:spPr>
          <a:xfrm>
            <a:off x="749808" y="2258568"/>
            <a:ext cx="3143402" cy="3931920"/>
          </a:xfrm>
          <a:prstGeom prst="rect">
            <a:avLst/>
          </a:prstGeom>
          <a:noFill/>
        </p:spPr>
        <p:txBody>
          <a:bodyPr wrap="square">
            <a:spAutoFit/>
          </a:bodyPr>
          <a:lstStyle/>
          <a:p>
            <a:pPr>
              <a:lnSpc>
                <a:spcPct val="120000"/>
              </a:lnSpc>
            </a:pPr>
            <a:r>
              <a:rPr sz="1400">
                <a:solidFill>
                  <a:srgbClr val="F5F3EC"/>
                </a:solidFill>
                <a:latin typeface="Arial"/>
              </a:rPr>
              <a:t>發布 REDMI 投影機 5，主打一體式金屬雲台與 360 度旋轉全自動校正，預售價 999 元人民幣（ZOL投影機頻道）。</a:t>
            </a:r>
          </a:p>
        </p:txBody>
      </p:sp>
      <p:sp>
        <p:nvSpPr>
          <p:cNvPr id="7" name="Rounded Rectangle 6"/>
          <p:cNvSpPr/>
          <p:nvPr/>
        </p:nvSpPr>
        <p:spPr>
          <a:xfrm>
            <a:off x="4322978" y="1600200"/>
            <a:ext cx="3545738" cy="4754880"/>
          </a:xfrm>
          <a:prstGeom prst="roundRect">
            <a:avLst>
              <a:gd name="adj" fmla="val 6000"/>
            </a:avLst>
          </a:prstGeom>
          <a:solidFill>
            <a:srgbClr val="23262F"/>
          </a:solidFill>
          <a:ln w="12700">
            <a:solidFill>
              <a:srgbClr val="FFB4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24146" y="1764792"/>
            <a:ext cx="3143402" cy="457200"/>
          </a:xfrm>
          <a:prstGeom prst="rect">
            <a:avLst/>
          </a:prstGeom>
          <a:noFill/>
        </p:spPr>
        <p:txBody>
          <a:bodyPr wrap="square" anchor="t">
            <a:spAutoFit/>
          </a:bodyPr>
          <a:lstStyle/>
          <a:p>
            <a:pPr algn="l"/>
            <a:r>
              <a:rPr sz="1800" b="1">
                <a:solidFill>
                  <a:srgbClr val="FFB454"/>
                </a:solidFill>
                <a:latin typeface="Arial"/>
              </a:rPr>
              <a:t>JVC</a:t>
            </a:r>
          </a:p>
        </p:txBody>
      </p:sp>
      <p:sp>
        <p:nvSpPr>
          <p:cNvPr id="9" name="TextBox 8"/>
          <p:cNvSpPr txBox="1"/>
          <p:nvPr/>
        </p:nvSpPr>
        <p:spPr>
          <a:xfrm>
            <a:off x="4524146" y="2258568"/>
            <a:ext cx="3143402" cy="3931920"/>
          </a:xfrm>
          <a:prstGeom prst="rect">
            <a:avLst/>
          </a:prstGeom>
          <a:noFill/>
        </p:spPr>
        <p:txBody>
          <a:bodyPr wrap="square">
            <a:spAutoFit/>
          </a:bodyPr>
          <a:lstStyle/>
          <a:p>
            <a:pPr>
              <a:lnSpc>
                <a:spcPct val="120000"/>
              </a:lnSpc>
            </a:pPr>
            <a:r>
              <a:rPr sz="1400">
                <a:solidFill>
                  <a:srgbClr val="F5F3EC"/>
                </a:solidFill>
                <a:latin typeface="Arial"/>
              </a:rPr>
              <a:t>預告於 CEDIA 2026 展示 DLA-NZ900 與 DLA-NZ800 旗艦投影機，主打 8K 家庭劇院與原生 4K/120p 電競高刷新率畫面（ProjectorCentral）。</a:t>
            </a:r>
          </a:p>
        </p:txBody>
      </p:sp>
      <p:sp>
        <p:nvSpPr>
          <p:cNvPr id="10" name="Rounded Rectangle 9"/>
          <p:cNvSpPr/>
          <p:nvPr/>
        </p:nvSpPr>
        <p:spPr>
          <a:xfrm>
            <a:off x="8097316" y="1600200"/>
            <a:ext cx="3545738" cy="4754880"/>
          </a:xfrm>
          <a:prstGeom prst="roundRect">
            <a:avLst>
              <a:gd name="adj" fmla="val 6000"/>
            </a:avLst>
          </a:prstGeom>
          <a:solidFill>
            <a:srgbClr val="23262F"/>
          </a:solidFill>
          <a:ln w="12700">
            <a:solidFill>
              <a:srgbClr val="8B7F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98484" y="1764792"/>
            <a:ext cx="3143402" cy="457200"/>
          </a:xfrm>
          <a:prstGeom prst="rect">
            <a:avLst/>
          </a:prstGeom>
          <a:noFill/>
        </p:spPr>
        <p:txBody>
          <a:bodyPr wrap="square" anchor="t">
            <a:spAutoFit/>
          </a:bodyPr>
          <a:lstStyle/>
          <a:p>
            <a:pPr algn="l"/>
            <a:r>
              <a:rPr sz="1800" b="1">
                <a:solidFill>
                  <a:srgbClr val="8B7FD6"/>
                </a:solidFill>
                <a:latin typeface="Arial"/>
              </a:rPr>
              <a:t>愛普生（Epson）</a:t>
            </a:r>
          </a:p>
        </p:txBody>
      </p:sp>
      <p:sp>
        <p:nvSpPr>
          <p:cNvPr id="12" name="TextBox 11"/>
          <p:cNvSpPr txBox="1"/>
          <p:nvPr/>
        </p:nvSpPr>
        <p:spPr>
          <a:xfrm>
            <a:off x="8298484" y="2258568"/>
            <a:ext cx="3143402" cy="3931920"/>
          </a:xfrm>
          <a:prstGeom prst="rect">
            <a:avLst/>
          </a:prstGeom>
          <a:noFill/>
        </p:spPr>
        <p:txBody>
          <a:bodyPr wrap="square">
            <a:spAutoFit/>
          </a:bodyPr>
          <a:lstStyle/>
          <a:p>
            <a:pPr>
              <a:lnSpc>
                <a:spcPct val="120000"/>
              </a:lnSpc>
            </a:pPr>
            <a:r>
              <a:rPr sz="1400">
                <a:solidFill>
                  <a:srgbClr val="F5F3EC"/>
                </a:solidFill>
                <a:latin typeface="Arial"/>
              </a:rPr>
              <a:t>以 48 台高亮激光工程投影機打造上海《永不消失的黑水城》3400 平方公尺沉浸展，並於年度各展會累計獲得 16 項影音與教育產業大獎（投影時代、Epson官方）。</a:t>
            </a:r>
          </a:p>
        </p:txBody>
      </p:sp>
      <p:sp>
        <p:nvSpPr>
          <p:cNvPr id="13" name="TextBox 12"/>
          <p:cNvSpPr txBox="1"/>
          <p:nvPr/>
        </p:nvSpPr>
        <p:spPr>
          <a:xfrm>
            <a:off x="11430000" y="6446520"/>
            <a:ext cx="548640" cy="274320"/>
          </a:xfrm>
          <a:prstGeom prst="rect">
            <a:avLst/>
          </a:prstGeom>
          <a:noFill/>
        </p:spPr>
        <p:txBody>
          <a:bodyPr wrap="square" anchor="t">
            <a:spAutoFit/>
          </a:bodyPr>
          <a:lstStyle/>
          <a:p>
            <a:pPr algn="r"/>
            <a:r>
              <a:rPr sz="1000" b="0">
                <a:solidFill>
                  <a:srgbClr val="9096A1"/>
                </a:solidFill>
                <a:latin typeface="Arial"/>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4161A"/>
        </a:solidFill>
        <a:effectLst/>
      </p:bgPr>
    </p:bg>
    <p:spTree>
      <p:nvGrpSpPr>
        <p:cNvPr id="1" name=""/>
        <p:cNvGrpSpPr/>
        <p:nvPr/>
      </p:nvGrpSpPr>
      <p:grpSpPr/>
      <p:sp>
        <p:nvSpPr>
          <p:cNvPr id="2" name="TextBox 1"/>
          <p:cNvSpPr txBox="1"/>
          <p:nvPr/>
        </p:nvSpPr>
        <p:spPr>
          <a:xfrm>
            <a:off x="548640" y="384048"/>
            <a:ext cx="7315200" cy="320040"/>
          </a:xfrm>
          <a:prstGeom prst="rect">
            <a:avLst/>
          </a:prstGeom>
          <a:noFill/>
        </p:spPr>
        <p:txBody>
          <a:bodyPr wrap="square" anchor="t">
            <a:spAutoFit/>
          </a:bodyPr>
          <a:lstStyle/>
          <a:p>
            <a:pPr algn="l"/>
            <a:r>
              <a:rPr sz="1100" b="1">
                <a:solidFill>
                  <a:srgbClr val="FFB454"/>
                </a:solidFill>
                <a:latin typeface="Arial"/>
              </a:rPr>
              <a:t>07 · SECTION　🔧</a:t>
            </a:r>
          </a:p>
        </p:txBody>
      </p:sp>
      <p:sp>
        <p:nvSpPr>
          <p:cNvPr id="3" name="TextBox 2"/>
          <p:cNvSpPr txBox="1"/>
          <p:nvPr/>
        </p:nvSpPr>
        <p:spPr>
          <a:xfrm>
            <a:off x="548640" y="713232"/>
            <a:ext cx="10972800" cy="685800"/>
          </a:xfrm>
          <a:prstGeom prst="rect">
            <a:avLst/>
          </a:prstGeom>
          <a:noFill/>
        </p:spPr>
        <p:txBody>
          <a:bodyPr wrap="square" anchor="t">
            <a:spAutoFit/>
          </a:bodyPr>
          <a:lstStyle/>
          <a:p>
            <a:pPr algn="l"/>
            <a:r>
              <a:rPr sz="2600" b="1">
                <a:solidFill>
                  <a:srgbClr val="F5F3EC"/>
                </a:solidFill>
                <a:latin typeface="Arial"/>
              </a:rPr>
              <a:t>四、技術動態</a:t>
            </a:r>
          </a:p>
        </p:txBody>
      </p:sp>
      <p:sp>
        <p:nvSpPr>
          <p:cNvPr id="4" name="Rounded Rectangle 3"/>
          <p:cNvSpPr/>
          <p:nvPr/>
        </p:nvSpPr>
        <p:spPr>
          <a:xfrm>
            <a:off x="548640" y="1600200"/>
            <a:ext cx="3545738" cy="4754880"/>
          </a:xfrm>
          <a:prstGeom prst="roundRect">
            <a:avLst>
              <a:gd name="adj" fmla="val 6000"/>
            </a:avLst>
          </a:prstGeom>
          <a:solidFill>
            <a:srgbClr val="23262F"/>
          </a:solidFill>
          <a:ln w="12700">
            <a:solidFill>
              <a:srgbClr val="4C7E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9808" y="1764792"/>
            <a:ext cx="3143402" cy="457200"/>
          </a:xfrm>
          <a:prstGeom prst="rect">
            <a:avLst/>
          </a:prstGeom>
          <a:noFill/>
        </p:spPr>
        <p:txBody>
          <a:bodyPr wrap="square" anchor="t">
            <a:spAutoFit/>
          </a:bodyPr>
          <a:lstStyle/>
          <a:p>
            <a:pPr algn="l"/>
            <a:r>
              <a:rPr sz="1800" b="1">
                <a:solidFill>
                  <a:srgbClr val="4C7EFF"/>
                </a:solidFill>
                <a:latin typeface="Arial"/>
              </a:rPr>
              <a:t>全光學互連技術突破</a:t>
            </a:r>
          </a:p>
        </p:txBody>
      </p:sp>
      <p:sp>
        <p:nvSpPr>
          <p:cNvPr id="6" name="TextBox 5"/>
          <p:cNvSpPr txBox="1"/>
          <p:nvPr/>
        </p:nvSpPr>
        <p:spPr>
          <a:xfrm>
            <a:off x="749808" y="2258568"/>
            <a:ext cx="3143402" cy="3931920"/>
          </a:xfrm>
          <a:prstGeom prst="rect">
            <a:avLst/>
          </a:prstGeom>
          <a:noFill/>
        </p:spPr>
        <p:txBody>
          <a:bodyPr wrap="square">
            <a:spAutoFit/>
          </a:bodyPr>
          <a:lstStyle/>
          <a:p>
            <a:pPr>
              <a:lnSpc>
                <a:spcPct val="120000"/>
              </a:lnSpc>
            </a:pPr>
            <a:r>
              <a:rPr sz="1400">
                <a:solidFill>
                  <a:srgbClr val="F5F3EC"/>
                </a:solidFill>
                <a:latin typeface="Arial"/>
              </a:rPr>
              <a:t>Lightmatter 針對 AI 資料中心 SerDes 逼近 448G 的傳輸瓶頸，提出全光學互連架構藍圖，加速推動算力網路去銅纜化（DigiTimes）。</a:t>
            </a:r>
          </a:p>
        </p:txBody>
      </p:sp>
      <p:sp>
        <p:nvSpPr>
          <p:cNvPr id="7" name="Rounded Rectangle 6"/>
          <p:cNvSpPr/>
          <p:nvPr/>
        </p:nvSpPr>
        <p:spPr>
          <a:xfrm>
            <a:off x="4322978" y="1600200"/>
            <a:ext cx="3545738" cy="4754880"/>
          </a:xfrm>
          <a:prstGeom prst="roundRect">
            <a:avLst>
              <a:gd name="adj" fmla="val 6000"/>
            </a:avLst>
          </a:prstGeom>
          <a:solidFill>
            <a:srgbClr val="23262F"/>
          </a:solidFill>
          <a:ln w="12700">
            <a:solidFill>
              <a:srgbClr val="FFB4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24146" y="1764792"/>
            <a:ext cx="3143402" cy="457200"/>
          </a:xfrm>
          <a:prstGeom prst="rect">
            <a:avLst/>
          </a:prstGeom>
          <a:noFill/>
        </p:spPr>
        <p:txBody>
          <a:bodyPr wrap="square" anchor="t">
            <a:spAutoFit/>
          </a:bodyPr>
          <a:lstStyle/>
          <a:p>
            <a:pPr algn="l"/>
            <a:r>
              <a:rPr sz="1800" b="1">
                <a:solidFill>
                  <a:srgbClr val="FFB454"/>
                </a:solidFill>
                <a:latin typeface="Arial"/>
              </a:rPr>
              <a:t>三色雷射與雲台結構普及</a:t>
            </a:r>
          </a:p>
        </p:txBody>
      </p:sp>
      <p:sp>
        <p:nvSpPr>
          <p:cNvPr id="9" name="TextBox 8"/>
          <p:cNvSpPr txBox="1"/>
          <p:nvPr/>
        </p:nvSpPr>
        <p:spPr>
          <a:xfrm>
            <a:off x="4524146" y="2258568"/>
            <a:ext cx="3143402" cy="3931920"/>
          </a:xfrm>
          <a:prstGeom prst="rect">
            <a:avLst/>
          </a:prstGeom>
          <a:noFill/>
        </p:spPr>
        <p:txBody>
          <a:bodyPr wrap="square">
            <a:spAutoFit/>
          </a:bodyPr>
          <a:lstStyle/>
          <a:p>
            <a:pPr>
              <a:lnSpc>
                <a:spcPct val="120000"/>
              </a:lnSpc>
            </a:pPr>
            <a:r>
              <a:rPr sz="1400">
                <a:solidFill>
                  <a:srgbClr val="F5F3EC"/>
                </a:solidFill>
                <a:latin typeface="Arial"/>
              </a:rPr>
              <a:t>三色雷射光源加速從高端旗艦滲透至兩千元人民幣級平價機型及 6,000 流明戶外機種，配合 360 度旋轉雲台成為家用與行動投影的主要技術趨勢（ZNDS投影頻道、ProjectorCentral）。</a:t>
            </a:r>
          </a:p>
        </p:txBody>
      </p:sp>
      <p:sp>
        <p:nvSpPr>
          <p:cNvPr id="10" name="Rounded Rectangle 9"/>
          <p:cNvSpPr/>
          <p:nvPr/>
        </p:nvSpPr>
        <p:spPr>
          <a:xfrm>
            <a:off x="8097316" y="1600200"/>
            <a:ext cx="3545738" cy="4754880"/>
          </a:xfrm>
          <a:prstGeom prst="roundRect">
            <a:avLst>
              <a:gd name="adj" fmla="val 6000"/>
            </a:avLst>
          </a:prstGeom>
          <a:solidFill>
            <a:srgbClr val="23262F"/>
          </a:solidFill>
          <a:ln w="12700">
            <a:solidFill>
              <a:srgbClr val="8B7F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98484" y="1764792"/>
            <a:ext cx="3143402" cy="457200"/>
          </a:xfrm>
          <a:prstGeom prst="rect">
            <a:avLst/>
          </a:prstGeom>
          <a:noFill/>
        </p:spPr>
        <p:txBody>
          <a:bodyPr wrap="square" anchor="t">
            <a:spAutoFit/>
          </a:bodyPr>
          <a:lstStyle/>
          <a:p>
            <a:pPr algn="l"/>
            <a:r>
              <a:rPr sz="1800" b="1">
                <a:solidFill>
                  <a:srgbClr val="8B7FD6"/>
                </a:solidFill>
                <a:latin typeface="Arial"/>
              </a:rPr>
              <a:t>增強現實與動態投影教育應用</a:t>
            </a:r>
          </a:p>
        </p:txBody>
      </p:sp>
      <p:sp>
        <p:nvSpPr>
          <p:cNvPr id="12" name="TextBox 11"/>
          <p:cNvSpPr txBox="1"/>
          <p:nvPr/>
        </p:nvSpPr>
        <p:spPr>
          <a:xfrm>
            <a:off x="8298484" y="2258568"/>
            <a:ext cx="3143402" cy="3931920"/>
          </a:xfrm>
          <a:prstGeom prst="rect">
            <a:avLst/>
          </a:prstGeom>
          <a:noFill/>
        </p:spPr>
        <p:txBody>
          <a:bodyPr wrap="square">
            <a:spAutoFit/>
          </a:bodyPr>
          <a:lstStyle/>
          <a:p>
            <a:pPr>
              <a:lnSpc>
                <a:spcPct val="120000"/>
              </a:lnSpc>
            </a:pPr>
            <a:r>
              <a:rPr sz="1400">
                <a:solidFill>
                  <a:srgbClr val="F5F3EC"/>
                </a:solidFill>
                <a:latin typeface="Arial"/>
              </a:rPr>
              <a:t>羿飛教育於山東教博會展示結合即時增強現實的地理 AR 沙盤與古戰場動態模擬系統，展現投影技術在智慧教育領域的沉浸式互動應用（投影時代）。</a:t>
            </a:r>
          </a:p>
        </p:txBody>
      </p:sp>
      <p:sp>
        <p:nvSpPr>
          <p:cNvPr id="13" name="TextBox 12"/>
          <p:cNvSpPr txBox="1"/>
          <p:nvPr/>
        </p:nvSpPr>
        <p:spPr>
          <a:xfrm>
            <a:off x="11430000" y="6446520"/>
            <a:ext cx="548640" cy="274320"/>
          </a:xfrm>
          <a:prstGeom prst="rect">
            <a:avLst/>
          </a:prstGeom>
          <a:noFill/>
        </p:spPr>
        <p:txBody>
          <a:bodyPr wrap="square" anchor="t">
            <a:spAutoFit/>
          </a:bodyPr>
          <a:lstStyle/>
          <a:p>
            <a:pPr algn="r"/>
            <a:r>
              <a:rPr sz="1000" b="0">
                <a:solidFill>
                  <a:srgbClr val="9096A1"/>
                </a:solidFill>
                <a:latin typeface="Arial"/>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4161A"/>
        </a:solidFill>
        <a:effectLst/>
      </p:bgPr>
    </p:bg>
    <p:spTree>
      <p:nvGrpSpPr>
        <p:cNvPr id="1" name=""/>
        <p:cNvGrpSpPr/>
        <p:nvPr/>
      </p:nvGrpSpPr>
      <p:grpSpPr/>
      <p:sp>
        <p:nvSpPr>
          <p:cNvPr id="2" name="TextBox 1"/>
          <p:cNvSpPr txBox="1"/>
          <p:nvPr/>
        </p:nvSpPr>
        <p:spPr>
          <a:xfrm>
            <a:off x="548640" y="384048"/>
            <a:ext cx="7315200" cy="320040"/>
          </a:xfrm>
          <a:prstGeom prst="rect">
            <a:avLst/>
          </a:prstGeom>
          <a:noFill/>
        </p:spPr>
        <p:txBody>
          <a:bodyPr wrap="square" anchor="t">
            <a:spAutoFit/>
          </a:bodyPr>
          <a:lstStyle/>
          <a:p>
            <a:pPr algn="l"/>
            <a:r>
              <a:rPr sz="1100" b="1">
                <a:solidFill>
                  <a:srgbClr val="FFB454"/>
                </a:solidFill>
                <a:latin typeface="Arial"/>
              </a:rPr>
              <a:t>08 · SECTION　🔧</a:t>
            </a:r>
          </a:p>
        </p:txBody>
      </p:sp>
      <p:sp>
        <p:nvSpPr>
          <p:cNvPr id="3" name="TextBox 2"/>
          <p:cNvSpPr txBox="1"/>
          <p:nvPr/>
        </p:nvSpPr>
        <p:spPr>
          <a:xfrm>
            <a:off x="548640" y="713232"/>
            <a:ext cx="10972800" cy="685800"/>
          </a:xfrm>
          <a:prstGeom prst="rect">
            <a:avLst/>
          </a:prstGeom>
          <a:noFill/>
        </p:spPr>
        <p:txBody>
          <a:bodyPr wrap="square" anchor="t">
            <a:spAutoFit/>
          </a:bodyPr>
          <a:lstStyle/>
          <a:p>
            <a:pPr algn="l"/>
            <a:r>
              <a:rPr sz="2600" b="1">
                <a:solidFill>
                  <a:srgbClr val="F5F3EC"/>
                </a:solidFill>
                <a:latin typeface="Arial"/>
              </a:rPr>
              <a:t>五、供應鏈觀察</a:t>
            </a:r>
          </a:p>
        </p:txBody>
      </p:sp>
      <p:sp>
        <p:nvSpPr>
          <p:cNvPr id="4" name="Rounded Rectangle 3"/>
          <p:cNvSpPr/>
          <p:nvPr/>
        </p:nvSpPr>
        <p:spPr>
          <a:xfrm>
            <a:off x="548640" y="1600200"/>
            <a:ext cx="3545738" cy="2263140"/>
          </a:xfrm>
          <a:prstGeom prst="roundRect">
            <a:avLst>
              <a:gd name="adj" fmla="val 6000"/>
            </a:avLst>
          </a:prstGeom>
          <a:solidFill>
            <a:srgbClr val="23262F"/>
          </a:solidFill>
          <a:ln w="12700">
            <a:solidFill>
              <a:srgbClr val="4C7E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9808" y="1764792"/>
            <a:ext cx="3143402" cy="457200"/>
          </a:xfrm>
          <a:prstGeom prst="rect">
            <a:avLst/>
          </a:prstGeom>
          <a:noFill/>
        </p:spPr>
        <p:txBody>
          <a:bodyPr wrap="square" anchor="t">
            <a:spAutoFit/>
          </a:bodyPr>
          <a:lstStyle/>
          <a:p>
            <a:pPr algn="l"/>
            <a:r>
              <a:rPr sz="1600" b="1">
                <a:solidFill>
                  <a:srgbClr val="4C7EFF"/>
                </a:solidFill>
                <a:latin typeface="Arial"/>
              </a:rPr>
              <a:t>台積電與索尼</a:t>
            </a:r>
          </a:p>
        </p:txBody>
      </p:sp>
      <p:sp>
        <p:nvSpPr>
          <p:cNvPr id="6" name="TextBox 5"/>
          <p:cNvSpPr txBox="1"/>
          <p:nvPr/>
        </p:nvSpPr>
        <p:spPr>
          <a:xfrm>
            <a:off x="749808" y="2258568"/>
            <a:ext cx="3143402" cy="1440180"/>
          </a:xfrm>
          <a:prstGeom prst="rect">
            <a:avLst/>
          </a:prstGeom>
          <a:noFill/>
        </p:spPr>
        <p:txBody>
          <a:bodyPr wrap="square">
            <a:spAutoFit/>
          </a:bodyPr>
          <a:lstStyle/>
          <a:p>
            <a:pPr>
              <a:lnSpc>
                <a:spcPct val="120000"/>
              </a:lnSpc>
            </a:pPr>
            <a:r>
              <a:rPr sz="1300">
                <a:solidFill>
                  <a:srgbClr val="F5F3EC"/>
                </a:solidFill>
                <a:latin typeface="Arial"/>
              </a:rPr>
              <a:t>正式拍板在日本熊本成立影像感測器合資企業（台積電認購 282 億日圓），計畫投資約 1 兆日圓並於 2029 年商業量產，受蘋果龐大需求主導（DigiTimes）。</a:t>
            </a:r>
          </a:p>
        </p:txBody>
      </p:sp>
      <p:sp>
        <p:nvSpPr>
          <p:cNvPr id="7" name="Rounded Rectangle 6"/>
          <p:cNvSpPr/>
          <p:nvPr/>
        </p:nvSpPr>
        <p:spPr>
          <a:xfrm>
            <a:off x="4322978" y="1600200"/>
            <a:ext cx="3545738" cy="2263140"/>
          </a:xfrm>
          <a:prstGeom prst="roundRect">
            <a:avLst>
              <a:gd name="adj" fmla="val 6000"/>
            </a:avLst>
          </a:prstGeom>
          <a:solidFill>
            <a:srgbClr val="23262F"/>
          </a:solidFill>
          <a:ln w="12700">
            <a:solidFill>
              <a:srgbClr val="FFB4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24146" y="1764792"/>
            <a:ext cx="3143402" cy="457200"/>
          </a:xfrm>
          <a:prstGeom prst="rect">
            <a:avLst/>
          </a:prstGeom>
          <a:noFill/>
        </p:spPr>
        <p:txBody>
          <a:bodyPr wrap="square" anchor="t">
            <a:spAutoFit/>
          </a:bodyPr>
          <a:lstStyle/>
          <a:p>
            <a:pPr algn="l"/>
            <a:r>
              <a:rPr sz="1600" b="1">
                <a:solidFill>
                  <a:srgbClr val="FFB454"/>
                </a:solidFill>
                <a:latin typeface="Arial"/>
              </a:rPr>
              <a:t>唯捷光電（Vertilite）</a:t>
            </a:r>
          </a:p>
        </p:txBody>
      </p:sp>
      <p:sp>
        <p:nvSpPr>
          <p:cNvPr id="9" name="TextBox 8"/>
          <p:cNvSpPr txBox="1"/>
          <p:nvPr/>
        </p:nvSpPr>
        <p:spPr>
          <a:xfrm>
            <a:off x="4524146" y="2258568"/>
            <a:ext cx="3143402" cy="1440180"/>
          </a:xfrm>
          <a:prstGeom prst="rect">
            <a:avLst/>
          </a:prstGeom>
          <a:noFill/>
        </p:spPr>
        <p:txBody>
          <a:bodyPr wrap="square">
            <a:spAutoFit/>
          </a:bodyPr>
          <a:lstStyle/>
          <a:p>
            <a:pPr>
              <a:lnSpc>
                <a:spcPct val="120000"/>
              </a:lnSpc>
            </a:pPr>
            <a:r>
              <a:rPr sz="1300">
                <a:solidFill>
                  <a:srgbClr val="F5F3EC"/>
                </a:solidFill>
                <a:latin typeface="Arial"/>
              </a:rPr>
              <a:t>投資 7.41 億美元於常州建立基地，業務從 VCSEL 拓展至高階磷化銦（InP）雷射晶片，布局 AI 光互連供應鏈（DigiTimes）。</a:t>
            </a:r>
          </a:p>
        </p:txBody>
      </p:sp>
      <p:sp>
        <p:nvSpPr>
          <p:cNvPr id="10" name="Rounded Rectangle 9"/>
          <p:cNvSpPr/>
          <p:nvPr/>
        </p:nvSpPr>
        <p:spPr>
          <a:xfrm>
            <a:off x="8097316" y="1600200"/>
            <a:ext cx="3545738" cy="2263140"/>
          </a:xfrm>
          <a:prstGeom prst="roundRect">
            <a:avLst>
              <a:gd name="adj" fmla="val 6000"/>
            </a:avLst>
          </a:prstGeom>
          <a:solidFill>
            <a:srgbClr val="23262F"/>
          </a:solidFill>
          <a:ln w="12700">
            <a:solidFill>
              <a:srgbClr val="8B7F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98484" y="1764792"/>
            <a:ext cx="3143402" cy="457200"/>
          </a:xfrm>
          <a:prstGeom prst="rect">
            <a:avLst/>
          </a:prstGeom>
          <a:noFill/>
        </p:spPr>
        <p:txBody>
          <a:bodyPr wrap="square" anchor="t">
            <a:spAutoFit/>
          </a:bodyPr>
          <a:lstStyle/>
          <a:p>
            <a:pPr algn="l"/>
            <a:r>
              <a:rPr sz="1600" b="1">
                <a:solidFill>
                  <a:srgbClr val="8B7FD6"/>
                </a:solidFill>
                <a:latin typeface="Arial"/>
              </a:rPr>
              <a:t>環鴻科技（USI/EugenLight）</a:t>
            </a:r>
          </a:p>
        </p:txBody>
      </p:sp>
      <p:sp>
        <p:nvSpPr>
          <p:cNvPr id="12" name="TextBox 11"/>
          <p:cNvSpPr txBox="1"/>
          <p:nvPr/>
        </p:nvSpPr>
        <p:spPr>
          <a:xfrm>
            <a:off x="8298484" y="2258568"/>
            <a:ext cx="3143402" cy="1440180"/>
          </a:xfrm>
          <a:prstGeom prst="rect">
            <a:avLst/>
          </a:prstGeom>
          <a:noFill/>
        </p:spPr>
        <p:txBody>
          <a:bodyPr wrap="square">
            <a:spAutoFit/>
          </a:bodyPr>
          <a:lstStyle/>
          <a:p>
            <a:pPr>
              <a:lnSpc>
                <a:spcPct val="120000"/>
              </a:lnSpc>
            </a:pPr>
            <a:r>
              <a:rPr sz="1300">
                <a:solidFill>
                  <a:srgbClr val="F5F3EC"/>
                </a:solidFill>
                <a:latin typeface="Arial"/>
              </a:rPr>
              <a:t>推出超高功率外部雷射光源可插拔模組（ELSFP），鎖定次世代 AI 運算叢集與高密度資料中心光互連需求，預計 2027 年第一季量產（DigiTimes）。</a:t>
            </a:r>
          </a:p>
        </p:txBody>
      </p:sp>
      <p:sp>
        <p:nvSpPr>
          <p:cNvPr id="13" name="Rounded Rectangle 12"/>
          <p:cNvSpPr/>
          <p:nvPr/>
        </p:nvSpPr>
        <p:spPr>
          <a:xfrm>
            <a:off x="548640" y="4091939"/>
            <a:ext cx="3545738" cy="2263140"/>
          </a:xfrm>
          <a:prstGeom prst="roundRect">
            <a:avLst>
              <a:gd name="adj" fmla="val 6000"/>
            </a:avLst>
          </a:prstGeom>
          <a:solidFill>
            <a:srgbClr val="23262F"/>
          </a:solidFill>
          <a:ln w="12700">
            <a:solidFill>
              <a:srgbClr val="6FCF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9808" y="4256531"/>
            <a:ext cx="3143402" cy="457200"/>
          </a:xfrm>
          <a:prstGeom prst="rect">
            <a:avLst/>
          </a:prstGeom>
          <a:noFill/>
        </p:spPr>
        <p:txBody>
          <a:bodyPr wrap="square" anchor="t">
            <a:spAutoFit/>
          </a:bodyPr>
          <a:lstStyle/>
          <a:p>
            <a:pPr algn="l"/>
            <a:r>
              <a:rPr sz="1600" b="1">
                <a:solidFill>
                  <a:srgbClr val="6FCF97"/>
                </a:solidFill>
                <a:latin typeface="Arial"/>
              </a:rPr>
              <a:t>中國移動與當貝</a:t>
            </a:r>
          </a:p>
        </p:txBody>
      </p:sp>
      <p:sp>
        <p:nvSpPr>
          <p:cNvPr id="15" name="TextBox 14"/>
          <p:cNvSpPr txBox="1"/>
          <p:nvPr/>
        </p:nvSpPr>
        <p:spPr>
          <a:xfrm>
            <a:off x="749808" y="4750307"/>
            <a:ext cx="3143402" cy="1440180"/>
          </a:xfrm>
          <a:prstGeom prst="rect">
            <a:avLst/>
          </a:prstGeom>
          <a:noFill/>
        </p:spPr>
        <p:txBody>
          <a:bodyPr wrap="square">
            <a:spAutoFit/>
          </a:bodyPr>
          <a:lstStyle/>
          <a:p>
            <a:pPr>
              <a:lnSpc>
                <a:spcPct val="120000"/>
              </a:lnSpc>
            </a:pPr>
            <a:r>
              <a:rPr sz="1300">
                <a:solidFill>
                  <a:srgbClr val="F5F3EC"/>
                </a:solidFill>
                <a:latin typeface="Arial"/>
              </a:rPr>
              <a:t>達成深度戰略合作，結合 5G 超高清、AI 與物聯網技術，共同擴展智慧家庭與大屏娛樂生態圈（ZNDS投影頻道）。</a:t>
            </a:r>
          </a:p>
        </p:txBody>
      </p:sp>
      <p:sp>
        <p:nvSpPr>
          <p:cNvPr id="16" name="Rounded Rectangle 15"/>
          <p:cNvSpPr/>
          <p:nvPr/>
        </p:nvSpPr>
        <p:spPr>
          <a:xfrm>
            <a:off x="4322978" y="4091939"/>
            <a:ext cx="3545738" cy="2263140"/>
          </a:xfrm>
          <a:prstGeom prst="roundRect">
            <a:avLst>
              <a:gd name="adj" fmla="val 6000"/>
            </a:avLst>
          </a:prstGeom>
          <a:solidFill>
            <a:srgbClr val="23262F"/>
          </a:solidFill>
          <a:ln w="12700">
            <a:solidFill>
              <a:srgbClr val="4C7E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24146" y="4256531"/>
            <a:ext cx="3143402" cy="457200"/>
          </a:xfrm>
          <a:prstGeom prst="rect">
            <a:avLst/>
          </a:prstGeom>
          <a:noFill/>
        </p:spPr>
        <p:txBody>
          <a:bodyPr wrap="square" anchor="t">
            <a:spAutoFit/>
          </a:bodyPr>
          <a:lstStyle/>
          <a:p>
            <a:pPr algn="l"/>
            <a:r>
              <a:rPr sz="1600" b="1">
                <a:solidFill>
                  <a:srgbClr val="4C7EFF"/>
                </a:solidFill>
                <a:latin typeface="Arial"/>
              </a:rPr>
              <a:t>聯合光電</a:t>
            </a:r>
          </a:p>
        </p:txBody>
      </p:sp>
      <p:sp>
        <p:nvSpPr>
          <p:cNvPr id="18" name="TextBox 17"/>
          <p:cNvSpPr txBox="1"/>
          <p:nvPr/>
        </p:nvSpPr>
        <p:spPr>
          <a:xfrm>
            <a:off x="4524146" y="4750307"/>
            <a:ext cx="3143402" cy="1440180"/>
          </a:xfrm>
          <a:prstGeom prst="rect">
            <a:avLst/>
          </a:prstGeom>
          <a:noFill/>
        </p:spPr>
        <p:txBody>
          <a:bodyPr wrap="square">
            <a:spAutoFit/>
          </a:bodyPr>
          <a:lstStyle/>
          <a:p>
            <a:pPr>
              <a:lnSpc>
                <a:spcPct val="120000"/>
              </a:lnSpc>
            </a:pPr>
            <a:r>
              <a:rPr sz="1300">
                <a:solidFill>
                  <a:srgbClr val="F5F3EC"/>
                </a:solidFill>
                <a:latin typeface="Arial"/>
              </a:rPr>
              <a:t>2026 上半年實現扭虧為盈，持續鞏固超短焦投影鏡頭與光機優勢，並持有火樂科技（堅果）13.62% 股權，深化智慧顯示布局（投影時代）。</a:t>
            </a:r>
          </a:p>
        </p:txBody>
      </p:sp>
      <p:sp>
        <p:nvSpPr>
          <p:cNvPr id="19" name="TextBox 18"/>
          <p:cNvSpPr txBox="1"/>
          <p:nvPr/>
        </p:nvSpPr>
        <p:spPr>
          <a:xfrm>
            <a:off x="11430000" y="6446520"/>
            <a:ext cx="548640" cy="274320"/>
          </a:xfrm>
          <a:prstGeom prst="rect">
            <a:avLst/>
          </a:prstGeom>
          <a:noFill/>
        </p:spPr>
        <p:txBody>
          <a:bodyPr wrap="square" anchor="t">
            <a:spAutoFit/>
          </a:bodyPr>
          <a:lstStyle/>
          <a:p>
            <a:pPr algn="r"/>
            <a:r>
              <a:rPr sz="1000" b="0">
                <a:solidFill>
                  <a:srgbClr val="9096A1"/>
                </a:solidFill>
                <a:latin typeface="Arial"/>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4161A"/>
        </a:solidFill>
        <a:effectLst/>
      </p:bgPr>
    </p:bg>
    <p:spTree>
      <p:nvGrpSpPr>
        <p:cNvPr id="1" name=""/>
        <p:cNvGrpSpPr/>
        <p:nvPr/>
      </p:nvGrpSpPr>
      <p:grpSpPr/>
      <p:sp>
        <p:nvSpPr>
          <p:cNvPr id="2" name="TextBox 1"/>
          <p:cNvSpPr txBox="1"/>
          <p:nvPr/>
        </p:nvSpPr>
        <p:spPr>
          <a:xfrm>
            <a:off x="548640" y="384048"/>
            <a:ext cx="7315200" cy="320040"/>
          </a:xfrm>
          <a:prstGeom prst="rect">
            <a:avLst/>
          </a:prstGeom>
          <a:noFill/>
        </p:spPr>
        <p:txBody>
          <a:bodyPr wrap="square" anchor="t">
            <a:spAutoFit/>
          </a:bodyPr>
          <a:lstStyle/>
          <a:p>
            <a:pPr algn="l"/>
            <a:r>
              <a:rPr sz="1100" b="1">
                <a:solidFill>
                  <a:srgbClr val="FFB454"/>
                </a:solidFill>
                <a:latin typeface="Arial"/>
              </a:rPr>
              <a:t>09 · SECTION　✨</a:t>
            </a:r>
          </a:p>
        </p:txBody>
      </p:sp>
      <p:sp>
        <p:nvSpPr>
          <p:cNvPr id="3" name="TextBox 2"/>
          <p:cNvSpPr txBox="1"/>
          <p:nvPr/>
        </p:nvSpPr>
        <p:spPr>
          <a:xfrm>
            <a:off x="548640" y="713232"/>
            <a:ext cx="10972800" cy="685800"/>
          </a:xfrm>
          <a:prstGeom prst="rect">
            <a:avLst/>
          </a:prstGeom>
          <a:noFill/>
        </p:spPr>
        <p:txBody>
          <a:bodyPr wrap="square" anchor="t">
            <a:spAutoFit/>
          </a:bodyPr>
          <a:lstStyle/>
          <a:p>
            <a:pPr algn="l"/>
            <a:r>
              <a:rPr sz="2600" b="1">
                <a:solidFill>
                  <a:srgbClr val="F5F3EC"/>
                </a:solidFill>
                <a:latin typeface="Arial"/>
              </a:rPr>
              <a:t>六、本月關注品牌／技術關鍵字</a:t>
            </a:r>
          </a:p>
        </p:txBody>
      </p:sp>
      <p:sp>
        <p:nvSpPr>
          <p:cNvPr id="4" name="Rounded Rectangle 3"/>
          <p:cNvSpPr/>
          <p:nvPr/>
        </p:nvSpPr>
        <p:spPr>
          <a:xfrm>
            <a:off x="548640" y="1600200"/>
            <a:ext cx="5432907" cy="4754880"/>
          </a:xfrm>
          <a:prstGeom prst="roundRect">
            <a:avLst>
              <a:gd name="adj" fmla="val 6000"/>
            </a:avLst>
          </a:prstGeom>
          <a:solidFill>
            <a:srgbClr val="23262F"/>
          </a:solidFill>
          <a:ln w="12700">
            <a:solidFill>
              <a:srgbClr val="4C7E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9808" y="1764792"/>
            <a:ext cx="5030571" cy="457200"/>
          </a:xfrm>
          <a:prstGeom prst="rect">
            <a:avLst/>
          </a:prstGeom>
          <a:noFill/>
        </p:spPr>
        <p:txBody>
          <a:bodyPr wrap="square" anchor="t">
            <a:spAutoFit/>
          </a:bodyPr>
          <a:lstStyle/>
          <a:p>
            <a:pPr algn="l"/>
            <a:r>
              <a:rPr sz="2000" b="1">
                <a:solidFill>
                  <a:srgbClr val="4C7EFF"/>
                </a:solidFill>
                <a:latin typeface="Arial"/>
              </a:rPr>
              <a:t>重點品牌</a:t>
            </a:r>
          </a:p>
        </p:txBody>
      </p:sp>
      <p:sp>
        <p:nvSpPr>
          <p:cNvPr id="6" name="TextBox 5"/>
          <p:cNvSpPr txBox="1"/>
          <p:nvPr/>
        </p:nvSpPr>
        <p:spPr>
          <a:xfrm>
            <a:off x="749808" y="2258568"/>
            <a:ext cx="5030571" cy="3931920"/>
          </a:xfrm>
          <a:prstGeom prst="rect">
            <a:avLst/>
          </a:prstGeom>
          <a:noFill/>
        </p:spPr>
        <p:txBody>
          <a:bodyPr wrap="square">
            <a:spAutoFit/>
          </a:bodyPr>
          <a:lstStyle/>
          <a:p>
            <a:pPr>
              <a:lnSpc>
                <a:spcPct val="120000"/>
              </a:lnSpc>
            </a:pPr>
            <a:r>
              <a:rPr sz="1550">
                <a:solidFill>
                  <a:srgbClr val="F5F3EC"/>
                </a:solidFill>
                <a:latin typeface="Arial"/>
              </a:rPr>
              <a:t>極米（XGIMI）、當貝（Dangbei）、愛普生（Epson）、明基（BenQ）、巴可（Barco）、海信（Hisense）、Nebula（安克）、索尼（Sony）、台積電（TSMC）、唯捷光電（Vertilite）。</a:t>
            </a:r>
          </a:p>
        </p:txBody>
      </p:sp>
      <p:sp>
        <p:nvSpPr>
          <p:cNvPr id="7" name="Rounded Rectangle 6"/>
          <p:cNvSpPr/>
          <p:nvPr/>
        </p:nvSpPr>
        <p:spPr>
          <a:xfrm>
            <a:off x="6210147" y="1600200"/>
            <a:ext cx="5432907" cy="4754880"/>
          </a:xfrm>
          <a:prstGeom prst="roundRect">
            <a:avLst>
              <a:gd name="adj" fmla="val 6000"/>
            </a:avLst>
          </a:prstGeom>
          <a:solidFill>
            <a:srgbClr val="23262F"/>
          </a:solidFill>
          <a:ln w="12700">
            <a:solidFill>
              <a:srgbClr val="FFB4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11315" y="1764792"/>
            <a:ext cx="5030571" cy="457200"/>
          </a:xfrm>
          <a:prstGeom prst="rect">
            <a:avLst/>
          </a:prstGeom>
          <a:noFill/>
        </p:spPr>
        <p:txBody>
          <a:bodyPr wrap="square" anchor="t">
            <a:spAutoFit/>
          </a:bodyPr>
          <a:lstStyle/>
          <a:p>
            <a:pPr algn="l"/>
            <a:r>
              <a:rPr sz="2000" b="1">
                <a:solidFill>
                  <a:srgbClr val="FFB454"/>
                </a:solidFill>
                <a:latin typeface="Arial"/>
              </a:rPr>
              <a:t>核心技術與關鍵字</a:t>
            </a:r>
          </a:p>
        </p:txBody>
      </p:sp>
      <p:sp>
        <p:nvSpPr>
          <p:cNvPr id="9" name="TextBox 8"/>
          <p:cNvSpPr txBox="1"/>
          <p:nvPr/>
        </p:nvSpPr>
        <p:spPr>
          <a:xfrm>
            <a:off x="6411315" y="2258568"/>
            <a:ext cx="5030571" cy="3931920"/>
          </a:xfrm>
          <a:prstGeom prst="rect">
            <a:avLst/>
          </a:prstGeom>
          <a:noFill/>
        </p:spPr>
        <p:txBody>
          <a:bodyPr wrap="square">
            <a:spAutoFit/>
          </a:bodyPr>
          <a:lstStyle/>
          <a:p>
            <a:pPr>
              <a:lnSpc>
                <a:spcPct val="120000"/>
              </a:lnSpc>
            </a:pPr>
            <a:r>
              <a:rPr sz="1550">
                <a:solidFill>
                  <a:srgbClr val="F5F3EC"/>
                </a:solidFill>
                <a:latin typeface="Arial"/>
              </a:rPr>
              <a:t>RGB純雷射 / 三色雷射、全光學互連（InP雷射晶片 / ELSFP模組）、360度雲台、海外出海、車載光學 / AI應用、8K / 4K 120Hz。</a:t>
            </a:r>
          </a:p>
        </p:txBody>
      </p:sp>
      <p:sp>
        <p:nvSpPr>
          <p:cNvPr id="10" name="TextBox 9"/>
          <p:cNvSpPr txBox="1"/>
          <p:nvPr/>
        </p:nvSpPr>
        <p:spPr>
          <a:xfrm>
            <a:off x="11430000" y="6446520"/>
            <a:ext cx="548640" cy="274320"/>
          </a:xfrm>
          <a:prstGeom prst="rect">
            <a:avLst/>
          </a:prstGeom>
          <a:noFill/>
        </p:spPr>
        <p:txBody>
          <a:bodyPr wrap="square" anchor="t">
            <a:spAutoFit/>
          </a:bodyPr>
          <a:lstStyle/>
          <a:p>
            <a:pPr algn="r"/>
            <a:r>
              <a:rPr sz="1000" b="0">
                <a:solidFill>
                  <a:srgbClr val="9096A1"/>
                </a:solidFill>
                <a:latin typeface="Arial"/>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4161A"/>
        </a:solidFill>
        <a:effectLst/>
      </p:bgPr>
    </p:bg>
    <p:spTree>
      <p:nvGrpSpPr>
        <p:cNvPr id="1" name=""/>
        <p:cNvGrpSpPr/>
        <p:nvPr/>
      </p:nvGrpSpPr>
      <p:grpSpPr/>
      <p:sp>
        <p:nvSpPr>
          <p:cNvPr id="2" name="TextBox 1"/>
          <p:cNvSpPr txBox="1"/>
          <p:nvPr/>
        </p:nvSpPr>
        <p:spPr>
          <a:xfrm>
            <a:off x="548640" y="384048"/>
            <a:ext cx="7315200" cy="320040"/>
          </a:xfrm>
          <a:prstGeom prst="rect">
            <a:avLst/>
          </a:prstGeom>
          <a:noFill/>
        </p:spPr>
        <p:txBody>
          <a:bodyPr wrap="square" anchor="t">
            <a:spAutoFit/>
          </a:bodyPr>
          <a:lstStyle/>
          <a:p>
            <a:pPr algn="l"/>
            <a:r>
              <a:rPr sz="1100" b="1">
                <a:solidFill>
                  <a:srgbClr val="FFB454"/>
                </a:solidFill>
                <a:latin typeface="Arial"/>
              </a:rPr>
              <a:t>10 · SECTION</a:t>
            </a:r>
          </a:p>
        </p:txBody>
      </p:sp>
      <p:sp>
        <p:nvSpPr>
          <p:cNvPr id="3" name="TextBox 2"/>
          <p:cNvSpPr txBox="1"/>
          <p:nvPr/>
        </p:nvSpPr>
        <p:spPr>
          <a:xfrm>
            <a:off x="548640" y="713232"/>
            <a:ext cx="10972800" cy="685800"/>
          </a:xfrm>
          <a:prstGeom prst="rect">
            <a:avLst/>
          </a:prstGeom>
          <a:noFill/>
        </p:spPr>
        <p:txBody>
          <a:bodyPr wrap="square" anchor="t">
            <a:spAutoFit/>
          </a:bodyPr>
          <a:lstStyle/>
          <a:p>
            <a:pPr algn="l"/>
            <a:r>
              <a:rPr sz="2600" b="1">
                <a:solidFill>
                  <a:srgbClr val="F5F3EC"/>
                </a:solidFill>
                <a:latin typeface="Arial"/>
              </a:rPr>
              <a:t>附錄：本月參考來源</a:t>
            </a:r>
          </a:p>
        </p:txBody>
      </p:sp>
      <p:sp>
        <p:nvSpPr>
          <p:cNvPr id="4" name="TextBox 3"/>
          <p:cNvSpPr txBox="1"/>
          <p:nvPr/>
        </p:nvSpPr>
        <p:spPr>
          <a:xfrm>
            <a:off x="548640" y="2194560"/>
            <a:ext cx="10515600" cy="548640"/>
          </a:xfrm>
          <a:prstGeom prst="rect">
            <a:avLst/>
          </a:prstGeom>
          <a:noFill/>
        </p:spPr>
        <p:txBody>
          <a:bodyPr wrap="square" anchor="t">
            <a:spAutoFit/>
          </a:bodyPr>
          <a:lstStyle/>
          <a:p>
            <a:pPr algn="l"/>
            <a:r>
              <a:rPr sz="2000" b="1">
                <a:solidFill>
                  <a:srgbClr val="F5F3EC"/>
                </a:solidFill>
                <a:latin typeface="Arial"/>
              </a:rPr>
              <a:t>共 161 項</a:t>
            </a:r>
          </a:p>
        </p:txBody>
      </p:sp>
      <p:sp>
        <p:nvSpPr>
          <p:cNvPr id="5" name="TextBox 4"/>
          <p:cNvSpPr txBox="1"/>
          <p:nvPr/>
        </p:nvSpPr>
        <p:spPr>
          <a:xfrm>
            <a:off x="548640" y="2834640"/>
            <a:ext cx="10515600" cy="731520"/>
          </a:xfrm>
          <a:prstGeom prst="rect">
            <a:avLst/>
          </a:prstGeom>
          <a:noFill/>
        </p:spPr>
        <p:txBody>
          <a:bodyPr wrap="square" anchor="t">
            <a:spAutoFit/>
          </a:bodyPr>
          <a:lstStyle/>
          <a:p>
            <a:pPr algn="l"/>
            <a:r>
              <a:rPr sz="1400" b="0">
                <a:solidFill>
                  <a:srgbClr val="9096A1"/>
                </a:solidFill>
                <a:latin typeface="Arial"/>
              </a:rPr>
              <a:t>完整清單與連結請見網站上的文字版報告</a:t>
            </a:r>
          </a:p>
        </p:txBody>
      </p:sp>
      <p:sp>
        <p:nvSpPr>
          <p:cNvPr id="6" name="TextBox 5"/>
          <p:cNvSpPr txBox="1"/>
          <p:nvPr/>
        </p:nvSpPr>
        <p:spPr>
          <a:xfrm>
            <a:off x="11430000" y="6446520"/>
            <a:ext cx="548640" cy="274320"/>
          </a:xfrm>
          <a:prstGeom prst="rect">
            <a:avLst/>
          </a:prstGeom>
          <a:noFill/>
        </p:spPr>
        <p:txBody>
          <a:bodyPr wrap="square" anchor="t">
            <a:spAutoFit/>
          </a:bodyPr>
          <a:lstStyle/>
          <a:p>
            <a:pPr algn="r"/>
            <a:r>
              <a:rPr sz="1000" b="0">
                <a:solidFill>
                  <a:srgbClr val="9096A1"/>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4161A"/>
        </a:solidFill>
        <a:effectLst/>
      </p:bgPr>
    </p:bg>
    <p:spTree>
      <p:nvGrpSpPr>
        <p:cNvPr id="1" name=""/>
        <p:cNvGrpSpPr/>
        <p:nvPr/>
      </p:nvGrpSpPr>
      <p:grpSpPr/>
      <p:sp>
        <p:nvSpPr>
          <p:cNvPr id="2" name="Oval 1"/>
          <p:cNvSpPr/>
          <p:nvPr/>
        </p:nvSpPr>
        <p:spPr>
          <a:xfrm>
            <a:off x="8961120" y="3200400"/>
            <a:ext cx="5486400" cy="5486400"/>
          </a:xfrm>
          <a:prstGeom prst="ellipse">
            <a:avLst/>
          </a:prstGeom>
          <a:solidFill>
            <a:srgbClr val="4C7EFF">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926080"/>
            <a:ext cx="9144000" cy="822960"/>
          </a:xfrm>
          <a:prstGeom prst="rect">
            <a:avLst/>
          </a:prstGeom>
          <a:noFill/>
        </p:spPr>
        <p:txBody>
          <a:bodyPr wrap="square" anchor="t">
            <a:spAutoFit/>
          </a:bodyPr>
          <a:lstStyle/>
          <a:p>
            <a:pPr algn="l"/>
            <a:r>
              <a:rPr sz="3000" b="1">
                <a:solidFill>
                  <a:srgbClr val="F5F3EC"/>
                </a:solidFill>
                <a:latin typeface="Arial"/>
              </a:rPr>
              <a:t>投影機情報站</a:t>
            </a:r>
          </a:p>
        </p:txBody>
      </p:sp>
      <p:sp>
        <p:nvSpPr>
          <p:cNvPr id="4" name="TextBox 3"/>
          <p:cNvSpPr txBox="1"/>
          <p:nvPr/>
        </p:nvSpPr>
        <p:spPr>
          <a:xfrm>
            <a:off x="731520" y="3611880"/>
            <a:ext cx="9144000" cy="457200"/>
          </a:xfrm>
          <a:prstGeom prst="rect">
            <a:avLst/>
          </a:prstGeom>
          <a:noFill/>
        </p:spPr>
        <p:txBody>
          <a:bodyPr wrap="square" anchor="t">
            <a:spAutoFit/>
          </a:bodyPr>
          <a:lstStyle/>
          <a:p>
            <a:pPr algn="l"/>
            <a:r>
              <a:rPr sz="1400" b="0">
                <a:solidFill>
                  <a:srgbClr val="9096A1"/>
                </a:solidFill>
                <a:latin typeface="Arial"/>
              </a:rPr>
              <a:t>由本站爬蟲每日追蹤產業動態，AI 自動摘要與分類</a:t>
            </a:r>
          </a:p>
        </p:txBody>
      </p:sp>
      <p:sp>
        <p:nvSpPr>
          <p:cNvPr id="5" name="TextBox 4"/>
          <p:cNvSpPr txBox="1"/>
          <p:nvPr/>
        </p:nvSpPr>
        <p:spPr>
          <a:xfrm>
            <a:off x="11430000" y="6446520"/>
            <a:ext cx="548640" cy="274320"/>
          </a:xfrm>
          <a:prstGeom prst="rect">
            <a:avLst/>
          </a:prstGeom>
          <a:noFill/>
        </p:spPr>
        <p:txBody>
          <a:bodyPr wrap="square" anchor="t">
            <a:spAutoFit/>
          </a:bodyPr>
          <a:lstStyle/>
          <a:p>
            <a:pPr algn="r"/>
            <a:r>
              <a:rPr sz="1000" b="0">
                <a:solidFill>
                  <a:srgbClr val="9096A1"/>
                </a:solidFill>
                <a:latin typeface="Arial"/>
              </a:rPr>
              <a:t>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