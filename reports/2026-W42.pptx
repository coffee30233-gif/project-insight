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Oval 1"/>
          <p:cNvSpPr/>
          <p:nvPr/>
        </p:nvSpPr>
        <p:spPr>
          <a:xfrm>
            <a:off x="8503920" y="-2194560"/>
            <a:ext cx="6400800" cy="6400800"/>
          </a:xfrm>
          <a:prstGeom prst="ellipse">
            <a:avLst/>
          </a:prstGeom>
          <a:solidFill>
            <a:srgbClr val="4C7E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377440" y="4206240"/>
            <a:ext cx="5486400" cy="5486400"/>
          </a:xfrm>
          <a:prstGeom prst="ellipse">
            <a:avLst/>
          </a:prstGeom>
          <a:solidFill>
            <a:srgbClr val="FFB454">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965960"/>
            <a:ext cx="9144000" cy="365760"/>
          </a:xfrm>
          <a:prstGeom prst="rect">
            <a:avLst/>
          </a:prstGeom>
          <a:noFill/>
        </p:spPr>
        <p:txBody>
          <a:bodyPr wrap="square" anchor="t">
            <a:spAutoFit/>
          </a:bodyPr>
          <a:lstStyle/>
          <a:p>
            <a:pPr algn="l"/>
            <a:r>
              <a:rPr sz="1300" b="1">
                <a:solidFill>
                  <a:srgbClr val="FFB454"/>
                </a:solidFill>
                <a:latin typeface="Arial"/>
              </a:rPr>
              <a:t>投影機情報站</a:t>
            </a:r>
          </a:p>
        </p:txBody>
      </p:sp>
      <p:sp>
        <p:nvSpPr>
          <p:cNvPr id="5" name="TextBox 4"/>
          <p:cNvSpPr txBox="1"/>
          <p:nvPr/>
        </p:nvSpPr>
        <p:spPr>
          <a:xfrm>
            <a:off x="731520" y="2377440"/>
            <a:ext cx="10241280" cy="1828800"/>
          </a:xfrm>
          <a:prstGeom prst="rect">
            <a:avLst/>
          </a:prstGeom>
          <a:noFill/>
        </p:spPr>
        <p:txBody>
          <a:bodyPr wrap="square" anchor="t">
            <a:spAutoFit/>
          </a:bodyPr>
          <a:lstStyle/>
          <a:p>
            <a:pPr algn="l"/>
            <a:r>
              <a:rPr sz="4000" b="1">
                <a:solidFill>
                  <a:srgbClr val="F5F3EC"/>
                </a:solidFill>
                <a:latin typeface="Arial"/>
              </a:rPr>
              <a:t>2026-10-12 ～ 2026-10-18 投影機產業週報</a:t>
            </a:r>
          </a:p>
        </p:txBody>
      </p:sp>
      <p:sp>
        <p:nvSpPr>
          <p:cNvPr id="6" name="TextBox 5"/>
          <p:cNvSpPr txBox="1"/>
          <p:nvPr/>
        </p:nvSpPr>
        <p:spPr>
          <a:xfrm>
            <a:off x="731520" y="4160520"/>
            <a:ext cx="9601200" cy="457200"/>
          </a:xfrm>
          <a:prstGeom prst="rect">
            <a:avLst/>
          </a:prstGeom>
          <a:noFill/>
        </p:spPr>
        <p:txBody>
          <a:bodyPr wrap="square" anchor="t">
            <a:spAutoFit/>
          </a:bodyPr>
          <a:lstStyle/>
          <a:p>
            <a:pPr algn="l"/>
            <a:r>
              <a:rPr sz="1500" b="0">
                <a:solidFill>
                  <a:srgbClr val="9096A1"/>
                </a:solidFill>
                <a:latin typeface="Arial"/>
              </a:rPr>
              <a:t>投影機產業報告 · 自動產生簡報</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02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本週重點</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1353312"/>
          </a:xfrm>
          <a:prstGeom prst="rect">
            <a:avLst/>
          </a:prstGeom>
          <a:noFill/>
        </p:spPr>
        <p:txBody>
          <a:bodyPr wrap="square">
            <a:spAutoFit/>
          </a:bodyPr>
          <a:lstStyle/>
          <a:p>
            <a:pPr>
              <a:lnSpc>
                <a:spcPct val="115000"/>
              </a:lnSpc>
            </a:pPr>
            <a:r>
              <a:rPr sz="1450">
                <a:solidFill>
                  <a:srgbClr val="F5F3EC"/>
                </a:solidFill>
                <a:latin typeface="Arial"/>
              </a:rPr>
              <a:t>這週投影機產業迎來多項重要市場與新品動態，中國家用投影市場雖面臨連九季下滑但正積極朝高質量與海外擴張轉型（投影時代）。同時，光元素與攜程展開影音房戰略合作，推出空房換投影零現金改造模式搶攻商用市場（投影時代）。在新品與通路方面，從極米雙十一推出八款新機、平價小光盒R1上市，到各家品牌陸續發布多款雷射與4K投影機促銷，顯示市場正全面加速布局（投影時代、ZNDS投影頻道、ZOL投影機頻道）。</a:t>
            </a:r>
          </a:p>
        </p:txBody>
      </p:sp>
      <p:sp>
        <p:nvSpPr>
          <p:cNvPr id="6" name="TextBox 5"/>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03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市場與品牌動態（1/2）</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877824"/>
          </a:xfrm>
          <a:prstGeom prst="rect">
            <a:avLst/>
          </a:prstGeom>
          <a:noFill/>
        </p:spPr>
        <p:txBody>
          <a:bodyPr wrap="square">
            <a:spAutoFit/>
          </a:bodyPr>
          <a:lstStyle/>
          <a:p>
            <a:pPr>
              <a:lnSpc>
                <a:spcPct val="115000"/>
              </a:lnSpc>
            </a:pPr>
            <a:r>
              <a:rPr sz="1450">
                <a:solidFill>
                  <a:srgbClr val="F5F3EC"/>
                </a:solidFill>
                <a:latin typeface="Arial"/>
              </a:rPr>
              <a:t>中國智能投影市場在2026年上半年全渠道銷量達205.6萬台、同比下降26.0%，銷售額下滑27.0%，面臨連續九個季度下滑，主要受宏觀環境、電視分流及存儲芯片漲價影響，但三色激光滲透率大幅提升、AI大模型與高亮度機型已成標配（投影時代）</a:t>
            </a:r>
          </a:p>
        </p:txBody>
      </p:sp>
      <p:sp>
        <p:nvSpPr>
          <p:cNvPr id="6" name="Oval 5"/>
          <p:cNvSpPr/>
          <p:nvPr/>
        </p:nvSpPr>
        <p:spPr>
          <a:xfrm>
            <a:off x="594360" y="2606040"/>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478024"/>
            <a:ext cx="10698480" cy="640080"/>
          </a:xfrm>
          <a:prstGeom prst="rect">
            <a:avLst/>
          </a:prstGeom>
          <a:noFill/>
        </p:spPr>
        <p:txBody>
          <a:bodyPr wrap="square">
            <a:spAutoFit/>
          </a:bodyPr>
          <a:lstStyle/>
          <a:p>
            <a:pPr>
              <a:lnSpc>
                <a:spcPct val="115000"/>
              </a:lnSpc>
            </a:pPr>
            <a:r>
              <a:rPr sz="1450">
                <a:solidFill>
                  <a:srgbClr val="F5F3EC"/>
                </a:solidFill>
                <a:latin typeface="Arial"/>
              </a:rPr>
              <a:t>中國企業在全球激光顯示出貨量佔比超過五成，市場結構朝高質量發展，行業正從價格競爭轉向價值進化（投影時代）</a:t>
            </a:r>
          </a:p>
        </p:txBody>
      </p:sp>
      <p:sp>
        <p:nvSpPr>
          <p:cNvPr id="8" name="Oval 7"/>
          <p:cNvSpPr/>
          <p:nvPr/>
        </p:nvSpPr>
        <p:spPr>
          <a:xfrm>
            <a:off x="594360" y="3246120"/>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118104"/>
            <a:ext cx="10698480" cy="640080"/>
          </a:xfrm>
          <a:prstGeom prst="rect">
            <a:avLst/>
          </a:prstGeom>
          <a:noFill/>
        </p:spPr>
        <p:txBody>
          <a:bodyPr wrap="square">
            <a:spAutoFit/>
          </a:bodyPr>
          <a:lstStyle/>
          <a:p>
            <a:pPr>
              <a:lnSpc>
                <a:spcPct val="115000"/>
              </a:lnSpc>
            </a:pPr>
            <a:r>
              <a:rPr sz="1450">
                <a:solidFill>
                  <a:srgbClr val="F5F3EC"/>
                </a:solidFill>
                <a:latin typeface="Arial"/>
              </a:rPr>
              <a:t>光元素於2026年10月14日宣佈與攜程達成官方戰略合作，推出「空房換投影」零現金置換模式，經認證客房將獲得攜程「影音主題房」標籤與專屬流量池加權（投影時代）</a:t>
            </a:r>
          </a:p>
        </p:txBody>
      </p:sp>
      <p:sp>
        <p:nvSpPr>
          <p:cNvPr id="10" name="Oval 9"/>
          <p:cNvSpPr/>
          <p:nvPr/>
        </p:nvSpPr>
        <p:spPr>
          <a:xfrm>
            <a:off x="594360" y="3886200"/>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758184"/>
            <a:ext cx="10698480" cy="640080"/>
          </a:xfrm>
          <a:prstGeom prst="rect">
            <a:avLst/>
          </a:prstGeom>
          <a:noFill/>
        </p:spPr>
        <p:txBody>
          <a:bodyPr wrap="square">
            <a:spAutoFit/>
          </a:bodyPr>
          <a:lstStyle/>
          <a:p>
            <a:pPr>
              <a:lnSpc>
                <a:spcPct val="115000"/>
              </a:lnSpc>
            </a:pPr>
            <a:r>
              <a:rPr sz="1450">
                <a:solidFill>
                  <a:srgbClr val="F5F3EC"/>
                </a:solidFill>
                <a:latin typeface="Arial"/>
              </a:rPr>
              <a:t>2026年中國商用投影市場規模預計突破80億元，顯示投影產業正轉向場景營運的新競爭階段（投影時代）</a:t>
            </a:r>
          </a:p>
        </p:txBody>
      </p:sp>
      <p:sp>
        <p:nvSpPr>
          <p:cNvPr id="12" name="Oval 11"/>
          <p:cNvSpPr/>
          <p:nvPr/>
        </p:nvSpPr>
        <p:spPr>
          <a:xfrm>
            <a:off x="594360" y="4526280"/>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398264"/>
            <a:ext cx="10698480" cy="877824"/>
          </a:xfrm>
          <a:prstGeom prst="rect">
            <a:avLst/>
          </a:prstGeom>
          <a:noFill/>
        </p:spPr>
        <p:txBody>
          <a:bodyPr wrap="square">
            <a:spAutoFit/>
          </a:bodyPr>
          <a:lstStyle/>
          <a:p>
            <a:pPr>
              <a:lnSpc>
                <a:spcPct val="115000"/>
              </a:lnSpc>
            </a:pPr>
            <a:r>
              <a:rPr sz="1450">
                <a:solidFill>
                  <a:srgbClr val="F5F3EC"/>
                </a:solidFill>
                <a:latin typeface="Arial"/>
              </a:rPr>
              <a:t>極米科技在2026年雙十一檔期推出三大系列共八款新品，包含將4K與三色激光帶入兩千價位段的Z7X 4K激光版、峰值達5700 CVIA的RS30系列，以及行業首款4K 120Hz激光電視AURA3（投影時代）</a:t>
            </a:r>
          </a:p>
        </p:txBody>
      </p:sp>
      <p:sp>
        <p:nvSpPr>
          <p:cNvPr id="14" name="Oval 13"/>
          <p:cNvSpPr/>
          <p:nvPr/>
        </p:nvSpPr>
        <p:spPr>
          <a:xfrm>
            <a:off x="594360" y="5404104"/>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276088"/>
            <a:ext cx="10698480" cy="877824"/>
          </a:xfrm>
          <a:prstGeom prst="rect">
            <a:avLst/>
          </a:prstGeom>
          <a:noFill/>
        </p:spPr>
        <p:txBody>
          <a:bodyPr wrap="square">
            <a:spAutoFit/>
          </a:bodyPr>
          <a:lstStyle/>
          <a:p>
            <a:pPr>
              <a:lnSpc>
                <a:spcPct val="115000"/>
              </a:lnSpc>
            </a:pPr>
            <a:r>
              <a:rPr sz="1450">
                <a:solidFill>
                  <a:srgbClr val="F5F3EC"/>
                </a:solidFill>
                <a:latin typeface="Arial"/>
              </a:rPr>
              <a:t>GlowBox小光盒於2026年10月15日推出首款投影機「小光盒R1」，售價699元人民幣，整合京東方、當貝、CVTE視源與科金明等四家供應鏈，主打620 CVIA流明、原生1080P與當貝OS無廣告系統（ZNDS投影頻道、ZOL投影機頻道）</a:t>
            </a:r>
          </a:p>
        </p:txBody>
      </p:sp>
      <p:sp>
        <p:nvSpPr>
          <p:cNvPr id="16" name="TextBox 15"/>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04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市場與品牌動態（2/2）</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640080"/>
          </a:xfrm>
          <a:prstGeom prst="rect">
            <a:avLst/>
          </a:prstGeom>
          <a:noFill/>
        </p:spPr>
        <p:txBody>
          <a:bodyPr wrap="square">
            <a:spAutoFit/>
          </a:bodyPr>
          <a:lstStyle/>
          <a:p>
            <a:pPr>
              <a:lnSpc>
                <a:spcPct val="115000"/>
              </a:lnSpc>
            </a:pPr>
            <a:r>
              <a:rPr sz="1450">
                <a:solidFill>
                  <a:srgbClr val="F5F3EC"/>
                </a:solidFill>
                <a:latin typeface="Arial"/>
              </a:rPr>
              <a:t>光峰科技工程投影機近期落地中國國家博物館，參與巴西藝術家波爾蒂納里特展、紙本圖文展與長征勝利90週年紀念展等三大主題展覽數位光影展項建設（投影時代）</a:t>
            </a:r>
          </a:p>
        </p:txBody>
      </p:sp>
      <p:sp>
        <p:nvSpPr>
          <p:cNvPr id="6" name="Oval 5"/>
          <p:cNvSpPr/>
          <p:nvPr/>
        </p:nvSpPr>
        <p:spPr>
          <a:xfrm>
            <a:off x="594360" y="236829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240280"/>
            <a:ext cx="10698480" cy="640080"/>
          </a:xfrm>
          <a:prstGeom prst="rect">
            <a:avLst/>
          </a:prstGeom>
          <a:noFill/>
        </p:spPr>
        <p:txBody>
          <a:bodyPr wrap="square">
            <a:spAutoFit/>
          </a:bodyPr>
          <a:lstStyle/>
          <a:p>
            <a:pPr>
              <a:lnSpc>
                <a:spcPct val="115000"/>
              </a:lnSpc>
            </a:pPr>
            <a:r>
              <a:rPr sz="1450">
                <a:solidFill>
                  <a:srgbClr val="F5F3EC"/>
                </a:solidFill>
                <a:latin typeface="Arial"/>
              </a:rPr>
              <a:t>奧圖碼推出全新旗艦家用投影機 HNV517，主打 4K 高畫質與 240Hz 高更新率，北京市場特價促銷價 18999 元人民幣（ZOL投影機頻道）</a:t>
            </a:r>
          </a:p>
        </p:txBody>
      </p:sp>
      <p:sp>
        <p:nvSpPr>
          <p:cNvPr id="8" name="TextBox 7"/>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05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技術與供應鏈</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640080"/>
          </a:xfrm>
          <a:prstGeom prst="rect">
            <a:avLst/>
          </a:prstGeom>
          <a:noFill/>
        </p:spPr>
        <p:txBody>
          <a:bodyPr wrap="square">
            <a:spAutoFit/>
          </a:bodyPr>
          <a:lstStyle/>
          <a:p>
            <a:pPr>
              <a:lnSpc>
                <a:spcPct val="115000"/>
              </a:lnSpc>
            </a:pPr>
            <a:r>
              <a:rPr sz="1450">
                <a:solidFill>
                  <a:srgbClr val="F5F3EC"/>
                </a:solidFill>
                <a:latin typeface="Arial"/>
              </a:rPr>
              <a:t>博通與英特爾執行長公開警告，隨著AI基礎設施持續擴建，龐大的資金需求可能成為未來AI產業發展的最大瓶頸（DigiTimes）</a:t>
            </a:r>
          </a:p>
        </p:txBody>
      </p:sp>
      <p:sp>
        <p:nvSpPr>
          <p:cNvPr id="6" name="Oval 5"/>
          <p:cNvSpPr/>
          <p:nvPr/>
        </p:nvSpPr>
        <p:spPr>
          <a:xfrm>
            <a:off x="594360" y="236829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240280"/>
            <a:ext cx="10698480" cy="640080"/>
          </a:xfrm>
          <a:prstGeom prst="rect">
            <a:avLst/>
          </a:prstGeom>
          <a:noFill/>
        </p:spPr>
        <p:txBody>
          <a:bodyPr wrap="square">
            <a:spAutoFit/>
          </a:bodyPr>
          <a:lstStyle/>
          <a:p>
            <a:pPr>
              <a:lnSpc>
                <a:spcPct val="115000"/>
              </a:lnSpc>
            </a:pPr>
            <a:r>
              <a:rPr sz="1450">
                <a:solidFill>
                  <a:srgbClr val="F5F3EC"/>
                </a:solidFill>
                <a:latin typeface="Arial"/>
              </a:rPr>
              <a:t>記憶體頻寬與效能瓶頸驅動高頻寬記憶體（HBM）供應鏈積極推動技術轉型，加速轉向8層堆疊架構的生產與應用（DigiTimes）</a:t>
            </a:r>
          </a:p>
        </p:txBody>
      </p:sp>
      <p:sp>
        <p:nvSpPr>
          <p:cNvPr id="8" name="Oval 7"/>
          <p:cNvSpPr/>
          <p:nvPr/>
        </p:nvSpPr>
        <p:spPr>
          <a:xfrm>
            <a:off x="594360" y="300837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880360"/>
            <a:ext cx="10698480" cy="640080"/>
          </a:xfrm>
          <a:prstGeom prst="rect">
            <a:avLst/>
          </a:prstGeom>
          <a:noFill/>
        </p:spPr>
        <p:txBody>
          <a:bodyPr wrap="square">
            <a:spAutoFit/>
          </a:bodyPr>
          <a:lstStyle/>
          <a:p>
            <a:pPr>
              <a:lnSpc>
                <a:spcPct val="115000"/>
              </a:lnSpc>
            </a:pPr>
            <a:r>
              <a:rPr sz="1450">
                <a:solidFill>
                  <a:srgbClr val="F5F3EC"/>
                </a:solidFill>
                <a:latin typeface="Arial"/>
              </a:rPr>
              <a:t>三星電子與SK海力士正積極開發zHBM與HBF等新型記憶體技術，旨在解決AI運算市場所面臨的資料容量與頻寬瓶頸問題（DigiTimes）</a:t>
            </a:r>
          </a:p>
        </p:txBody>
      </p:sp>
      <p:sp>
        <p:nvSpPr>
          <p:cNvPr id="10" name="Oval 9"/>
          <p:cNvSpPr/>
          <p:nvPr/>
        </p:nvSpPr>
        <p:spPr>
          <a:xfrm>
            <a:off x="594360" y="364845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520440"/>
            <a:ext cx="10698480" cy="640080"/>
          </a:xfrm>
          <a:prstGeom prst="rect">
            <a:avLst/>
          </a:prstGeom>
          <a:noFill/>
        </p:spPr>
        <p:txBody>
          <a:bodyPr wrap="square">
            <a:spAutoFit/>
          </a:bodyPr>
          <a:lstStyle/>
          <a:p>
            <a:pPr>
              <a:lnSpc>
                <a:spcPct val="115000"/>
              </a:lnSpc>
            </a:pPr>
            <a:r>
              <a:rPr sz="1450">
                <a:solidFill>
                  <a:srgbClr val="F5F3EC"/>
                </a:solidFill>
                <a:latin typeface="Arial"/>
              </a:rPr>
              <a:t>矽格與欣詮展開合作推動光學測試解決方案，以因應AI需求轉向資料傳輸與連線技術的趨勢（DigiTimes）</a:t>
            </a:r>
          </a:p>
        </p:txBody>
      </p:sp>
      <p:sp>
        <p:nvSpPr>
          <p:cNvPr id="12" name="Oval 11"/>
          <p:cNvSpPr/>
          <p:nvPr/>
        </p:nvSpPr>
        <p:spPr>
          <a:xfrm>
            <a:off x="594360" y="428853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160520"/>
            <a:ext cx="10698480" cy="640080"/>
          </a:xfrm>
          <a:prstGeom prst="rect">
            <a:avLst/>
          </a:prstGeom>
          <a:noFill/>
        </p:spPr>
        <p:txBody>
          <a:bodyPr wrap="square">
            <a:spAutoFit/>
          </a:bodyPr>
          <a:lstStyle/>
          <a:p>
            <a:pPr>
              <a:lnSpc>
                <a:spcPct val="115000"/>
              </a:lnSpc>
            </a:pPr>
            <a:r>
              <a:rPr sz="1450">
                <a:solidFill>
                  <a:srgbClr val="F5F3EC"/>
                </a:solidFill>
                <a:latin typeface="Arial"/>
              </a:rPr>
              <a:t>思科與輝達正合作開發具備4倍USFP密度的高速光學互連技術，旨在提升資料傳輸頻寬與系統設計效能（DigiTimes）</a:t>
            </a:r>
          </a:p>
        </p:txBody>
      </p:sp>
      <p:sp>
        <p:nvSpPr>
          <p:cNvPr id="14" name="TextBox 13"/>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06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下週關注</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640080"/>
          </a:xfrm>
          <a:prstGeom prst="rect">
            <a:avLst/>
          </a:prstGeom>
          <a:noFill/>
        </p:spPr>
        <p:txBody>
          <a:bodyPr wrap="square">
            <a:spAutoFit/>
          </a:bodyPr>
          <a:lstStyle/>
          <a:p>
            <a:pPr>
              <a:lnSpc>
                <a:spcPct val="115000"/>
              </a:lnSpc>
            </a:pPr>
            <a:r>
              <a:rPr sz="1450">
                <a:solidFill>
                  <a:srgbClr val="F5F3EC"/>
                </a:solidFill>
                <a:latin typeface="Arial"/>
              </a:rPr>
              <a:t>中國家用投影市場在面臨銷量下滑與存儲芯片漲價壓力下，後續高亮度機型、三色激光滲透率與AI大模型應用的實際銷售轉化表現（投影時代）</a:t>
            </a:r>
          </a:p>
        </p:txBody>
      </p:sp>
      <p:sp>
        <p:nvSpPr>
          <p:cNvPr id="6" name="Oval 5"/>
          <p:cNvSpPr/>
          <p:nvPr/>
        </p:nvSpPr>
        <p:spPr>
          <a:xfrm>
            <a:off x="594360" y="236829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240280"/>
            <a:ext cx="10698480" cy="640080"/>
          </a:xfrm>
          <a:prstGeom prst="rect">
            <a:avLst/>
          </a:prstGeom>
          <a:noFill/>
        </p:spPr>
        <p:txBody>
          <a:bodyPr wrap="square">
            <a:spAutoFit/>
          </a:bodyPr>
          <a:lstStyle/>
          <a:p>
            <a:pPr>
              <a:lnSpc>
                <a:spcPct val="115000"/>
              </a:lnSpc>
            </a:pPr>
            <a:r>
              <a:rPr sz="1450">
                <a:solidFill>
                  <a:srgbClr val="F5F3EC"/>
                </a:solidFill>
                <a:latin typeface="Arial"/>
              </a:rPr>
              <a:t>光元素與攜程「空房換投影」零現金改造模式在酒店存量改造紅利下的實際推廣進度與商用投影市場規模變化（投影時代）</a:t>
            </a:r>
          </a:p>
        </p:txBody>
      </p:sp>
      <p:sp>
        <p:nvSpPr>
          <p:cNvPr id="8" name="Oval 7"/>
          <p:cNvSpPr/>
          <p:nvPr/>
        </p:nvSpPr>
        <p:spPr>
          <a:xfrm>
            <a:off x="594360" y="300837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880360"/>
            <a:ext cx="10698480" cy="640080"/>
          </a:xfrm>
          <a:prstGeom prst="rect">
            <a:avLst/>
          </a:prstGeom>
          <a:noFill/>
        </p:spPr>
        <p:txBody>
          <a:bodyPr wrap="square">
            <a:spAutoFit/>
          </a:bodyPr>
          <a:lstStyle/>
          <a:p>
            <a:pPr>
              <a:lnSpc>
                <a:spcPct val="115000"/>
              </a:lnSpc>
            </a:pPr>
            <a:r>
              <a:rPr sz="1450">
                <a:solidFill>
                  <a:srgbClr val="F5F3EC"/>
                </a:solidFill>
                <a:latin typeface="Arial"/>
              </a:rPr>
              <a:t>雙十一檔期各品牌（如極米推出多系列新品、平價小光盒R1上市）對整體市場買氣與規格普及的帶動效果（投影時代、ZNDS投影頻道）</a:t>
            </a:r>
          </a:p>
        </p:txBody>
      </p:sp>
      <p:sp>
        <p:nvSpPr>
          <p:cNvPr id="10" name="TextBox 9"/>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Oval 1"/>
          <p:cNvSpPr/>
          <p:nvPr/>
        </p:nvSpPr>
        <p:spPr>
          <a:xfrm>
            <a:off x="8961120" y="3200400"/>
            <a:ext cx="5486400" cy="5486400"/>
          </a:xfrm>
          <a:prstGeom prst="ellipse">
            <a:avLst/>
          </a:prstGeom>
          <a:solidFill>
            <a:srgbClr val="4C7E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0"/>
            <a:ext cx="9144000" cy="822960"/>
          </a:xfrm>
          <a:prstGeom prst="rect">
            <a:avLst/>
          </a:prstGeom>
          <a:noFill/>
        </p:spPr>
        <p:txBody>
          <a:bodyPr wrap="square" anchor="t">
            <a:spAutoFit/>
          </a:bodyPr>
          <a:lstStyle/>
          <a:p>
            <a:pPr algn="l"/>
            <a:r>
              <a:rPr sz="3000" b="1">
                <a:solidFill>
                  <a:srgbClr val="F5F3EC"/>
                </a:solidFill>
                <a:latin typeface="Arial"/>
              </a:rPr>
              <a:t>投影機情報站</a:t>
            </a:r>
          </a:p>
        </p:txBody>
      </p:sp>
      <p:sp>
        <p:nvSpPr>
          <p:cNvPr id="4" name="TextBox 3"/>
          <p:cNvSpPr txBox="1"/>
          <p:nvPr/>
        </p:nvSpPr>
        <p:spPr>
          <a:xfrm>
            <a:off x="731520" y="3611880"/>
            <a:ext cx="9144000" cy="457200"/>
          </a:xfrm>
          <a:prstGeom prst="rect">
            <a:avLst/>
          </a:prstGeom>
          <a:noFill/>
        </p:spPr>
        <p:txBody>
          <a:bodyPr wrap="square" anchor="t">
            <a:spAutoFit/>
          </a:bodyPr>
          <a:lstStyle/>
          <a:p>
            <a:pPr algn="l"/>
            <a:r>
              <a:rPr sz="1400" b="0">
                <a:solidFill>
                  <a:srgbClr val="9096A1"/>
                </a:solidFill>
                <a:latin typeface="Arial"/>
              </a:rPr>
              <a:t>由本站爬蟲每日追蹤產業動態，AI 自動摘要與分類</a:t>
            </a:r>
          </a:p>
        </p:txBody>
      </p:sp>
      <p:sp>
        <p:nvSpPr>
          <p:cNvPr id="5" name="TextBox 4"/>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