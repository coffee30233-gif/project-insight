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F5F3EC"/>
                </a:solidFill>
                <a:latin typeface="Arial"/>
              </a:rPr>
              <a:t>各亮度檔位銷量份額年增減（百分點）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數值1</c:v>
                </c:pt>
              </c:strCache>
            </c:strRef>
          </c:tx>
          <c:spPr>
            <a:solidFill>
              <a:srgbClr val="4C7EFF"/>
            </a:solidFill>
          </c:spPr>
          <c:cat>
            <c:strRef>
              <c:f>Sheet1!$A$2:$A$5</c:f>
              <c:strCache>
                <c:ptCount val="4"/>
                <c:pt idx="0">
                  <c:v>500流明以下</c:v>
                </c:pt>
                <c:pt idx="1">
                  <c:v>500-1000流明</c:v>
                </c:pt>
                <c:pt idx="2">
                  <c:v>1000-1500流明</c:v>
                </c:pt>
                <c:pt idx="3">
                  <c:v>3000流明以上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-14.9</c:v>
                </c:pt>
                <c:pt idx="1">
                  <c:v>6.6</c:v>
                </c:pt>
                <c:pt idx="2">
                  <c:v>10.0</c:v>
                </c:pt>
                <c:pt idx="3">
                  <c:v>1.6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F5F3E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2E38"/>
            </a:solidFill>
          </a:ln>
        </c:spPr>
        <c:txPr>
          <a:bodyPr/>
          <a:lstStyle/>
          <a:p>
            <a:pPr>
              <a:defRPr sz="1100">
                <a:solidFill>
                  <a:srgbClr val="9096A1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2A2E38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A2E38"/>
            </a:solidFill>
          </a:ln>
        </c:spPr>
        <c:txPr>
          <a:bodyPr/>
          <a:lstStyle/>
          <a:p>
            <a:pPr>
              <a:defRPr sz="1000">
                <a:solidFill>
                  <a:srgbClr val="9096A1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3920" y="-2194560"/>
            <a:ext cx="6400800" cy="6400800"/>
          </a:xfrm>
          <a:prstGeom prst="ellipse">
            <a:avLst/>
          </a:prstGeom>
          <a:solidFill>
            <a:srgbClr val="4C7E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377440" y="4206240"/>
            <a:ext cx="5486400" cy="5486400"/>
          </a:xfrm>
          <a:prstGeom prst="ellipse">
            <a:avLst/>
          </a:prstGeom>
          <a:solidFill>
            <a:srgbClr val="FFB454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B454"/>
                </a:solidFill>
                <a:latin typeface="Arial"/>
              </a:rPr>
              <a:t>投影機情報站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241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5F3EC"/>
                </a:solidFill>
                <a:latin typeface="Arial"/>
              </a:rPr>
              <a:t>2026 年上半年 投影機產業回顧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096A1"/>
                </a:solidFill>
                <a:latin typeface="Arial"/>
              </a:rPr>
              <a:t>投影機產業報告 · 自動產生簡報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02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一、半年摘要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2026 年上半年，中國投影機市場出現本輪下行周期以來最劇烈的一次收縮：智能投影（不含雷射電視）全通路銷量僅 205.6 萬台，年減 26.0%，銷售額 33.4 億人民幣，年減 27.0%。這已是市場自 2024 年第二季以來連續第九個季度同比下滑，第二季銷量更首度跌破百萬台，創下 2022 年以來單季新低。分析普遍指向需求透支、消費疲軟、其他大屏顯示設備分流，以及上游零組件（尤其記憶體）持續漲價、成本傳導至終端售價，共同壓抑了購買意願。儘管大盤重挫，市場集中度不減反增：TOP10 品牌銷量、銷額合計份額雙雙較去年同期提升，極米在量額兩端持續穩坐龍頭，並將三色雷射技術延伸進工程投影領域。CES 2026（1 月）則展現產品端仍在積極創新，海信 XR10、Formovie／Xming 液冷 LCD 方案、Epson 導入 Google TV with Gemini、XGIMI Titan Noir Max 等新品陸續亮相，顯示廠商正試圖用技術升級對抗量縮的大環境。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03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5F3EC"/>
                </a:solidFill>
                <a:latin typeface="Arial"/>
              </a:rPr>
              <a:t>二、市場數據回顧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554480"/>
          <a:ext cx="1069848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04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二、市場數據回顧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中國智能投影全通路（不含雷射電視）</a:t>
            </a:r>
            <a:r>
              <a:rPr sz="1450">
                <a:solidFill>
                  <a:srgbClr val="F5F3EC"/>
                </a:solidFill>
                <a:latin typeface="Arial"/>
              </a:rPr>
              <a:t>：205.6 萬台，年減 26.0%；銷售額 33.4 億人民幣，年減 27.0%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36829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連續下滑週期</a:t>
            </a:r>
            <a:r>
              <a:rPr sz="1450">
                <a:solidFill>
                  <a:srgbClr val="F5F3EC"/>
                </a:solidFill>
                <a:latin typeface="Arial"/>
              </a:rPr>
              <a:t>：市場自 2024 年 Q2 起已連續 9 個季度同比下滑；2026 年 Q2 銷量不足百萬台，是 2022 年以來首度單季跌破百萬台關口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300837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市場集中度提升</a:t>
            </a:r>
            <a:r>
              <a:rPr sz="1450">
                <a:solidFill>
                  <a:srgbClr val="F5F3EC"/>
                </a:solidFill>
                <a:latin typeface="Arial"/>
              </a:rPr>
              <a:t>：TOP10 品牌銷量份額、銷額份額分別超過 70%、85%，均較 2025 年同期提升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64845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520440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品牌排名</a:t>
            </a:r>
            <a:r>
              <a:rPr sz="1450">
                <a:solidFill>
                  <a:srgbClr val="F5F3EC"/>
                </a:solidFill>
                <a:latin typeface="Arial"/>
              </a:rPr>
              <a:t>：極米量額雙冠（銷額份額近 30%）；大眼橙銷量份額 13.1% 排名第二；康佳靠走量躍居銷量第三；堅果銷額排名第二但銷量已退居第五；Vidda（海信旗下年輕潮牌）銷額排名第四；當貝銷額排名降至第五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4526280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398264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技術結構</a:t>
            </a:r>
            <a:r>
              <a:rPr sz="1450">
                <a:solidFill>
                  <a:srgbClr val="F5F3EC"/>
                </a:solidFill>
                <a:latin typeface="Arial"/>
              </a:rPr>
              <a:t>：DLP 銷量份額 29.8%（年減 1.0pp）；1LCD 份額 69.0%（年增 1.3pp），持續居於絕對主導地位，DLP、1LCD、3LCD 三大路線銷量同比皆下滑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5166360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038344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光源結構</a:t>
            </a:r>
            <a:r>
              <a:rPr sz="1450">
                <a:solidFill>
                  <a:srgbClr val="F5F3EC"/>
                </a:solidFill>
                <a:latin typeface="Arial"/>
              </a:rPr>
              <a:t>：LED 光源銷量占比 80.6%；雷射光源滲透率提升至 18.7%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05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二、市場數據回顧（續）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亮度結構性升級</a:t>
            </a:r>
            <a:r>
              <a:rPr sz="1450">
                <a:solidFill>
                  <a:srgbClr val="F5F3EC"/>
                </a:solidFill>
                <a:latin typeface="Arial"/>
              </a:rPr>
              <a:t>：500 流明以下入門機型銷量占比仍達 57.5%（約 118.22 萬台），但年減 14.9pp；500-1000／1000-1500／3000 流明以上各檔位份額分別年增 6.6／10.0／1.6pp，顯示消費者逐漸從單純比價轉向兼顧亮度與畫質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606040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78024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解析度結構</a:t>
            </a:r>
            <a:r>
              <a:rPr sz="1450">
                <a:solidFill>
                  <a:srgbClr val="F5F3EC"/>
                </a:solidFill>
                <a:latin typeface="Arial"/>
              </a:rPr>
              <a:t>：FHD 占約六成市場；4K UHD 銷量占比 14.7%，年增 3.6pp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300837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通路結構</a:t>
            </a:r>
            <a:r>
              <a:rPr sz="1450">
                <a:solidFill>
                  <a:srgbClr val="F5F3EC"/>
                </a:solidFill>
                <a:latin typeface="Arial"/>
              </a:rPr>
              <a:t>：線上通路承載超過八成銷量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06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三、技術演進觀察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亮度升級成為廠商突破同質化競爭的關鍵路徑</a:t>
            </a:r>
            <a:r>
              <a:rPr sz="1450">
                <a:solidFill>
                  <a:srgbClr val="F5F3EC"/>
                </a:solidFill>
                <a:latin typeface="Arial"/>
              </a:rPr>
              <a:t>：低亮度入門機型份額雖仍最高，但降幅明顯，中高亮度檔位全面成長，預期後續會有更多千元價位、中高亮度新品進入市場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36829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雷射滲透率持續提升</a:t>
            </a:r>
            <a:r>
              <a:rPr sz="1450">
                <a:solidFill>
                  <a:srgbClr val="F5F3EC"/>
                </a:solidFill>
                <a:latin typeface="Arial"/>
              </a:rPr>
              <a:t>：線上市場雷射光源滲透率達 18.7%，較 2025 年上半年續有成長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770632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42616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極米將三色雷射技術延伸至工程投影領域</a:t>
            </a:r>
            <a:r>
              <a:rPr sz="1450">
                <a:solidFill>
                  <a:srgbClr val="F5F3EC"/>
                </a:solidFill>
                <a:latin typeface="Arial"/>
              </a:rPr>
              <a:t>，展現核心技術從消費端向商用端擴散的趨勢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172968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44952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CES 2026 技術亮點</a:t>
            </a:r>
            <a:r>
              <a:rPr sz="1450">
                <a:solidFill>
                  <a:srgbClr val="F5F3EC"/>
                </a:solidFill>
                <a:latin typeface="Arial"/>
              </a:rPr>
              <a:t>：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575304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44728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海信發表新一代旗艦雷射電視 XR10：全新客製晶片、LPU 3.0 數位雷射引擎、液冷散熱、6,000 ANSI 流明峰值亮度、最大可投 300 吋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4215384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87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Formovie／Xming 展出液冷技術方案，透過優化核心元件與散熱架構提升單片 LCD 投影機的亮度與穩定性，Xming Chapter One 達 2,000 ISO 流明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4855464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72744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Epson 旗下 Lifestudio 系列導入 Google TV with Gemini，是業界最早整合 Gemini AI 串流體驗的投影機產品線之一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5495544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367528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AWOL Vision 發表 Aetherion Max／Pro 系列超短焦 RGB 雷射投影機，3,300 ISO 流明、PixelLock 精密光學引擎、支援 1ms 級低延遲電競模式，預計 2026 年 3 月上市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07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三、技術演進觀察（續）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XGIMI Titan Noir Max 全球首發，定位家庭劇院旗艦，導入新一代動態光圈系統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08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四、新品與品牌盤點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XGIMI 極米</a:t>
            </a:r>
            <a:r>
              <a:rPr sz="1450">
                <a:solidFill>
                  <a:srgbClr val="F5F3EC"/>
                </a:solidFill>
                <a:latin typeface="Arial"/>
              </a:rPr>
              <a:t>：CES 2026 發表旗艦 Titan Noir Max（全球首發，動態光圈系統）；量額雙冠持續鞏固龍頭地位，並將三色雷射技術延伸至工程投影市場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36829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Hisense 海信</a:t>
            </a:r>
            <a:r>
              <a:rPr sz="1450">
                <a:solidFill>
                  <a:srgbClr val="F5F3EC"/>
                </a:solidFill>
                <a:latin typeface="Arial"/>
              </a:rPr>
              <a:t>：CES 2026 發表新一代旗艦雷射電視 XR10 及 PX4-PRO 超短焦，同時在 MicroLED、RGB Mini LED 領域擴大多原色顯示策略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300837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Formovie／Xming</a:t>
            </a:r>
            <a:r>
              <a:rPr sz="1450">
                <a:solidFill>
                  <a:srgbClr val="F5F3EC"/>
                </a:solidFill>
                <a:latin typeface="Arial"/>
              </a:rPr>
              <a:t>：CES 2026 展出液冷 LCD 技術與 ALPD 三色雷射技術，並推出 Xming Chapter One 智慧投影機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64845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5204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Epson</a:t>
            </a:r>
            <a:r>
              <a:rPr sz="1450">
                <a:solidFill>
                  <a:srgbClr val="F5F3EC"/>
                </a:solidFill>
                <a:latin typeface="Arial"/>
              </a:rPr>
              <a:t>：Lifestudio 系列導入 Google TV with Gemini，強化 AI 語音與串流體驗，是投影機產業與生成式 AI 助理整合的早期案例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428853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AWOL Vision</a:t>
            </a:r>
            <a:r>
              <a:rPr sz="1450">
                <a:solidFill>
                  <a:srgbClr val="F5F3EC"/>
                </a:solidFill>
                <a:latin typeface="Arial"/>
              </a:rPr>
              <a:t>：發表 Aetherion Max／Pro 超短焦 RGB 雷射系列，主打電競低延遲與高畫質，預計 3 月上市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49286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800600"/>
            <a:ext cx="106984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中國市場其他新品</a:t>
            </a:r>
            <a:r>
              <a:rPr sz="1450">
                <a:solidFill>
                  <a:srgbClr val="F5F3EC"/>
                </a:solidFill>
                <a:latin typeface="Arial"/>
              </a:rPr>
              <a:t>：ViewSonic 上架 LX720-4KC Ultra（純三色雷射、支援 1440P 120Hz／4K 60Hz，6,999 元）；堅果 5 月發表 N5S 系列，Ultra Max 款號稱「全球首發」4K 120Hz；BenQ 上架 i800 系列（4K、3000 ISO 流明）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09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四、新品與品牌盤點（續）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品牌格局</a:t>
            </a:r>
            <a:r>
              <a:rPr sz="1450">
                <a:solidFill>
                  <a:srgbClr val="F5F3EC"/>
                </a:solidFill>
                <a:latin typeface="Arial"/>
              </a:rPr>
              <a:t>：大眼橙、康佳等品牌靠平價走量策略搶占銷量排名，堅果、當貝等傳統品牌則銷量排名下滑但仍維持銷額端的相對優勢，反映市場正朝「走量」與「走高端」兩極分化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10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五、供應鏈觀察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上游零組件漲價持續傳導至終端</a:t>
            </a:r>
            <a:r>
              <a:rPr sz="1450">
                <a:solidFill>
                  <a:srgbClr val="F5F3EC"/>
                </a:solidFill>
                <a:latin typeface="Arial"/>
              </a:rPr>
              <a:t>：延續 2025 年下半年以來的記憶體（DDR4/DDR5）漲價壓力，成本傳導至終端售價，被視為壓抑上半年需求的重要因素之一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36829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「以舊換新」補貼紅利消退</a:t>
            </a:r>
            <a:r>
              <a:rPr sz="1450">
                <a:solidFill>
                  <a:srgbClr val="F5F3EC"/>
                </a:solidFill>
                <a:latin typeface="Arial"/>
              </a:rPr>
              <a:t>：市場普遍認為國補政策提前透支的需求已在上半年集中反映，紅利邊際效益持續遞減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300837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供應鏈技術升級並進</a:t>
            </a:r>
            <a:r>
              <a:rPr sz="1450">
                <a:solidFill>
                  <a:srgbClr val="F5F3EC"/>
                </a:solidFill>
                <a:latin typeface="Arial"/>
              </a:rPr>
              <a:t>：即使大盤下滑，各品牌仍積極投入液冷散熱、新一代雷射引擎、動態光圈等技術升級，顯示廠商試圖用產品力對抗量縮環境，而非單純削價競爭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11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六、關鍵轉折點（Timeline）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1 月（CES 2026）</a:t>
            </a:r>
            <a:r>
              <a:rPr sz="1450">
                <a:solidFill>
                  <a:srgbClr val="F5F3EC"/>
                </a:solidFill>
                <a:latin typeface="Arial"/>
              </a:rPr>
              <a:t>：海信 XR10、Formovie/Xming 液冷方案、Epson Google TV with Gemini、AWOL Vision Aetherion 系列、XGIMI Titan Noir Max 集中發表，是上半年最重要的產品發表節點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606040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78024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Q1</a:t>
            </a:r>
            <a:r>
              <a:rPr sz="1450">
                <a:solidFill>
                  <a:srgbClr val="F5F3EC"/>
                </a:solidFill>
                <a:latin typeface="Arial"/>
              </a:rPr>
              <a:t>：延續 2025 年下半年的下滑趨勢，需求持續疲軟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300837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Q2</a:t>
            </a:r>
            <a:r>
              <a:rPr sz="1450">
                <a:solidFill>
                  <a:srgbClr val="F5F3EC"/>
                </a:solidFill>
                <a:latin typeface="Arial"/>
              </a:rPr>
              <a:t>：銷量首度單季跌破百萬台，創 2022 年以來新低，是上半年最關鍵的數據轉折點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410712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82696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5 月</a:t>
            </a:r>
            <a:r>
              <a:rPr sz="1450">
                <a:solidFill>
                  <a:srgbClr val="F5F3EC"/>
                </a:solidFill>
                <a:latin typeface="Arial"/>
              </a:rPr>
              <a:t>：堅果發表 N5S 系列，Ultra Max 款號稱全球首發 4K 120Hz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813048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68503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上半年末（7 月）</a:t>
            </a:r>
            <a:r>
              <a:rPr sz="1450">
                <a:solidFill>
                  <a:srgbClr val="F5F3EC"/>
                </a:solidFill>
                <a:latin typeface="Arial"/>
              </a:rPr>
              <a:t>：洛圖科技（RUNTO）發布《中國智能投影零售市場月度追蹤》半年報告，確認上半年銷量 205.6 萬台、年減 26.0%，市場集中度同步提升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12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七、下半年關注重點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第二季單季跌破百萬台是短期波動還是新常態，下半年銷量能否止跌，是最關鍵的觀察指標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130552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02536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「亮度升級」的結構性趨勢能否延續，中高亮度價位帶新品能否進一步從入門機型手中搶下更多份額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532888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04872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上游零組件（記憶體等）漲價壓力是否會在下半年進一步傳導，加劇「減配」或「漲價」的兩難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935224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072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CES 2026 展出的液冷散熱、Gemini AI 整合、動態光圈等技術亮點，下半年能否從展示機型擴散為實際出貨量貢獻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575303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447287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極米、大眼橙、康佳等品牌在銷量與銷額排名上的分化持續拉鋸，下半年品牌格局是否會進一步洗牌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13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附錄：資料來源與查核狀態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本篇半年回顧由 AI 助手於 2026 年 7 月透過公開網路資料整理草稿，並非彙整自站內逐月月報（資料庫中目前只有 2026 年 7 月一份月報，尚不足以涵蓋整個上半年）。內文數據後方的 `[數字]` 對應下方參考清單，</a:t>
            </a:r>
            <a:r>
              <a:rPr sz="1450" b="1">
                <a:solidFill>
                  <a:srgbClr val="FFB454"/>
                </a:solidFill>
                <a:latin typeface="Arial"/>
              </a:rPr>
              <a:t>尚未經人工逐條複核</a:t>
            </a:r>
            <a:r>
              <a:rPr sz="1450">
                <a:solidFill>
                  <a:srgbClr val="F5F3EC"/>
                </a:solidFill>
                <a:latin typeface="Arial"/>
              </a:rPr>
              <a:t>。本篇引用的洛圖科技半年報數據發布時間非常接近報告整理時間（2026 年 7 月 25-27 日），時效性較高，但正式對外發布前仍建議核對原始報告與品牌份額細節。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3081528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953512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### 參考資料清單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3483864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355848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1. [2026年上半年中国智能投影市场销量205.6万台，同比下降26%（新浪科技）](https://finance.sina.com.cn/tech/roll/2026-07-27/doc-inikfxcf0665618.shtml)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4361688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23367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2. [2026上半年智能投影销量下滑26%，亮度升级驱动结构性转型（中关村在线）](https://projector.zol.com.cn/1220/12208298.html)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5001768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873752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3. [洛图科技：2026年上半年中国智能投影市场销量同比下降26.0%（网易订阅）](https://www.163.com/dy/article/L2PFL2HP0511B8LM.html)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14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附錄：資料來源與查核狀態（續）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4. [投影没人买了！2026上半年中国市场大跌近三成：Q2创5年新低（新浪科技）](https://finance.sina.com.cn/tech/roll/2026-07-25/doc-iniiyptk9060752.shtml)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606040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78024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5. [洛图科技：2026年上半年中国智能投影市场销量同比下降26.0%、销售额下滑27.0%（IT之家）](https://www.ithome.com/0/981/764.htm)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3246120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118104"/>
            <a:ext cx="1069848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6. [Formovie Showcases Advanced Display Technologies and Smart Projector Innovations at CES 2026（PRNewswire）](https://www.prnewswire.com/news-releases/formovie-showcases-advanced-display-technologies-and-smart-projector-innovations-at-ces-2026-302654814.html)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483717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709160"/>
            <a:ext cx="106984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7. [CES 2026: Epson's Lifestudio Continues to Lead the Industry with Google TV with Gemini（Epson US）](https://news.epson.com/news/ces-2026-gemini-google-ai-projectors)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15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附錄：資料來源與查核狀態（續）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8. [New and/or updated HT projectors shown at CES 2026（AVS Forum）](https://www.avsforum.com/threads/new-and-or-updated-ht-projectors-shown-at-ces-2026.3339384/)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843784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15768"/>
            <a:ext cx="1069848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9. [CES 2026 Best of Show（What Hi-Fi?）](https://www.whathifi.com/av/best-of-ces-2026-our-favourite-oled-tvs-dolby-atmos-soundbars-projectors-and-hi-fi-speakers-from-the-consumer-electronics-show)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4197095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069079"/>
            <a:ext cx="1069848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10. [Hisense Expands Color Technology Across TVs, MicroLED, and Laser Projection at CES 2026（CEPRO）](https://www.cepro.com/news/hisense-expands-color-technology-across-tvs-microled-and-laser-projection-at-ces-2026/624447/)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3200400"/>
            <a:ext cx="5486400" cy="5486400"/>
          </a:xfrm>
          <a:prstGeom prst="ellipse">
            <a:avLst/>
          </a:prstGeom>
          <a:solidFill>
            <a:srgbClr val="4C7E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3EC"/>
                </a:solidFill>
                <a:latin typeface="Arial"/>
              </a:rPr>
              <a:t>投影機情報站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118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096A1"/>
                </a:solidFill>
                <a:latin typeface="Arial"/>
              </a:rPr>
              <a:t>由本站爬蟲每日追蹤產業動態，AI 自動摘要與分類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